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538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83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814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14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922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6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174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612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367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35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84568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90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626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764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C4689-B28D-4D3C-8B05-9ABB967E2A3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alchemy.org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app-service/environment/ase-multi-tenant-comparison" TargetMode="External"/><Relationship Id="rId3" Type="http://schemas.openxmlformats.org/officeDocument/2006/relationships/hyperlink" Target="https://learn.microsoft.com/en-us/azure/app-service/deploy-staging-slots" TargetMode="External"/><Relationship Id="rId7" Type="http://schemas.openxmlformats.org/officeDocument/2006/relationships/hyperlink" Target="https://learn.microsoft.com/en-us/azure/app-service/tutorial-networking-isolate-vnet" TargetMode="External"/><Relationship Id="rId2" Type="http://schemas.openxmlformats.org/officeDocument/2006/relationships/hyperlink" Target="https://learn.microsoft.com/en-us/azure/app-service/deploy-continuous-deploymen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zure.microsoft.com/pricing/reservations/" TargetMode="External"/><Relationship Id="rId11" Type="http://schemas.openxmlformats.org/officeDocument/2006/relationships/hyperlink" Target="https://www.microsoft.com/trust-center" TargetMode="External"/><Relationship Id="rId5" Type="http://schemas.openxmlformats.org/officeDocument/2006/relationships/hyperlink" Target="https://azure.microsoft.com/pricing/offers/savings-plan-compute" TargetMode="External"/><Relationship Id="rId10" Type="http://schemas.openxmlformats.org/officeDocument/2006/relationships/hyperlink" Target="https://azure.microsoft.com/support/legal/sla/app-service/" TargetMode="External"/><Relationship Id="rId4" Type="http://schemas.openxmlformats.org/officeDocument/2006/relationships/hyperlink" Target="https://azure.microsoft.com/pricing/details/app-service/" TargetMode="External"/><Relationship Id="rId9" Type="http://schemas.openxmlformats.org/officeDocument/2006/relationships/hyperlink" Target="https://learn.microsoft.com/en-us/connectors/connector-reference/connector-reference-logicapps-connector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658F-8D2B-6D3F-1510-352DFF3B9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r>
              <a:rPr lang="en-US" dirty="0"/>
              <a:t>FASTAPI Development using Python on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1C9E5-7ED4-7426-203C-4C5CA8872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FastAPI with Agentic AI on Cloud</a:t>
            </a:r>
          </a:p>
        </p:txBody>
      </p:sp>
    </p:spTree>
    <p:extLst>
      <p:ext uri="{BB962C8B-B14F-4D97-AF65-F5344CB8AC3E}">
        <p14:creationId xmlns:p14="http://schemas.microsoft.com/office/powerpoint/2010/main" val="56856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48847-CC2F-95E7-48C0-CAC990A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Alembic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A17889-A9F4-5B15-8846-E72483C5F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771466" cy="3880772"/>
          </a:xfrm>
        </p:spPr>
        <p:txBody>
          <a:bodyPr/>
          <a:lstStyle/>
          <a:p>
            <a:r>
              <a:rPr lang="en-US" dirty="0"/>
              <a:t>Alembic provides for the creation, management, and invocation of </a:t>
            </a:r>
            <a:r>
              <a:rPr lang="en-US" i="1" dirty="0"/>
              <a:t>change management</a:t>
            </a:r>
            <a:r>
              <a:rPr lang="en-US" dirty="0"/>
              <a:t> scripts for a relational database, using SQLAlchemy as the underlying engine.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Usage of Alembic starts with creation of the </a:t>
            </a:r>
            <a:r>
              <a:rPr lang="en-US" i="1" dirty="0"/>
              <a:t>Migration Environment</a:t>
            </a:r>
            <a:r>
              <a:rPr lang="en-US" dirty="0"/>
              <a:t>. This is a directory of scripts that is specific to a particular application. </a:t>
            </a:r>
          </a:p>
          <a:p>
            <a:endParaRPr lang="en-US" dirty="0"/>
          </a:p>
          <a:p>
            <a:r>
              <a:rPr lang="en-US" dirty="0"/>
              <a:t>The migration environment is created just once and is then maintained along with the application’s source code itself. The environment is created using the </a:t>
            </a:r>
            <a:r>
              <a:rPr lang="en-US" b="1" dirty="0" err="1"/>
              <a:t>init</a:t>
            </a:r>
            <a:r>
              <a:rPr lang="en-US" b="1" dirty="0"/>
              <a:t> </a:t>
            </a:r>
            <a:r>
              <a:rPr lang="en-US" dirty="0"/>
              <a:t>command of Alembic and is then customizable to suit the specific needs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9395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FD47-CAE6-C096-D8D3-EB919B13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Alembic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7560-C935-8368-2D2D-9782F3FA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524000"/>
            <a:ext cx="10143066" cy="4517361"/>
          </a:xfrm>
        </p:spPr>
        <p:txBody>
          <a:bodyPr>
            <a:normAutofit fontScale="70000" lnSpcReduction="20000"/>
          </a:bodyPr>
          <a:lstStyle/>
          <a:p>
            <a:r>
              <a:rPr lang="en-US" sz="2100" b="1" dirty="0"/>
              <a:t>Version Control for Your Database</a:t>
            </a:r>
            <a:r>
              <a:rPr lang="en-US" sz="2100" dirty="0"/>
              <a:t>: Alembic acts like "Git for your database schema," allowing you to track every change (e.g., adding a table, renaming a column) as an explicit, versioned step in a migration script. This provides a clear, auditable history of modifications.</a:t>
            </a:r>
          </a:p>
          <a:p>
            <a:r>
              <a:rPr lang="en-US" sz="2100" b="1" dirty="0"/>
              <a:t>Consistency Across Environments</a:t>
            </a:r>
            <a:r>
              <a:rPr lang="en-US" sz="2100" dirty="0"/>
              <a:t>: It ensures that every developer, testing environment, and the production database uses the exact same schema evolution process. This eliminates "schema drift" and prevents issues caused by manual errors during deployment.</a:t>
            </a:r>
          </a:p>
          <a:p>
            <a:r>
              <a:rPr lang="en-US" sz="2100" b="1" dirty="0"/>
              <a:t>Safe Upgrades and Downgrades (Rollbacks): </a:t>
            </a:r>
            <a:r>
              <a:rPr lang="en-US" sz="2100" dirty="0"/>
              <a:t>Each migration script contains instructions for both applying the changes (upgrade) and reversing them (downgrade). This provides a crucial safety net, allowing you to revert to a previous, stable state if a new release encounters problems.</a:t>
            </a:r>
          </a:p>
          <a:p>
            <a:r>
              <a:rPr lang="en-US" sz="2100" b="1" dirty="0"/>
              <a:t>Streamlined Collaboration: E</a:t>
            </a:r>
            <a:r>
              <a:rPr lang="en-US" sz="2100" dirty="0"/>
              <a:t>ach developer's schema changes are captured in migration files that are checked into the source code repository. Team members can easily pull the latest changes and run a single command to sync their local databases.</a:t>
            </a:r>
          </a:p>
          <a:p>
            <a:r>
              <a:rPr lang="en-US" sz="2100" dirty="0"/>
              <a:t>Automation and CI/CD Integration: </a:t>
            </a:r>
            <a:r>
              <a:rPr lang="en-US" sz="2000" dirty="0"/>
              <a:t>Migrations can be easily integrated into Continuous Integration/Continuous Deployment (CI/CD) pipelines, automating the process of applying database changes during deployment. This makes releases more reliable and predictable.</a:t>
            </a:r>
          </a:p>
          <a:p>
            <a:r>
              <a:rPr lang="en-US" sz="2100" dirty="0"/>
              <a:t>Pythonic API and SQLAlchemy Integration: Migration scripts are written in Python, allowing developers to leverage the full power and readability of Python code. It works hand-in-hand with </a:t>
            </a:r>
            <a:r>
              <a:rPr lang="en-US" sz="21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SQLAlchemy</a:t>
            </a:r>
            <a:r>
              <a:rPr lang="en-US" sz="2100" dirty="0"/>
              <a:t>, the most popular Python ORM, and can automatically generate draft migration scripts based on model definitions.</a:t>
            </a:r>
          </a:p>
          <a:p>
            <a:r>
              <a:rPr lang="en-US" sz="2100" dirty="0"/>
              <a:t>Database Agnostic: Alembic supports all major databases that SQLAlchemy works with, including PostgreSQL, MySQL, and SQLite, making it a versatile choice for diverse projects.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4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5FBFB4-B885-D5A7-67F3-03379720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63413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Directory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2853E-0E5F-AEC1-CEF3-0B0142C1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27" y="2359024"/>
            <a:ext cx="5801945" cy="30765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4900FBD-F0F3-EAA7-C861-0AC67E06EA4F}"/>
              </a:ext>
            </a:extLst>
          </p:cNvPr>
          <p:cNvSpPr txBox="1"/>
          <p:nvPr/>
        </p:nvSpPr>
        <p:spPr>
          <a:xfrm>
            <a:off x="7586133" y="1270000"/>
            <a:ext cx="416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Alembic.ini -&gt; This is Alembic’s main configuration file which is generated by all templates.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Pyproject.toml</a:t>
            </a:r>
            <a:r>
              <a:rPr lang="en-US" dirty="0"/>
              <a:t> – Alembic may store optionally project related configuration.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Yourproject</a:t>
            </a:r>
            <a:r>
              <a:rPr lang="en-US" dirty="0"/>
              <a:t> – root of the application.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 – The directory lives within the application source tree and source of migration.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env.py – part of generated environment so that the migration runs are entirely customizable.    </a:t>
            </a:r>
          </a:p>
        </p:txBody>
      </p:sp>
    </p:spTree>
    <p:extLst>
      <p:ext uri="{BB962C8B-B14F-4D97-AF65-F5344CB8AC3E}">
        <p14:creationId xmlns:p14="http://schemas.microsoft.com/office/powerpoint/2010/main" val="15647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F66557-E426-2E4D-B4E0-0F6385CB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6534"/>
            <a:ext cx="8596668" cy="1320800"/>
          </a:xfrm>
        </p:spPr>
        <p:txBody>
          <a:bodyPr/>
          <a:lstStyle/>
          <a:p>
            <a:r>
              <a:rPr lang="en-US" dirty="0"/>
              <a:t>Alembic .</a:t>
            </a:r>
            <a:r>
              <a:rPr lang="en-US" dirty="0" err="1"/>
              <a:t>ini</a:t>
            </a:r>
            <a:r>
              <a:rPr lang="en-US" dirty="0"/>
              <a:t>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B9FB5-DC77-EF4C-D140-BAFDDCB0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8" y="1971578"/>
            <a:ext cx="5021262" cy="4038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99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E7B4-33CE-1211-9B63-C642E749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2800"/>
          </a:xfrm>
        </p:spPr>
        <p:txBody>
          <a:bodyPr/>
          <a:lstStyle/>
          <a:p>
            <a:r>
              <a:rPr lang="en-US" dirty="0"/>
              <a:t>Migration of FastAPI Apps to Azure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2461F-E299-B91F-BEA7-BA32861E20F4}"/>
              </a:ext>
            </a:extLst>
          </p:cNvPr>
          <p:cNvSpPr txBox="1"/>
          <p:nvPr/>
        </p:nvSpPr>
        <p:spPr>
          <a:xfrm>
            <a:off x="677334" y="1422400"/>
            <a:ext cx="1065106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 Azure App Service is a fully managed web hosting service that supports Python apps hosted in a Linux server environment.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CI/CD</a:t>
            </a:r>
            <a:r>
              <a:rPr lang="en-US" dirty="0"/>
              <a:t>: 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 continuously</a:t>
            </a:r>
            <a:r>
              <a:rPr lang="en-US" dirty="0"/>
              <a:t> with GitHub Actions, Azure Pipelines, and more. Deploy predictably through 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staging environments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High-density hosting savings</a:t>
            </a:r>
            <a:r>
              <a:rPr lang="en-US" dirty="0"/>
              <a:t>: Run more applications on fewer VMs with the memory-optimized 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P*mv3 </a:t>
            </a:r>
            <a:r>
              <a:rPr lang="en-US" dirty="0"/>
              <a:t>tiers and save up to 55% on predictable workloads with 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savings plans</a:t>
            </a:r>
            <a:r>
              <a:rPr lang="en-US" dirty="0"/>
              <a:t> and </a:t>
            </a:r>
            <a:r>
              <a:rPr 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reserved instances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Full isolation</a:t>
            </a:r>
            <a:r>
              <a:rPr lang="en-US" dirty="0"/>
              <a:t>: Secure ingress and egress with </a:t>
            </a:r>
            <a:r>
              <a:rPr lang="en-US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Virtual Network integration</a:t>
            </a:r>
            <a:r>
              <a:rPr lang="en-US" dirty="0"/>
              <a:t>, or run fully isolated applications with </a:t>
            </a:r>
            <a:r>
              <a:rPr lang="en-US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 Service environments</a:t>
            </a:r>
            <a:r>
              <a:rPr lang="en-US" dirty="0"/>
              <a:t>, using dedicated networking and VMs.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Line-of-business: </a:t>
            </a:r>
            <a:r>
              <a:rPr lang="en-US" dirty="0"/>
              <a:t>Develop business applications easily with built-in authentication, Microsoft Graph, and </a:t>
            </a:r>
            <a:r>
              <a:rPr lang="en-US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connectors</a:t>
            </a:r>
            <a:r>
              <a:rPr lang="en-US" dirty="0"/>
              <a:t> to your line-of-business applications.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Reliability</a:t>
            </a:r>
            <a:r>
              <a:rPr lang="en-US" dirty="0"/>
              <a:t>: Robust </a:t>
            </a:r>
            <a:r>
              <a:rPr lang="en-US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SLA</a:t>
            </a:r>
            <a:r>
              <a:rPr lang="en-US" dirty="0"/>
              <a:t> and zone redundancy features help disaster-proof your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and compliance: </a:t>
            </a:r>
            <a:r>
              <a:rPr lang="en-US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ISO, SOC, and PCI compliance</a:t>
            </a:r>
            <a:r>
              <a:rPr lang="en-US" dirty="0"/>
              <a:t> meet the strictest requirements of large enterprises.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26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AD45-63D0-F8D7-D78F-E12A7E0B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App Service Scaling out Options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59C4F-5297-64DD-9374-C3E848CAE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147" y="2378340"/>
            <a:ext cx="9485787" cy="35144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535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AE5D-0941-83B2-01AF-CCA9B91B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of FastAPI App with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A537-2F47-2349-43D5-5220731F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922933" cy="4087811"/>
          </a:xfrm>
        </p:spPr>
        <p:txBody>
          <a:bodyPr/>
          <a:lstStyle/>
          <a:p>
            <a:r>
              <a:rPr lang="en-US" dirty="0"/>
              <a:t>Pre-requisites </a:t>
            </a:r>
          </a:p>
          <a:p>
            <a:r>
              <a:rPr lang="en-US" dirty="0"/>
              <a:t>Python 3.10+ </a:t>
            </a:r>
          </a:p>
          <a:p>
            <a:r>
              <a:rPr lang="en-US" dirty="0"/>
              <a:t>Azure Account </a:t>
            </a:r>
          </a:p>
          <a:p>
            <a:r>
              <a:rPr lang="en-US" dirty="0"/>
              <a:t>Configure a custom </a:t>
            </a:r>
            <a:r>
              <a:rPr lang="en-US" b="1" dirty="0"/>
              <a:t>startup command</a:t>
            </a:r>
            <a:r>
              <a:rPr lang="en-US" dirty="0"/>
              <a:t> that uses </a:t>
            </a:r>
            <a:r>
              <a:rPr lang="en-US" dirty="0" err="1"/>
              <a:t>Gunicorn</a:t>
            </a:r>
            <a:r>
              <a:rPr lang="en-US" dirty="0"/>
              <a:t> to run the asynchronous </a:t>
            </a:r>
            <a:r>
              <a:rPr lang="en-US" dirty="0" err="1"/>
              <a:t>Uvicorn</a:t>
            </a:r>
            <a:r>
              <a:rPr lang="en-US" dirty="0"/>
              <a:t> server, along with ensuring your dependencies are specified correctly.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Deployment can be done using the Azure CLI, Visual Studio Code extensions, or GitHub Actions. </a:t>
            </a:r>
          </a:p>
        </p:txBody>
      </p:sp>
    </p:spTree>
    <p:extLst>
      <p:ext uri="{BB962C8B-B14F-4D97-AF65-F5344CB8AC3E}">
        <p14:creationId xmlns:p14="http://schemas.microsoft.com/office/powerpoint/2010/main" val="12189161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788</TotalTime>
  <Words>720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FASTAPI Development using Python on Cloud</vt:lpstr>
      <vt:lpstr>Overview of Alembic</vt:lpstr>
      <vt:lpstr>Alembic Benefits</vt:lpstr>
      <vt:lpstr>Directory Structure</vt:lpstr>
      <vt:lpstr>Alembic .ini file</vt:lpstr>
      <vt:lpstr>Migration of FastAPI Apps to Azure</vt:lpstr>
      <vt:lpstr>Azure App Service Scaling out Options</vt:lpstr>
      <vt:lpstr>Deployment of FastAPI App with Azure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57</cp:revision>
  <dcterms:created xsi:type="dcterms:W3CDTF">2026-02-07T01:49:08Z</dcterms:created>
  <dcterms:modified xsi:type="dcterms:W3CDTF">2026-02-09T17:08:21Z</dcterms:modified>
</cp:coreProperties>
</file>
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61" r:id="rId13"/>
    <p:sldId id="281" r:id="rId14"/>
    <p:sldId id="292" r:id="rId15"/>
    <p:sldId id="293" r:id="rId16"/>
    <p:sldId id="257" r:id="rId17"/>
    <p:sldId id="258" r:id="rId18"/>
    <p:sldId id="259" r:id="rId19"/>
    <p:sldId id="26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qlalchemy.org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23C3-415A-F0B6-A517-97F56DD0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Models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097D-4123-D929-5E3D-E8701BAB0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dirty="0" err="1"/>
              <a:t>FastAPI</a:t>
            </a:r>
            <a:r>
              <a:rPr lang="en-US" dirty="0"/>
              <a:t>, </a:t>
            </a:r>
            <a:r>
              <a:rPr lang="en-US" dirty="0" err="1"/>
              <a:t>Pydantic</a:t>
            </a:r>
            <a:r>
              <a:rPr lang="en-US" dirty="0"/>
              <a:t> models are used to define the structure, data types, and validation rules for form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handle form data, you must explicitly use the Form() dependency for each field within a path operation or a </a:t>
            </a:r>
            <a:r>
              <a:rPr lang="en-US" dirty="0" err="1"/>
              <a:t>Pydantic</a:t>
            </a:r>
            <a:r>
              <a:rPr lang="en-US" dirty="0"/>
              <a:t> model (in recent versions of </a:t>
            </a:r>
            <a:r>
              <a:rPr lang="en-US" dirty="0" err="1"/>
              <a:t>FastAPI</a:t>
            </a:r>
            <a:r>
              <a:rPr lang="en-US" dirty="0"/>
              <a:t>).  </a:t>
            </a:r>
          </a:p>
        </p:txBody>
      </p:sp>
    </p:spTree>
    <p:extLst>
      <p:ext uri="{BB962C8B-B14F-4D97-AF65-F5344CB8AC3E}">
        <p14:creationId xmlns:p14="http://schemas.microsoft.com/office/powerpoint/2010/main" val="36577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C501-E6CD-E1C8-C8CD-E4458BC7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Files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1CF35-2EB9-E88C-8150-04DA9600B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request files in </a:t>
            </a:r>
            <a:r>
              <a:rPr lang="en-US" dirty="0" err="1"/>
              <a:t>FastAPI</a:t>
            </a:r>
            <a:r>
              <a:rPr lang="en-US" dirty="0"/>
              <a:t>, you define a path operation function with a parameter typed as </a:t>
            </a:r>
            <a:r>
              <a:rPr lang="en-US" dirty="0" err="1"/>
              <a:t>UploadFile</a:t>
            </a:r>
            <a:r>
              <a:rPr lang="en-US" dirty="0"/>
              <a:t> or bytes, and use the File class to ensure it's handled as form data. </a:t>
            </a:r>
          </a:p>
          <a:p>
            <a:endParaRPr lang="en-US" dirty="0"/>
          </a:p>
          <a:p>
            <a:r>
              <a:rPr lang="en-US" dirty="0"/>
              <a:t>For handling single files, the </a:t>
            </a:r>
            <a:r>
              <a:rPr lang="en-US" dirty="0" err="1"/>
              <a:t>UploadFile</a:t>
            </a:r>
            <a:r>
              <a:rPr lang="en-US" dirty="0"/>
              <a:t> class is generally preferred over bytes because it handles large files more efficiently by spooling them to disk if they exceed a certain memory limit (defaulting to 1 MB), preventing excessive memory consumption.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handle multiple files, define the parameter as a list[</a:t>
            </a:r>
            <a:r>
              <a:rPr lang="en-US" dirty="0" err="1"/>
              <a:t>UploadFile</a:t>
            </a:r>
            <a:r>
              <a:rPr lang="en-US" dirty="0"/>
              <a:t>]. You can then iterate through the list of files in the request. </a:t>
            </a:r>
          </a:p>
        </p:txBody>
      </p:sp>
    </p:spTree>
    <p:extLst>
      <p:ext uri="{BB962C8B-B14F-4D97-AF65-F5344CB8AC3E}">
        <p14:creationId xmlns:p14="http://schemas.microsoft.com/office/powerpoint/2010/main" val="282941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EE44-E403-C966-20DF-5E270541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Error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34E0-4035-9177-CCF7-FE9646C3F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HTTPException</a:t>
            </a:r>
            <a:r>
              <a:rPr lang="en-US" dirty="0"/>
              <a:t> is a normal Python exception with additional data relevant for APIs.</a:t>
            </a:r>
          </a:p>
          <a:p>
            <a:r>
              <a:rPr lang="en-US" dirty="0"/>
              <a:t>Because it's a Python exception, you don't return it, you raise it.</a:t>
            </a:r>
          </a:p>
          <a:p>
            <a:r>
              <a:rPr lang="en-US" dirty="0"/>
              <a:t>This also means that if you are inside a utility function that you are calling inside of your </a:t>
            </a:r>
            <a:r>
              <a:rPr lang="en-US" i="1" dirty="0"/>
              <a:t>path operation function</a:t>
            </a:r>
            <a:r>
              <a:rPr lang="en-US" dirty="0"/>
              <a:t>, and you raise the </a:t>
            </a:r>
            <a:r>
              <a:rPr lang="en-US" dirty="0" err="1"/>
              <a:t>HTTPException</a:t>
            </a:r>
            <a:r>
              <a:rPr lang="en-US" dirty="0"/>
              <a:t> from inside of that utility function, it won't run the rest of the code in the </a:t>
            </a:r>
            <a:r>
              <a:rPr lang="en-US" i="1" dirty="0"/>
              <a:t>path operation function</a:t>
            </a:r>
            <a:r>
              <a:rPr lang="en-US" dirty="0"/>
              <a:t>, it will terminate that request right away and send the HTTP error from the </a:t>
            </a:r>
            <a:r>
              <a:rPr lang="en-US" dirty="0" err="1"/>
              <a:t>HTTPException</a:t>
            </a:r>
            <a:r>
              <a:rPr lang="en-US" dirty="0"/>
              <a:t> to the client.</a:t>
            </a:r>
          </a:p>
          <a:p>
            <a:r>
              <a:rPr lang="en-US" dirty="0"/>
              <a:t>The benefit of raising an exception over returning a value will be more evident in the section about Dependencies and Security.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46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B5F6-59DF-B17B-B930-0A3BF94D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496188" cy="1320800"/>
          </a:xfrm>
        </p:spPr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Encoding with JSON Compatible Encoders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2ACF-E8B9-1A5E-474C-676D0AFB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516533" cy="3880773"/>
          </a:xfrm>
        </p:spPr>
        <p:txBody>
          <a:bodyPr/>
          <a:lstStyle/>
          <a:p>
            <a:r>
              <a:rPr lang="en-US" dirty="0"/>
              <a:t>There are some cases where you might need to convert a data type (like a </a:t>
            </a:r>
            <a:r>
              <a:rPr lang="en-US" dirty="0" err="1"/>
              <a:t>Pydantic</a:t>
            </a:r>
            <a:r>
              <a:rPr lang="en-US" dirty="0"/>
              <a:t> model) to something compatible with JSON (like a </a:t>
            </a:r>
            <a:r>
              <a:rPr lang="en-US" dirty="0" err="1"/>
              <a:t>dict</a:t>
            </a:r>
            <a:r>
              <a:rPr lang="en-US" dirty="0"/>
              <a:t>, list,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For example, if you need to store it in a database.</a:t>
            </a:r>
          </a:p>
          <a:p>
            <a:r>
              <a:rPr lang="en-US" dirty="0"/>
              <a:t>For that, </a:t>
            </a:r>
            <a:r>
              <a:rPr lang="en-US" b="1" dirty="0" err="1"/>
              <a:t>FastAPI</a:t>
            </a:r>
            <a:r>
              <a:rPr lang="en-US" dirty="0"/>
              <a:t> provides a </a:t>
            </a:r>
            <a:r>
              <a:rPr lang="en-US" dirty="0" err="1"/>
              <a:t>jsonable_encoder</a:t>
            </a:r>
            <a:r>
              <a:rPr lang="en-US" dirty="0"/>
              <a:t>() function.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0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8865-CCE6-D531-555E-B74BAF5C8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 with </a:t>
            </a:r>
            <a:r>
              <a:rPr lang="en-US" dirty="0" err="1"/>
              <a:t>FastAPI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24902-FD7F-1574-3926-D7E265940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"Dependency Injection"</a:t>
            </a:r>
            <a:r>
              <a:rPr lang="en-US" dirty="0"/>
              <a:t> means, in programming, that there is a way for your code (in this case, your </a:t>
            </a:r>
            <a:r>
              <a:rPr lang="en-US" i="1" dirty="0"/>
              <a:t>path operation functions</a:t>
            </a:r>
            <a:r>
              <a:rPr lang="en-US" dirty="0"/>
              <a:t>) to declare things that it requires to work and use: "dependencies".</a:t>
            </a:r>
          </a:p>
          <a:p>
            <a:r>
              <a:rPr lang="en-US" dirty="0"/>
              <a:t>And then, that system (in this case </a:t>
            </a:r>
            <a:r>
              <a:rPr lang="en-US" b="1" dirty="0" err="1"/>
              <a:t>FastAPI</a:t>
            </a:r>
            <a:r>
              <a:rPr lang="en-US" dirty="0"/>
              <a:t>) will take care of doing whatever is needed to provide your code with those needed dependencies ("inject" the dependencies).</a:t>
            </a:r>
          </a:p>
          <a:p>
            <a:r>
              <a:rPr lang="en-US" dirty="0"/>
              <a:t>This is very useful when you need to:</a:t>
            </a:r>
          </a:p>
          <a:p>
            <a:r>
              <a:rPr lang="en-US" dirty="0"/>
              <a:t>Have shared logic (the same code logic again and again).</a:t>
            </a:r>
          </a:p>
          <a:p>
            <a:r>
              <a:rPr lang="en-US" dirty="0"/>
              <a:t>Share database connections.</a:t>
            </a:r>
          </a:p>
          <a:p>
            <a:r>
              <a:rPr lang="en-US" dirty="0"/>
              <a:t>Enforce security, authentication, role requirements, etc.</a:t>
            </a:r>
          </a:p>
          <a:p>
            <a:r>
              <a:rPr lang="en-US" dirty="0"/>
              <a:t>IoC (Inversion of Control)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5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E94B-6EEA-B98F-4B36-34CD69A7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737905" cy="1320800"/>
          </a:xfrm>
        </p:spPr>
        <p:txBody>
          <a:bodyPr/>
          <a:lstStyle/>
          <a:p>
            <a:r>
              <a:rPr lang="en-US" dirty="0"/>
              <a:t>Dependencies with yield and </a:t>
            </a:r>
            <a:r>
              <a:rPr lang="en-US" dirty="0" err="1"/>
              <a:t>HTTPException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ABE59-2A7F-FD8C-DD6A-E8FEBDB3B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dependencies with yield and have try blocks that try to execute some code and then run some exit code after finally.</a:t>
            </a:r>
          </a:p>
          <a:p>
            <a:r>
              <a:rPr lang="en-US" dirty="0"/>
              <a:t>You can also use except to catch the exception that was raised and do something with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ABEF-2860-193E-806F-D92B9253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 (Cross-Origin Resource Sharing)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CF98-A65B-F1BF-5E03-85E33744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origin is the combination of protocol (http, https), domain (myapp.com, localhost, localhost.tiangolo.com), and port (80, 443, 8080).</a:t>
            </a:r>
          </a:p>
          <a:p>
            <a:r>
              <a:rPr lang="en-US" dirty="0"/>
              <a:t>So, all these are different origins:</a:t>
            </a:r>
          </a:p>
          <a:p>
            <a:r>
              <a:rPr lang="en-US" dirty="0"/>
              <a:t>http://localhost</a:t>
            </a:r>
          </a:p>
          <a:p>
            <a:r>
              <a:rPr lang="en-US" dirty="0"/>
              <a:t>https://localhost</a:t>
            </a:r>
          </a:p>
          <a:p>
            <a:r>
              <a:rPr lang="en-US" dirty="0"/>
              <a:t>http://localhost:8080</a:t>
            </a:r>
          </a:p>
          <a:p>
            <a:r>
              <a:rPr lang="en-US" dirty="0"/>
              <a:t>Even if they are all in localhost, they use different protocols or ports, so, they are different "origins".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431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7E8-3087-A086-7C43-F64D93E4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Steps for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3AE7-95F4-F0FF-30D0-5341FCAC1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607700" cy="3880773"/>
          </a:xfrm>
        </p:spPr>
        <p:txBody>
          <a:bodyPr/>
          <a:lstStyle/>
          <a:p>
            <a:r>
              <a:rPr lang="en-US" dirty="0"/>
              <a:t>Suppose you have a frontend running in your browser at http://localhost:8080, and its JavaScript is trying to communicate with a backend running at http://localhost (because we don't specify a port, the browser will assume the default port 80).</a:t>
            </a:r>
          </a:p>
          <a:p>
            <a:r>
              <a:rPr lang="en-US" dirty="0"/>
              <a:t>Then, the browser will send an HTTP OPTIONS request to the :80-backend, and if the backend sends the appropriate headers authorizing the communication from this different origin (http://localhost:8080) then the :8080-browser will let the JavaScript in the frontend send its request to the :80-backend.</a:t>
            </a:r>
          </a:p>
          <a:p>
            <a:r>
              <a:rPr lang="en-US" dirty="0"/>
              <a:t>To achieve this, the :80-backend must have a list of "allowed origins".</a:t>
            </a:r>
          </a:p>
          <a:p>
            <a:r>
              <a:rPr lang="en-US" dirty="0"/>
              <a:t>In this case, the list would have to include http://localhost:8080 for the :8080-frontend to work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061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042E-C4F8-08BF-2631-1DC98490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Static Files in </a:t>
            </a:r>
            <a:r>
              <a:rPr lang="en-US" dirty="0" err="1"/>
              <a:t>FastAPI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69D23-8CAD-DA38-8017-BA0D0A08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57349" cy="3880773"/>
          </a:xfrm>
        </p:spPr>
        <p:txBody>
          <a:bodyPr>
            <a:normAutofit/>
          </a:bodyPr>
          <a:lstStyle/>
          <a:p>
            <a:r>
              <a:rPr lang="en-US" dirty="0"/>
              <a:t>To serve static files like CSS, JavaScript, and images in </a:t>
            </a:r>
            <a:r>
              <a:rPr lang="en-US" dirty="0" err="1"/>
              <a:t>FastAPI</a:t>
            </a:r>
            <a:r>
              <a:rPr lang="en-US" dirty="0"/>
              <a:t>, you must use the </a:t>
            </a:r>
            <a:r>
              <a:rPr lang="en-US" dirty="0" err="1"/>
              <a:t>StaticFiles</a:t>
            </a:r>
            <a:r>
              <a:rPr lang="en-US" dirty="0"/>
              <a:t> class and the </a:t>
            </a:r>
            <a:r>
              <a:rPr lang="en-US" dirty="0" err="1"/>
              <a:t>app.mount</a:t>
            </a:r>
            <a:r>
              <a:rPr lang="en-US" dirty="0"/>
              <a:t>() method. This "mounts" a given local directory to a specific URL path in your application, allowing the files within to be served to clients.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E871-6B14-A383-9B73-222E12DF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7" r="2" b="4653"/>
          <a:stretch>
            <a:fillRect/>
          </a:stretch>
        </p:blipFill>
        <p:spPr>
          <a:xfrm>
            <a:off x="4857451" y="2159331"/>
            <a:ext cx="4415050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1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CE68-9409-34C0-C6FE-80F46FC6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the Files in </a:t>
            </a:r>
            <a:r>
              <a:rPr lang="en-US" dirty="0" err="1"/>
              <a:t>StaticFiles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0060-4FE8-56AE-23D8-0ECC8BCA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008533" cy="3880773"/>
          </a:xfrm>
        </p:spPr>
        <p:txBody>
          <a:bodyPr/>
          <a:lstStyle/>
          <a:p>
            <a:pPr lvl="1"/>
            <a:r>
              <a:rPr lang="en-US" dirty="0"/>
              <a:t>"/static": The URL sub-path where the files will be accessible (e.g., http://localhost:8000/static/style.css).</a:t>
            </a:r>
          </a:p>
          <a:p>
            <a:pPr lvl="1"/>
            <a:r>
              <a:rPr lang="en-US" dirty="0"/>
              <a:t>directory="static": The name of the local directory containing your static files.</a:t>
            </a:r>
          </a:p>
          <a:p>
            <a:pPr lvl="1"/>
            <a:r>
              <a:rPr lang="en-US" dirty="0"/>
              <a:t>name="static": An internal name used by </a:t>
            </a:r>
            <a:r>
              <a:rPr lang="en-US" dirty="0" err="1"/>
              <a:t>FastAPI's</a:t>
            </a:r>
            <a:r>
              <a:rPr lang="en-US" dirty="0"/>
              <a:t> path-building functions.</a:t>
            </a:r>
          </a:p>
          <a:p>
            <a:r>
              <a:rPr lang="en-US" b="1" dirty="0"/>
              <a:t>Access the Files</a:t>
            </a:r>
            <a:r>
              <a:rPr lang="en-US" dirty="0"/>
              <a:t>: Once your server is running (e.g., </a:t>
            </a: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main:app</a:t>
            </a:r>
            <a:r>
              <a:rPr lang="en-US" dirty="0"/>
              <a:t> --reload), you can access your static files in the browser or link to them in your HTML templates using the specified URL path.</a:t>
            </a:r>
          </a:p>
          <a:p>
            <a:pPr lvl="1"/>
            <a:r>
              <a:rPr lang="en-US" dirty="0"/>
              <a:t>For the logo.png image in the example structure: http://localhost:8000/static/images/logo.png.</a:t>
            </a:r>
          </a:p>
          <a:p>
            <a:pPr lvl="1"/>
            <a:r>
              <a:rPr lang="en-US" dirty="0"/>
              <a:t>To link a CSS file in an HTML template: &lt;link </a:t>
            </a:r>
            <a:r>
              <a:rPr lang="en-US" dirty="0" err="1"/>
              <a:t>rel</a:t>
            </a:r>
            <a:r>
              <a:rPr lang="en-US" dirty="0"/>
              <a:t>="stylesheet" </a:t>
            </a:r>
            <a:r>
              <a:rPr lang="en-US" dirty="0" err="1"/>
              <a:t>href</a:t>
            </a:r>
            <a:r>
              <a:rPr lang="en-US" dirty="0"/>
              <a:t>="/static/</a:t>
            </a:r>
            <a:r>
              <a:rPr lang="en-US" dirty="0" err="1"/>
              <a:t>css</a:t>
            </a:r>
            <a:r>
              <a:rPr lang="en-US" dirty="0"/>
              <a:t>/style.css"&gt;.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52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E7B4-33CE-1211-9B63-C642E749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2800"/>
          </a:xfrm>
        </p:spPr>
        <p:txBody>
          <a:bodyPr/>
          <a:lstStyle/>
          <a:p>
            <a:r>
              <a:rPr lang="en-US" dirty="0"/>
              <a:t>Advanced Status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2461F-E299-B91F-BEA7-BA32861E20F4}"/>
              </a:ext>
            </a:extLst>
          </p:cNvPr>
          <p:cNvSpPr txBox="1"/>
          <p:nvPr/>
        </p:nvSpPr>
        <p:spPr>
          <a:xfrm>
            <a:off x="677334" y="1422400"/>
            <a:ext cx="106510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default, </a:t>
            </a:r>
            <a:r>
              <a:rPr lang="en-US" b="1" dirty="0" err="1"/>
              <a:t>FastAPI</a:t>
            </a:r>
            <a:r>
              <a:rPr lang="en-US" dirty="0"/>
              <a:t> will return the responses using a </a:t>
            </a:r>
            <a:r>
              <a:rPr lang="en-US" dirty="0" err="1"/>
              <a:t>JSONResponse</a:t>
            </a:r>
            <a:r>
              <a:rPr lang="en-US" dirty="0"/>
              <a:t>, putting the content you return from your </a:t>
            </a:r>
            <a:r>
              <a:rPr lang="en-US" i="1" dirty="0"/>
              <a:t>path operation</a:t>
            </a:r>
            <a:r>
              <a:rPr lang="en-US" dirty="0"/>
              <a:t> inside of that </a:t>
            </a:r>
            <a:r>
              <a:rPr lang="en-US" dirty="0" err="1"/>
              <a:t>JSONResponse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want to return additional status codes apart from the main one, you can do that by returning a Response directly, like a </a:t>
            </a:r>
            <a:r>
              <a:rPr lang="en-US" dirty="0" err="1"/>
              <a:t>JSONResponse</a:t>
            </a:r>
            <a:r>
              <a:rPr lang="en-US" dirty="0"/>
              <a:t>, and set the additional status code directly.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example, let's say that you want to have a </a:t>
            </a:r>
            <a:r>
              <a:rPr lang="en-US" i="1" dirty="0"/>
              <a:t>path operation</a:t>
            </a:r>
            <a:r>
              <a:rPr lang="en-US" dirty="0"/>
              <a:t> that allows to update items, and returns HTTP status codes of 200 "OK" when successful.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you also want it to accept new items. And when the items didn't exist before, it creates them, and returns an HTTP status code of 201 "Created".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that, import </a:t>
            </a:r>
            <a:r>
              <a:rPr lang="en-US" dirty="0" err="1"/>
              <a:t>JSONResponse</a:t>
            </a:r>
            <a:r>
              <a:rPr lang="en-US" dirty="0"/>
              <a:t>, and return your content there directly, setting the </a:t>
            </a:r>
            <a:r>
              <a:rPr lang="en-US" dirty="0" err="1"/>
              <a:t>status_code</a:t>
            </a:r>
            <a:r>
              <a:rPr lang="en-US" dirty="0"/>
              <a:t> that you want: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0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AE5D-0941-83B2-01AF-CCA9B91B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of FastAPI App with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A537-2F47-2349-43D5-5220731F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922933" cy="4087811"/>
          </a:xfrm>
        </p:spPr>
        <p:txBody>
          <a:bodyPr/>
          <a:lstStyle/>
          <a:p>
            <a:r>
              <a:rPr lang="en-US" dirty="0"/>
              <a:t>Pre-requisites </a:t>
            </a:r>
          </a:p>
          <a:p>
            <a:r>
              <a:rPr lang="en-US" dirty="0"/>
              <a:t>Python 3.10+ </a:t>
            </a:r>
          </a:p>
          <a:p>
            <a:r>
              <a:rPr lang="en-US" dirty="0"/>
              <a:t>Azure Account </a:t>
            </a:r>
          </a:p>
          <a:p>
            <a:r>
              <a:rPr lang="en-US" dirty="0"/>
              <a:t>Configure a custom </a:t>
            </a:r>
            <a:r>
              <a:rPr lang="en-US" b="1" dirty="0"/>
              <a:t>startup command</a:t>
            </a:r>
            <a:r>
              <a:rPr lang="en-US" dirty="0"/>
              <a:t> that uses </a:t>
            </a:r>
            <a:r>
              <a:rPr lang="en-US" dirty="0" err="1"/>
              <a:t>Gunicorn</a:t>
            </a:r>
            <a:r>
              <a:rPr lang="en-US" dirty="0"/>
              <a:t> to run the asynchronous </a:t>
            </a:r>
            <a:r>
              <a:rPr lang="en-US" dirty="0" err="1"/>
              <a:t>Uvicorn</a:t>
            </a:r>
            <a:r>
              <a:rPr lang="en-US" dirty="0"/>
              <a:t> server, along with ensuring your dependencies are specified correctly.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Deployment can be done using the Azure CLI, Visual Studio Code extensions, or GitHub Actions. </a:t>
            </a:r>
          </a:p>
        </p:txBody>
      </p:sp>
    </p:spTree>
    <p:extLst>
      <p:ext uri="{BB962C8B-B14F-4D97-AF65-F5344CB8AC3E}">
        <p14:creationId xmlns:p14="http://schemas.microsoft.com/office/powerpoint/2010/main" val="209033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D294-D123-D30A-0356-9D25D83C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Tasks </a:t>
            </a:r>
            <a:r>
              <a:rPr lang="en-US" dirty="0" err="1"/>
              <a:t>Mgmt</a:t>
            </a:r>
            <a:r>
              <a:rPr lang="en-US" dirty="0"/>
              <a:t> in FastAPI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F8AA-6013-8919-8883-FCBBA3DF9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can define background tasks to be run </a:t>
            </a:r>
            <a:r>
              <a:rPr lang="en-US" i="1" dirty="0"/>
              <a:t>after</a:t>
            </a:r>
            <a:r>
              <a:rPr lang="en-US" dirty="0"/>
              <a:t> returning a response.</a:t>
            </a:r>
          </a:p>
          <a:p>
            <a:r>
              <a:rPr lang="en-US" dirty="0"/>
              <a:t>This is useful for operations that need to happen after a request, but that the client doesn't really have to be waiting for the operation to complete before receiving the response.</a:t>
            </a:r>
          </a:p>
          <a:p>
            <a:r>
              <a:rPr lang="en-US" dirty="0"/>
              <a:t>This includes, for example:</a:t>
            </a:r>
          </a:p>
          <a:p>
            <a:r>
              <a:rPr lang="en-US" dirty="0"/>
              <a:t>Email notifications sent after performing an action:</a:t>
            </a:r>
          </a:p>
          <a:p>
            <a:pPr lvl="1"/>
            <a:r>
              <a:rPr lang="en-US" dirty="0"/>
              <a:t>As connecting to an email server and sending an email tends to be "slow" (several seconds), you can return the response right away and send the email notification in the background.</a:t>
            </a:r>
          </a:p>
          <a:p>
            <a:r>
              <a:rPr lang="en-US" dirty="0"/>
              <a:t>Processing data:</a:t>
            </a:r>
          </a:p>
          <a:p>
            <a:pPr lvl="1"/>
            <a:r>
              <a:rPr lang="en-US" dirty="0"/>
              <a:t>For example, let's say you receive a file that must go through a slow process, you can return a response of "Accepted" (HTTP 202) and process the file in the background.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736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30F9-95DE-D1D1-D771-BCAC0814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Task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8F17-8303-6373-9726-9D8F10115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function to be run as the background task.</a:t>
            </a:r>
          </a:p>
          <a:p>
            <a:r>
              <a:rPr lang="en-US" dirty="0"/>
              <a:t>It is just a standard function that can receive parameters.</a:t>
            </a:r>
          </a:p>
          <a:p>
            <a:r>
              <a:rPr lang="en-US" dirty="0"/>
              <a:t>It can be an async def or normal def function, </a:t>
            </a:r>
            <a:r>
              <a:rPr lang="en-US" b="1" dirty="0"/>
              <a:t>FastAPI</a:t>
            </a:r>
            <a:r>
              <a:rPr lang="en-US" dirty="0"/>
              <a:t> will know how to handle it correctly.</a:t>
            </a:r>
          </a:p>
          <a:p>
            <a:r>
              <a:rPr lang="en-US" dirty="0"/>
              <a:t>Inside of your </a:t>
            </a:r>
            <a:r>
              <a:rPr lang="en-US" i="1" dirty="0"/>
              <a:t>path operation function</a:t>
            </a:r>
            <a:r>
              <a:rPr lang="en-US" dirty="0"/>
              <a:t>, pass your task function to the </a:t>
            </a:r>
            <a:r>
              <a:rPr lang="en-US" i="1" dirty="0"/>
              <a:t>background tasks</a:t>
            </a:r>
            <a:r>
              <a:rPr lang="en-US" dirty="0"/>
              <a:t> object with the method .</a:t>
            </a:r>
            <a:r>
              <a:rPr lang="en-US" dirty="0" err="1"/>
              <a:t>add_task</a:t>
            </a:r>
            <a:r>
              <a:rPr lang="en-US" dirty="0"/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3681589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Alembic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771466" cy="3880772"/>
          </a:xfrm>
        </p:spPr>
        <p:txBody>
          <a:bodyPr/>
          <a:lstStyle/>
          <a:p>
            <a:r>
              <a:rPr lang="en-US" dirty="0"/>
              <a:t>Alembic provides for the creation, management, and invocation of </a:t>
            </a:r>
            <a:r>
              <a:rPr lang="en-US" i="1" dirty="0"/>
              <a:t>change management</a:t>
            </a:r>
            <a:r>
              <a:rPr lang="en-US" dirty="0"/>
              <a:t> scripts for a relational database, using SQLAlchemy as the underlying engine.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Usage of Alembic starts with creation of the </a:t>
            </a:r>
            <a:r>
              <a:rPr lang="en-US" i="1" dirty="0"/>
              <a:t>Migration Environment</a:t>
            </a:r>
            <a:r>
              <a:rPr lang="en-US" dirty="0"/>
              <a:t>. This is a directory of scripts that is specific to a particular application. </a:t>
            </a:r>
          </a:p>
          <a:p>
            <a:endParaRPr lang="en-US" dirty="0"/>
          </a:p>
          <a:p>
            <a:r>
              <a:rPr lang="en-US" dirty="0"/>
              <a:t>The migration environment is created just once and is then maintained along with the application’s source code itself. The environment is created using the </a:t>
            </a:r>
            <a:r>
              <a:rPr lang="en-US" b="1" dirty="0" err="1"/>
              <a:t>init</a:t>
            </a:r>
            <a:r>
              <a:rPr lang="en-US" b="1" dirty="0"/>
              <a:t> </a:t>
            </a:r>
            <a:r>
              <a:rPr lang="en-US" dirty="0"/>
              <a:t>command of Alembic and is then customizable to suit the specific needs of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Alembic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24000"/>
            <a:ext cx="10143066" cy="4517361"/>
          </a:xfrm>
        </p:spPr>
        <p:txBody>
          <a:bodyPr>
            <a:normAutofit fontScale="70000" lnSpcReduction="20000"/>
          </a:bodyPr>
          <a:lstStyle/>
          <a:p>
            <a:r>
              <a:rPr lang="en-US" sz="2100" b="1" dirty="0"/>
              <a:t>Version Control for Your Database</a:t>
            </a:r>
            <a:r>
              <a:rPr lang="en-US" sz="2100" dirty="0"/>
              <a:t>: Alembic acts like "Git for your database schema," allowing you to track every change (e.g., adding a table, renaming a column) as an explicit, versioned step in a migration script. This provides a clear, auditable history of modifications.</a:t>
            </a:r>
          </a:p>
          <a:p>
            <a:r>
              <a:rPr lang="en-US" sz="2100" b="1" dirty="0"/>
              <a:t>Consistency Across Environments</a:t>
            </a:r>
            <a:r>
              <a:rPr lang="en-US" sz="2100" dirty="0"/>
              <a:t>: It ensures that every developer, testing environment, and the production database uses the exact same schema evolution process. This eliminates "schema drift" and prevents issues caused by manual errors during deployment.</a:t>
            </a:r>
          </a:p>
          <a:p>
            <a:r>
              <a:rPr lang="en-US" sz="2100" b="1" dirty="0"/>
              <a:t>Safe Upgrades and Downgrades (Rollbacks): </a:t>
            </a:r>
            <a:r>
              <a:rPr lang="en-US" sz="2100" dirty="0"/>
              <a:t>Each migration script contains instructions for both applying the changes (upgrade) and reversing them (downgrade). This provides a crucial safety net, allowing you to revert to a previous, stable state if a new release encounters problems.</a:t>
            </a:r>
          </a:p>
          <a:p>
            <a:r>
              <a:rPr lang="en-US" sz="2100" b="1" dirty="0"/>
              <a:t>Streamlined Collaboration: E</a:t>
            </a:r>
            <a:r>
              <a:rPr lang="en-US" sz="2100" dirty="0"/>
              <a:t>ach developer's schema changes are captured in migration files that are checked into the source code repository. Team members can easily pull the latest changes and run a single command to sync their local databases.</a:t>
            </a:r>
          </a:p>
          <a:p>
            <a:r>
              <a:rPr lang="en-US" sz="2100" dirty="0"/>
              <a:t>Automation and CI/CD Integration: </a:t>
            </a:r>
            <a:r>
              <a:rPr lang="en-US" sz="2000" dirty="0"/>
              <a:t>Migrations can be easily integrated into Continuous Integration/Continuous Deployment (CI/CD) pipelines, automating the process of applying database changes during deployment. This makes releases more reliable and predictable.</a:t>
            </a:r>
          </a:p>
          <a:p>
            <a:r>
              <a:rPr lang="en-US" sz="2100" dirty="0"/>
              <a:t>Pythonic API and SQLAlchemy Integration: Migration scripts are written in Python, allowing developers to leverage the full power and readability of Python code. It works hand-in-hand with </a:t>
            </a:r>
            <a:r>
              <a:rPr lang="en-US" sz="21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SQLAlchemy</a:t>
            </a:r>
            <a:r>
              <a:rPr lang="en-US" sz="2100" dirty="0"/>
              <a:t>, the most popular Python ORM, and can automatically generate draft migration scripts based on model definitions.</a:t>
            </a:r>
          </a:p>
          <a:p>
            <a:r>
              <a:rPr lang="en-US" sz="2100" dirty="0"/>
              <a:t>Database Agnostic: Alembic supports all major databases that SQLAlchemy works with, including PostgreSQL, MySQL, and SQLite, making it a versatile choice for diverse projects.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Directory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2853E-0E5F-AEC1-CEF3-0B0142C19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27" y="2359024"/>
            <a:ext cx="5801945" cy="307657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900FBD-F0F3-EAA7-C861-0AC67E06EA4F}"/>
              </a:ext>
            </a:extLst>
          </p:cNvPr>
          <p:cNvSpPr txBox="1"/>
          <p:nvPr/>
        </p:nvSpPr>
        <p:spPr>
          <a:xfrm>
            <a:off x="7586133" y="1270000"/>
            <a:ext cx="416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Alembic.ini -&gt; This is Alembic’s main configuration file which is generated by all templates.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Pyproject.toml</a:t>
            </a:r>
            <a:r>
              <a:rPr lang="en-US" dirty="0"/>
              <a:t> – Alembic may store optionally project related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Yourproject</a:t>
            </a:r>
            <a:r>
              <a:rPr lang="en-US" dirty="0"/>
              <a:t> – root of the application.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Alembic – The directory lives within the application source tree and source of migration.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env.py – part of generated environment so that the migration runs are entirely customizable.    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26534"/>
            <a:ext cx="8596668" cy="1320800"/>
          </a:xfrm>
        </p:spPr>
        <p:txBody>
          <a:bodyPr/>
          <a:lstStyle/>
          <a:p>
            <a:r>
              <a:rPr lang="en-US" dirty="0"/>
              <a:t>Alembic .</a:t>
            </a:r>
            <a:r>
              <a:rPr lang="en-US" dirty="0" err="1"/>
              <a:t>ini</a:t>
            </a:r>
            <a:r>
              <a:rPr lang="en-US" dirty="0"/>
              <a:t>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EB9FB5-DC77-EF4C-D140-BAFDDCB06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538" y="1971578"/>
            <a:ext cx="5021262" cy="4038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1258</TotalTime>
  <Words>1877</Words>
  <Application>Microsoft Office PowerPoint</Application>
  <PresentationFormat>Widescreen</PresentationFormat>
  <Paragraphs>106</Paragraphs>
  <Slides>19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FASTAPI Development using Python on Cloud</vt:lpstr>
      <vt:lpstr>Form Models in FastAPI</vt:lpstr>
      <vt:lpstr>Request Files in FastAPI</vt:lpstr>
      <vt:lpstr>Handling Error in FastAPI</vt:lpstr>
      <vt:lpstr>FastAPI Encoding with JSON Compatible Encoders</vt:lpstr>
      <vt:lpstr>Dependency Injection with FastAPI </vt:lpstr>
      <vt:lpstr>Dependencies with yield and HTTPException</vt:lpstr>
      <vt:lpstr>CORS (Cross-Origin Resource Sharing)</vt:lpstr>
      <vt:lpstr>Implementation Steps for CORS</vt:lpstr>
      <vt:lpstr>Static Files in FastAPI</vt:lpstr>
      <vt:lpstr>Accessing the Files in StaticFiles</vt:lpstr>
      <vt:lpstr>Advanced Status Codes</vt:lpstr>
      <vt:lpstr>Deployment of FastAPI App with Azure</vt:lpstr>
      <vt:lpstr>Background Tasks Mgmt in FastAPI</vt:lpstr>
      <vt:lpstr>Create a Task function </vt:lpstr>
      <vt:lpstr>Overview of Alembic</vt:lpstr>
      <vt:lpstr>Alembic Benefits</vt:lpstr>
      <vt:lpstr>Directory Structure</vt:lpstr>
      <vt:lpstr>Alembic .ini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72</cp:revision>
  <dcterms:created xsi:type="dcterms:W3CDTF">2026-02-07T01:49:08Z</dcterms:created>
  <dcterms:modified xsi:type="dcterms:W3CDTF">2026-02-20T07:25:22Z</dcterms:modified>
</cp:coreProperties>
</file>
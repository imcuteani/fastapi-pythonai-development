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3" r:id="rId1"/>
  </p:sldMasterIdLst>
  <p:sldIdLst>
    <p:sldId id="256" r:id="rId2"/>
    <p:sldId id="282" r:id="rId3"/>
    <p:sldId id="283" r:id="rId4"/>
    <p:sldId id="284" r:id="rId5"/>
    <p:sldId id="285" r:id="rId6"/>
    <p:sldId id="286" r:id="rId7"/>
    <p:sldId id="287" r:id="rId8"/>
    <p:sldId id="288" r:id="rId9"/>
    <p:sldId id="289" r:id="rId10"/>
    <p:sldId id="290" r:id="rId11"/>
    <p:sldId id="291" r:id="rId12"/>
    <p:sldId id="261" r:id="rId13"/>
    <p:sldId id="280" r:id="rId14"/>
    <p:sldId id="281" r:id="rId15"/>
    <p:sldId id="292" r:id="rId16"/>
    <p:sldId id="293" r:id="rId17"/>
    <p:sldId id="257" r:id="rId18"/>
    <p:sldId id="258" r:id="rId19"/>
    <p:sldId id="259" r:id="rId20"/>
    <p:sldId id="26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7" d="100"/>
          <a:sy n="57" d="100"/>
        </p:scale>
        <p:origin x="1260"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8955386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071839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5088145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1C4689-B28D-4D3C-8B05-9ABB967E2A3E}" type="datetime1">
              <a:rPr lang="en-US" smtClean="0"/>
              <a:t>2/11/2026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0361480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1C4689-B28D-4D3C-8B05-9ABB967E2A3E}" type="datetime1">
              <a:rPr lang="en-US" smtClean="0"/>
              <a:t>2/11/2026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6489228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72CE4D-D83F-44D4-ACB0-A88A6B9DB4F7}" type="datetime1">
              <a:rPr lang="en-US" smtClean="0"/>
              <a:t>2/11/2026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6479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2F981-1EE1-49F5-B605-4EA23F0307AC}" type="datetime1">
              <a:rPr lang="en-US" smtClean="0"/>
              <a:t>2/11/2026</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3642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B6493B-A447-4205-AC2D-AE2DEDAE4E3B}" type="datetime1">
              <a:rPr lang="en-US" smtClean="0"/>
              <a:t>2/11/2026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61165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
        <p:nvSpPr>
          <p:cNvPr id="5" name="Date Placeholder 4"/>
          <p:cNvSpPr>
            <a:spLocks noGrp="1"/>
          </p:cNvSpPr>
          <p:nvPr>
            <p:ph type="dt" sz="half" idx="10"/>
          </p:nvPr>
        </p:nvSpPr>
        <p:spPr/>
        <p:txBody>
          <a:bodyPr/>
          <a:lstStyle/>
          <a:p>
            <a:fld id="{FD1C4689-B28D-4D3C-8B05-9ABB967E2A3E}" type="datetime1">
              <a:rPr lang="en-US" smtClean="0"/>
              <a:t>2/11/2026</a:t>
            </a:fld>
            <a:endParaRPr lang="en-US" dirty="0"/>
          </a:p>
        </p:txBody>
      </p:sp>
    </p:spTree>
    <p:extLst>
      <p:ext uri="{BB962C8B-B14F-4D97-AF65-F5344CB8AC3E}">
        <p14:creationId xmlns:p14="http://schemas.microsoft.com/office/powerpoint/2010/main" val="252361742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876123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013672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0657354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4845688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447190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4766267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1C4689-B28D-4D3C-8B05-9ABB967E2A3E}" type="datetime1">
              <a:rPr lang="en-US" smtClean="0"/>
              <a:t>2/11/2026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6627643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D1C4689-B28D-4D3C-8B05-9ABB967E2A3E}" type="datetime1">
              <a:rPr lang="en-US" smtClean="0"/>
              <a:t>2/11/2026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57623945"/>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 id="2147483935" r:id="rId12"/>
    <p:sldLayoutId id="2147483936" r:id="rId13"/>
    <p:sldLayoutId id="2147483937" r:id="rId14"/>
    <p:sldLayoutId id="2147483938" r:id="rId15"/>
    <p:sldLayoutId id="214748393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fastapi.tiangolo.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fastapi.tiangolo.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fastapi.tiangolo.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learn.microsoft.com/en-us/azure/app-service/environment/ase-multi-tenant-comparison" TargetMode="External"/><Relationship Id="rId3" Type="http://schemas.openxmlformats.org/officeDocument/2006/relationships/hyperlink" Target="https://learn.microsoft.com/en-us/azure/app-service/deploy-staging-slots" TargetMode="External"/><Relationship Id="rId7" Type="http://schemas.openxmlformats.org/officeDocument/2006/relationships/hyperlink" Target="https://learn.microsoft.com/en-us/azure/app-service/tutorial-networking-isolate-vnet" TargetMode="External"/><Relationship Id="rId2" Type="http://schemas.openxmlformats.org/officeDocument/2006/relationships/hyperlink" Target="https://learn.microsoft.com/en-us/azure/app-service/deploy-continuous-deployment" TargetMode="External"/><Relationship Id="rId1" Type="http://schemas.openxmlformats.org/officeDocument/2006/relationships/slideLayout" Target="../slideLayouts/slideLayout2.xml"/><Relationship Id="rId6" Type="http://schemas.openxmlformats.org/officeDocument/2006/relationships/hyperlink" Target="https://azure.microsoft.com/pricing/reservations/" TargetMode="External"/><Relationship Id="rId11" Type="http://schemas.openxmlformats.org/officeDocument/2006/relationships/hyperlink" Target="https://www.microsoft.com/trust-center" TargetMode="External"/><Relationship Id="rId5" Type="http://schemas.openxmlformats.org/officeDocument/2006/relationships/hyperlink" Target="https://azure.microsoft.com/pricing/offers/savings-plan-compute" TargetMode="External"/><Relationship Id="rId10" Type="http://schemas.openxmlformats.org/officeDocument/2006/relationships/hyperlink" Target="https://azure.microsoft.com/support/legal/sla/app-service/" TargetMode="External"/><Relationship Id="rId4" Type="http://schemas.openxmlformats.org/officeDocument/2006/relationships/hyperlink" Target="https://azure.microsoft.com/pricing/details/app-service/" TargetMode="External"/><Relationship Id="rId9" Type="http://schemas.openxmlformats.org/officeDocument/2006/relationships/hyperlink" Target="https://learn.microsoft.com/en-us/connectors/connector-reference/connector-reference-logicapps-connectors"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www.sqlalchemy.org/"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F658F-8D2B-6D3F-1510-352DFF3B938D}"/>
              </a:ext>
            </a:extLst>
          </p:cNvPr>
          <p:cNvSpPr>
            <a:spLocks noGrp="1"/>
          </p:cNvSpPr>
          <p:nvPr>
            <p:ph type="ctrTitle"/>
          </p:nvPr>
        </p:nvSpPr>
        <p:spPr/>
        <p:txBody>
          <a:bodyPr anchor="b">
            <a:normAutofit fontScale="90000"/>
          </a:bodyPr>
          <a:lstStyle/>
          <a:p>
            <a:r>
              <a:rPr lang="en-US" dirty="0"/>
              <a:t>FASTAPI Development using Python on Cloud</a:t>
            </a:r>
          </a:p>
        </p:txBody>
      </p:sp>
      <p:sp>
        <p:nvSpPr>
          <p:cNvPr id="3" name="Subtitle 2">
            <a:extLst>
              <a:ext uri="{FF2B5EF4-FFF2-40B4-BE49-F238E27FC236}">
                <a16:creationId xmlns:a16="http://schemas.microsoft.com/office/drawing/2014/main" id="{97A1C9E5-7ED4-7426-203C-4C5CA8872D71}"/>
              </a:ext>
            </a:extLst>
          </p:cNvPr>
          <p:cNvSpPr>
            <a:spLocks noGrp="1"/>
          </p:cNvSpPr>
          <p:nvPr>
            <p:ph type="subTitle" idx="1"/>
          </p:nvPr>
        </p:nvSpPr>
        <p:spPr/>
        <p:txBody>
          <a:bodyPr anchor="t">
            <a:normAutofit/>
          </a:bodyPr>
          <a:lstStyle/>
          <a:p>
            <a:r>
              <a:rPr lang="en-US" dirty="0"/>
              <a:t>FastAPI with Agentic AI on Cloud</a:t>
            </a:r>
          </a:p>
        </p:txBody>
      </p:sp>
    </p:spTree>
    <p:extLst>
      <p:ext uri="{BB962C8B-B14F-4D97-AF65-F5344CB8AC3E}">
        <p14:creationId xmlns:p14="http://schemas.microsoft.com/office/powerpoint/2010/main" val="568568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23C3-415A-F0B6-A517-97F56DD090AD}"/>
              </a:ext>
            </a:extLst>
          </p:cNvPr>
          <p:cNvSpPr>
            <a:spLocks noGrp="1"/>
          </p:cNvSpPr>
          <p:nvPr>
            <p:ph type="title"/>
          </p:nvPr>
        </p:nvSpPr>
        <p:spPr/>
        <p:txBody>
          <a:bodyPr/>
          <a:lstStyle/>
          <a:p>
            <a:r>
              <a:rPr lang="en-US" dirty="0"/>
              <a:t>Query Parameters Model</a:t>
            </a:r>
          </a:p>
        </p:txBody>
      </p:sp>
      <p:sp>
        <p:nvSpPr>
          <p:cNvPr id="3" name="Content Placeholder 2">
            <a:extLst>
              <a:ext uri="{FF2B5EF4-FFF2-40B4-BE49-F238E27FC236}">
                <a16:creationId xmlns:a16="http://schemas.microsoft.com/office/drawing/2014/main" id="{D48B097D-4123-D929-5E3D-E8701BAB0F2D}"/>
              </a:ext>
            </a:extLst>
          </p:cNvPr>
          <p:cNvSpPr>
            <a:spLocks noGrp="1"/>
          </p:cNvSpPr>
          <p:nvPr>
            <p:ph idx="1"/>
          </p:nvPr>
        </p:nvSpPr>
        <p:spPr/>
        <p:txBody>
          <a:bodyPr/>
          <a:lstStyle/>
          <a:p>
            <a:pPr>
              <a:buFont typeface="Arial" panose="020B0604020202020204" pitchFamily="34" charset="0"/>
              <a:buChar char="•"/>
            </a:pPr>
            <a:r>
              <a:rPr lang="en-US" dirty="0"/>
              <a:t>If you have a group of </a:t>
            </a:r>
            <a:r>
              <a:rPr lang="en-US" b="1" dirty="0"/>
              <a:t>query parameters</a:t>
            </a:r>
            <a:r>
              <a:rPr lang="en-US" dirty="0"/>
              <a:t> that are related, you can create a </a:t>
            </a:r>
            <a:r>
              <a:rPr lang="en-US" b="1" dirty="0" err="1"/>
              <a:t>Pydantic</a:t>
            </a:r>
            <a:r>
              <a:rPr lang="en-US" b="1" dirty="0"/>
              <a:t> model</a:t>
            </a:r>
            <a:r>
              <a:rPr lang="en-US" dirty="0"/>
              <a:t> to declare them.</a:t>
            </a:r>
          </a:p>
          <a:p>
            <a:pPr>
              <a:buFont typeface="Arial" panose="020B0604020202020204" pitchFamily="34" charset="0"/>
              <a:buChar char="•"/>
            </a:pPr>
            <a:endParaRPr lang="en-US" dirty="0"/>
          </a:p>
          <a:p>
            <a:pPr>
              <a:buFont typeface="Arial" panose="020B0604020202020204" pitchFamily="34" charset="0"/>
              <a:buChar char="•"/>
            </a:pPr>
            <a:r>
              <a:rPr lang="en-US" dirty="0"/>
              <a:t>It’d also allow you to reutilize the Query Model in multiple places and to also declare metadata for all the parameters at once. </a:t>
            </a:r>
          </a:p>
        </p:txBody>
      </p:sp>
    </p:spTree>
    <p:extLst>
      <p:ext uri="{BB962C8B-B14F-4D97-AF65-F5344CB8AC3E}">
        <p14:creationId xmlns:p14="http://schemas.microsoft.com/office/powerpoint/2010/main" val="3657767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1C501-E6CD-E1C8-C8CD-E4458BC73B51}"/>
              </a:ext>
            </a:extLst>
          </p:cNvPr>
          <p:cNvSpPr>
            <a:spLocks noGrp="1"/>
          </p:cNvSpPr>
          <p:nvPr>
            <p:ph type="title"/>
          </p:nvPr>
        </p:nvSpPr>
        <p:spPr/>
        <p:txBody>
          <a:bodyPr/>
          <a:lstStyle/>
          <a:p>
            <a:r>
              <a:rPr lang="en-US" dirty="0"/>
              <a:t>Query Parameters with a </a:t>
            </a:r>
            <a:r>
              <a:rPr lang="en-US" dirty="0" err="1"/>
              <a:t>Pydantic</a:t>
            </a:r>
            <a:r>
              <a:rPr lang="en-US" dirty="0"/>
              <a:t> Model</a:t>
            </a:r>
          </a:p>
        </p:txBody>
      </p:sp>
      <p:pic>
        <p:nvPicPr>
          <p:cNvPr id="5" name="Content Placeholder 4">
            <a:extLst>
              <a:ext uri="{FF2B5EF4-FFF2-40B4-BE49-F238E27FC236}">
                <a16:creationId xmlns:a16="http://schemas.microsoft.com/office/drawing/2014/main" id="{B24F02EF-37C5-44A5-8228-A5FA1C313F7B}"/>
              </a:ext>
            </a:extLst>
          </p:cNvPr>
          <p:cNvPicPr>
            <a:picLocks noGrp="1" noChangeAspect="1"/>
          </p:cNvPicPr>
          <p:nvPr>
            <p:ph idx="1"/>
          </p:nvPr>
        </p:nvPicPr>
        <p:blipFill>
          <a:blip r:embed="rId2"/>
          <a:stretch>
            <a:fillRect/>
          </a:stretch>
        </p:blipFill>
        <p:spPr>
          <a:xfrm>
            <a:off x="1839855" y="2405459"/>
            <a:ext cx="7682330" cy="34424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29418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8EE44-E403-C966-20DF-5E2705415EAA}"/>
              </a:ext>
            </a:extLst>
          </p:cNvPr>
          <p:cNvSpPr>
            <a:spLocks noGrp="1"/>
          </p:cNvSpPr>
          <p:nvPr>
            <p:ph type="title"/>
          </p:nvPr>
        </p:nvSpPr>
        <p:spPr/>
        <p:txBody>
          <a:bodyPr/>
          <a:lstStyle/>
          <a:p>
            <a:r>
              <a:rPr lang="en-US" dirty="0"/>
              <a:t>Forbid extra Query Parameters</a:t>
            </a:r>
          </a:p>
        </p:txBody>
      </p:sp>
      <p:sp>
        <p:nvSpPr>
          <p:cNvPr id="3" name="Content Placeholder 2">
            <a:extLst>
              <a:ext uri="{FF2B5EF4-FFF2-40B4-BE49-F238E27FC236}">
                <a16:creationId xmlns:a16="http://schemas.microsoft.com/office/drawing/2014/main" id="{8B6634E0-4035-9177-CCF7-FE9646C3F2AB}"/>
              </a:ext>
            </a:extLst>
          </p:cNvPr>
          <p:cNvSpPr>
            <a:spLocks noGrp="1"/>
          </p:cNvSpPr>
          <p:nvPr>
            <p:ph idx="1"/>
          </p:nvPr>
        </p:nvSpPr>
        <p:spPr/>
        <p:txBody>
          <a:bodyPr/>
          <a:lstStyle/>
          <a:p>
            <a:r>
              <a:rPr lang="en-US" dirty="0" err="1"/>
              <a:t>Pydantic’s</a:t>
            </a:r>
            <a:r>
              <a:rPr lang="en-US" dirty="0"/>
              <a:t> model configuration can be used to forbid any extra fields for restriction of Query parameters to receive. </a:t>
            </a:r>
          </a:p>
        </p:txBody>
      </p:sp>
      <p:pic>
        <p:nvPicPr>
          <p:cNvPr id="5" name="Picture 4">
            <a:extLst>
              <a:ext uri="{FF2B5EF4-FFF2-40B4-BE49-F238E27FC236}">
                <a16:creationId xmlns:a16="http://schemas.microsoft.com/office/drawing/2014/main" id="{6F45F43A-3BB6-78BC-4353-E3C2A6AFD78A}"/>
              </a:ext>
            </a:extLst>
          </p:cNvPr>
          <p:cNvPicPr>
            <a:picLocks noChangeAspect="1"/>
          </p:cNvPicPr>
          <p:nvPr/>
        </p:nvPicPr>
        <p:blipFill>
          <a:blip r:embed="rId2"/>
          <a:stretch>
            <a:fillRect/>
          </a:stretch>
        </p:blipFill>
        <p:spPr>
          <a:xfrm>
            <a:off x="2675380" y="3664267"/>
            <a:ext cx="4600575" cy="19526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29046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DB5F6-59DF-B17B-B930-0A3BF94DB025}"/>
              </a:ext>
            </a:extLst>
          </p:cNvPr>
          <p:cNvSpPr>
            <a:spLocks noGrp="1"/>
          </p:cNvSpPr>
          <p:nvPr>
            <p:ph type="title"/>
          </p:nvPr>
        </p:nvSpPr>
        <p:spPr/>
        <p:txBody>
          <a:bodyPr/>
          <a:lstStyle/>
          <a:p>
            <a:r>
              <a:rPr lang="en-US" dirty="0"/>
              <a:t>Extra Data Types - FastAPI</a:t>
            </a:r>
          </a:p>
        </p:txBody>
      </p:sp>
      <p:sp>
        <p:nvSpPr>
          <p:cNvPr id="3" name="Content Placeholder 2">
            <a:extLst>
              <a:ext uri="{FF2B5EF4-FFF2-40B4-BE49-F238E27FC236}">
                <a16:creationId xmlns:a16="http://schemas.microsoft.com/office/drawing/2014/main" id="{C6452ACF-E8B9-1A5E-474C-676D0AFB63D7}"/>
              </a:ext>
            </a:extLst>
          </p:cNvPr>
          <p:cNvSpPr>
            <a:spLocks noGrp="1"/>
          </p:cNvSpPr>
          <p:nvPr>
            <p:ph idx="1"/>
          </p:nvPr>
        </p:nvSpPr>
        <p:spPr>
          <a:xfrm>
            <a:off x="677333" y="2160589"/>
            <a:ext cx="9516533" cy="3880773"/>
          </a:xfrm>
        </p:spPr>
        <p:txBody>
          <a:bodyPr/>
          <a:lstStyle/>
          <a:p>
            <a:r>
              <a:rPr lang="en-US" dirty="0"/>
              <a:t>FastAPI supports the following data types </a:t>
            </a:r>
          </a:p>
          <a:p>
            <a:r>
              <a:rPr lang="en-US" dirty="0"/>
              <a:t>int</a:t>
            </a:r>
          </a:p>
          <a:p>
            <a:r>
              <a:rPr lang="en-US" dirty="0"/>
              <a:t>float</a:t>
            </a:r>
          </a:p>
          <a:p>
            <a:r>
              <a:rPr lang="en-US" dirty="0"/>
              <a:t>str</a:t>
            </a:r>
          </a:p>
          <a:p>
            <a:r>
              <a:rPr lang="en-US" dirty="0"/>
              <a:t>bool</a:t>
            </a:r>
          </a:p>
          <a:p>
            <a:r>
              <a:rPr lang="en-US" dirty="0"/>
              <a:t>But FastAPI supports other data types as well (complex) </a:t>
            </a:r>
          </a:p>
          <a:p>
            <a:r>
              <a:rPr lang="en-US" dirty="0"/>
              <a:t>UUID:</a:t>
            </a:r>
          </a:p>
          <a:p>
            <a:r>
              <a:rPr lang="en-US" dirty="0" err="1"/>
              <a:t>Datetime.datetime</a:t>
            </a:r>
            <a:r>
              <a:rPr lang="en-US" dirty="0"/>
              <a:t>:</a:t>
            </a:r>
          </a:p>
          <a:p>
            <a:r>
              <a:rPr lang="en-US" dirty="0" err="1"/>
              <a:t>Datetime.date</a:t>
            </a:r>
            <a:r>
              <a:rPr lang="en-US" dirty="0"/>
              <a:t>:</a:t>
            </a:r>
          </a:p>
          <a:p>
            <a:pPr marL="0" indent="0">
              <a:buNone/>
            </a:pPr>
            <a:endParaRPr lang="en-US" dirty="0"/>
          </a:p>
        </p:txBody>
      </p:sp>
    </p:spTree>
    <p:extLst>
      <p:ext uri="{BB962C8B-B14F-4D97-AF65-F5344CB8AC3E}">
        <p14:creationId xmlns:p14="http://schemas.microsoft.com/office/powerpoint/2010/main" val="965100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68865-CCE6-D531-555E-B74BAF5C84CD}"/>
              </a:ext>
            </a:extLst>
          </p:cNvPr>
          <p:cNvSpPr>
            <a:spLocks noGrp="1"/>
          </p:cNvSpPr>
          <p:nvPr>
            <p:ph type="title"/>
          </p:nvPr>
        </p:nvSpPr>
        <p:spPr/>
        <p:txBody>
          <a:bodyPr/>
          <a:lstStyle/>
          <a:p>
            <a:r>
              <a:rPr lang="en-US" dirty="0"/>
              <a:t>Extra Data Types – Contd. </a:t>
            </a:r>
          </a:p>
        </p:txBody>
      </p:sp>
      <p:sp>
        <p:nvSpPr>
          <p:cNvPr id="3" name="Content Placeholder 2">
            <a:extLst>
              <a:ext uri="{FF2B5EF4-FFF2-40B4-BE49-F238E27FC236}">
                <a16:creationId xmlns:a16="http://schemas.microsoft.com/office/drawing/2014/main" id="{39124902-FD7F-1574-3926-D7E26594043B}"/>
              </a:ext>
            </a:extLst>
          </p:cNvPr>
          <p:cNvSpPr>
            <a:spLocks noGrp="1"/>
          </p:cNvSpPr>
          <p:nvPr>
            <p:ph idx="1"/>
          </p:nvPr>
        </p:nvSpPr>
        <p:spPr/>
        <p:txBody>
          <a:bodyPr/>
          <a:lstStyle/>
          <a:p>
            <a:r>
              <a:rPr lang="en-US" dirty="0" err="1"/>
              <a:t>Datetime.date</a:t>
            </a:r>
            <a:r>
              <a:rPr lang="en-US" dirty="0"/>
              <a:t>:</a:t>
            </a:r>
          </a:p>
          <a:p>
            <a:r>
              <a:rPr lang="en-US" dirty="0" err="1"/>
              <a:t>Datetime.time</a:t>
            </a:r>
            <a:r>
              <a:rPr lang="en-US" dirty="0"/>
              <a:t>:</a:t>
            </a:r>
          </a:p>
          <a:p>
            <a:r>
              <a:rPr lang="en-US" dirty="0" err="1"/>
              <a:t>Datetime.timedelta</a:t>
            </a:r>
            <a:r>
              <a:rPr lang="en-US" dirty="0"/>
              <a:t>:</a:t>
            </a:r>
          </a:p>
          <a:p>
            <a:r>
              <a:rPr lang="en-US" dirty="0" err="1"/>
              <a:t>Frozenset</a:t>
            </a:r>
            <a:r>
              <a:rPr lang="en-US" dirty="0"/>
              <a:t>:</a:t>
            </a:r>
          </a:p>
          <a:p>
            <a:r>
              <a:rPr lang="en-US" dirty="0"/>
              <a:t>Bytes:</a:t>
            </a:r>
          </a:p>
          <a:p>
            <a:r>
              <a:rPr lang="en-US" dirty="0"/>
              <a:t>Decimal:</a:t>
            </a:r>
          </a:p>
          <a:p>
            <a:endParaRPr lang="en-US" dirty="0"/>
          </a:p>
          <a:p>
            <a:endParaRPr lang="en-US" dirty="0"/>
          </a:p>
        </p:txBody>
      </p:sp>
    </p:spTree>
    <p:extLst>
      <p:ext uri="{BB962C8B-B14F-4D97-AF65-F5344CB8AC3E}">
        <p14:creationId xmlns:p14="http://schemas.microsoft.com/office/powerpoint/2010/main" val="865756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9E94B-6EEA-B98F-4B36-34CD69A7F6BD}"/>
              </a:ext>
            </a:extLst>
          </p:cNvPr>
          <p:cNvSpPr>
            <a:spLocks noGrp="1"/>
          </p:cNvSpPr>
          <p:nvPr>
            <p:ph type="title"/>
          </p:nvPr>
        </p:nvSpPr>
        <p:spPr/>
        <p:txBody>
          <a:bodyPr/>
          <a:lstStyle/>
          <a:p>
            <a:r>
              <a:rPr lang="en-US" dirty="0"/>
              <a:t>Cookie Parameters in FastAPI</a:t>
            </a:r>
          </a:p>
        </p:txBody>
      </p:sp>
      <p:sp>
        <p:nvSpPr>
          <p:cNvPr id="3" name="Content Placeholder 2">
            <a:extLst>
              <a:ext uri="{FF2B5EF4-FFF2-40B4-BE49-F238E27FC236}">
                <a16:creationId xmlns:a16="http://schemas.microsoft.com/office/drawing/2014/main" id="{248ABE59-2A7F-FD8C-DD6A-E8FEBDB3BB11}"/>
              </a:ext>
            </a:extLst>
          </p:cNvPr>
          <p:cNvSpPr>
            <a:spLocks noGrp="1"/>
          </p:cNvSpPr>
          <p:nvPr>
            <p:ph idx="1"/>
          </p:nvPr>
        </p:nvSpPr>
        <p:spPr/>
        <p:txBody>
          <a:bodyPr/>
          <a:lstStyle/>
          <a:p>
            <a:r>
              <a:rPr lang="en-US" dirty="0"/>
              <a:t>In </a:t>
            </a:r>
            <a:r>
              <a:rPr lang="en-US" dirty="0">
                <a:hlinkClick r:id="rId2"/>
              </a:rPr>
              <a:t>FastAPI</a:t>
            </a:r>
            <a:r>
              <a:rPr lang="en-US" dirty="0"/>
              <a:t>, cookie parameters are declared using the Cookie() function from the </a:t>
            </a:r>
            <a:r>
              <a:rPr lang="en-US" dirty="0" err="1"/>
              <a:t>fastapi</a:t>
            </a:r>
            <a:r>
              <a:rPr lang="en-US" dirty="0"/>
              <a:t> module. This is used for reading cookies sent from the client in the HTTP request. To set a cookie in the response, you use the </a:t>
            </a:r>
            <a:r>
              <a:rPr lang="en-US" dirty="0" err="1"/>
              <a:t>response.set_cookie</a:t>
            </a:r>
            <a:r>
              <a:rPr lang="en-US" dirty="0"/>
              <a:t>() method. </a:t>
            </a:r>
          </a:p>
          <a:p>
            <a:endParaRPr lang="en-US" dirty="0"/>
          </a:p>
          <a:p>
            <a:r>
              <a:rPr lang="en-US" dirty="0"/>
              <a:t>To set a cookie, you must add a Response parameter to your path operation function and use its </a:t>
            </a:r>
            <a:r>
              <a:rPr lang="en-US" dirty="0" err="1"/>
              <a:t>set_cookie</a:t>
            </a:r>
            <a:r>
              <a:rPr lang="en-US" dirty="0"/>
              <a:t> method. This allows FastAPI to extract the cookie information from the temporary response and add it to the final response sent to the client. </a:t>
            </a:r>
          </a:p>
        </p:txBody>
      </p:sp>
    </p:spTree>
    <p:extLst>
      <p:ext uri="{BB962C8B-B14F-4D97-AF65-F5344CB8AC3E}">
        <p14:creationId xmlns:p14="http://schemas.microsoft.com/office/powerpoint/2010/main" val="2687067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4ABEF-2860-193E-806F-D92B9253752F}"/>
              </a:ext>
            </a:extLst>
          </p:cNvPr>
          <p:cNvSpPr>
            <a:spLocks noGrp="1"/>
          </p:cNvSpPr>
          <p:nvPr>
            <p:ph type="title"/>
          </p:nvPr>
        </p:nvSpPr>
        <p:spPr/>
        <p:txBody>
          <a:bodyPr/>
          <a:lstStyle/>
          <a:p>
            <a:r>
              <a:rPr lang="en-US" dirty="0"/>
              <a:t>Declare Header Parameters </a:t>
            </a:r>
          </a:p>
        </p:txBody>
      </p:sp>
      <p:sp>
        <p:nvSpPr>
          <p:cNvPr id="3" name="Content Placeholder 2">
            <a:extLst>
              <a:ext uri="{FF2B5EF4-FFF2-40B4-BE49-F238E27FC236}">
                <a16:creationId xmlns:a16="http://schemas.microsoft.com/office/drawing/2014/main" id="{C830CF98-A65B-F1BF-5E03-85E33744745A}"/>
              </a:ext>
            </a:extLst>
          </p:cNvPr>
          <p:cNvSpPr>
            <a:spLocks noGrp="1"/>
          </p:cNvSpPr>
          <p:nvPr>
            <p:ph idx="1"/>
          </p:nvPr>
        </p:nvSpPr>
        <p:spPr/>
        <p:txBody>
          <a:bodyPr/>
          <a:lstStyle/>
          <a:p>
            <a:r>
              <a:rPr lang="en-US" dirty="0"/>
              <a:t>In </a:t>
            </a:r>
            <a:r>
              <a:rPr lang="en-US" dirty="0">
                <a:hlinkClick r:id="rId2"/>
              </a:rPr>
              <a:t>FastAPI</a:t>
            </a:r>
            <a:r>
              <a:rPr lang="en-US" dirty="0"/>
              <a:t>, you define header parameters using the Header function within your path operation function's parameters. FastAPI automatically extracts the header value from the incoming HTTP request and passes it to your function. </a:t>
            </a:r>
          </a:p>
          <a:p>
            <a:r>
              <a:rPr lang="en-US" dirty="0"/>
              <a:t>Declare a header parameter </a:t>
            </a:r>
          </a:p>
          <a:p>
            <a:endParaRPr lang="en-US" dirty="0"/>
          </a:p>
          <a:p>
            <a:r>
              <a:rPr lang="en-US" b="1" dirty="0"/>
              <a:t>Optional Header:</a:t>
            </a:r>
            <a:r>
              <a:rPr lang="en-US" dirty="0"/>
              <a:t> Provide a default value (e.g., None).</a:t>
            </a:r>
          </a:p>
          <a:p>
            <a:r>
              <a:rPr lang="en-US" b="1" dirty="0"/>
              <a:t>Required Header:</a:t>
            </a:r>
            <a:r>
              <a:rPr lang="en-US" dirty="0"/>
              <a:t> Use ... (ellipsis) as the default value to make the header mandatory. </a:t>
            </a:r>
          </a:p>
          <a:p>
            <a:endParaRPr lang="en-US" dirty="0"/>
          </a:p>
        </p:txBody>
      </p:sp>
    </p:spTree>
    <p:extLst>
      <p:ext uri="{BB962C8B-B14F-4D97-AF65-F5344CB8AC3E}">
        <p14:creationId xmlns:p14="http://schemas.microsoft.com/office/powerpoint/2010/main" val="3647431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57E8-3087-A086-7C43-F64D93E46777}"/>
              </a:ext>
            </a:extLst>
          </p:cNvPr>
          <p:cNvSpPr>
            <a:spLocks noGrp="1"/>
          </p:cNvSpPr>
          <p:nvPr>
            <p:ph type="title"/>
          </p:nvPr>
        </p:nvSpPr>
        <p:spPr/>
        <p:txBody>
          <a:bodyPr/>
          <a:lstStyle/>
          <a:p>
            <a:r>
              <a:rPr lang="en-US" dirty="0"/>
              <a:t>Form Models in FastAPI</a:t>
            </a:r>
          </a:p>
        </p:txBody>
      </p:sp>
      <p:sp>
        <p:nvSpPr>
          <p:cNvPr id="3" name="Content Placeholder 2">
            <a:extLst>
              <a:ext uri="{FF2B5EF4-FFF2-40B4-BE49-F238E27FC236}">
                <a16:creationId xmlns:a16="http://schemas.microsoft.com/office/drawing/2014/main" id="{23853AE7-95F4-F0FF-30D0-5341FCAC1844}"/>
              </a:ext>
            </a:extLst>
          </p:cNvPr>
          <p:cNvSpPr>
            <a:spLocks noGrp="1"/>
          </p:cNvSpPr>
          <p:nvPr>
            <p:ph idx="1"/>
          </p:nvPr>
        </p:nvSpPr>
        <p:spPr/>
        <p:txBody>
          <a:bodyPr/>
          <a:lstStyle/>
          <a:p>
            <a:r>
              <a:rPr lang="en-US" dirty="0"/>
              <a:t>To use </a:t>
            </a:r>
            <a:r>
              <a:rPr lang="en-US" dirty="0" err="1"/>
              <a:t>Pydantic</a:t>
            </a:r>
            <a:r>
              <a:rPr lang="en-US" dirty="0"/>
              <a:t> models with form data in </a:t>
            </a:r>
            <a:r>
              <a:rPr lang="en-US" dirty="0">
                <a:hlinkClick r:id="rId2"/>
              </a:rPr>
              <a:t>FastAPI</a:t>
            </a:r>
            <a:r>
              <a:rPr lang="en-US" dirty="0"/>
              <a:t>, you can declare a </a:t>
            </a:r>
            <a:r>
              <a:rPr lang="en-US" dirty="0" err="1"/>
              <a:t>Pydantic</a:t>
            </a:r>
            <a:r>
              <a:rPr lang="en-US" dirty="0"/>
              <a:t> </a:t>
            </a:r>
            <a:r>
              <a:rPr lang="en-US" dirty="0" err="1"/>
              <a:t>BaseModel</a:t>
            </a:r>
            <a:r>
              <a:rPr lang="en-US" dirty="0"/>
              <a:t> and then use the Form() annotation or default value for the input parameter in your path operation. This allows FastAPI to extract data from form fields and validate it using the </a:t>
            </a:r>
            <a:r>
              <a:rPr lang="en-US" dirty="0" err="1"/>
              <a:t>Pydantic</a:t>
            </a:r>
            <a:r>
              <a:rPr lang="en-US" dirty="0"/>
              <a:t> model. </a:t>
            </a:r>
          </a:p>
          <a:p>
            <a:r>
              <a:rPr lang="en-US" b="1" dirty="0"/>
              <a:t>Define a </a:t>
            </a:r>
            <a:r>
              <a:rPr lang="en-US" b="1" dirty="0" err="1"/>
              <a:t>Pydantic</a:t>
            </a:r>
            <a:r>
              <a:rPr lang="en-US" b="1" dirty="0"/>
              <a:t> Model</a:t>
            </a:r>
            <a:r>
              <a:rPr lang="en-US" dirty="0"/>
              <a:t>: Create a class that inherits from </a:t>
            </a:r>
            <a:r>
              <a:rPr lang="en-US" dirty="0" err="1"/>
              <a:t>pydantic.BaseModel</a:t>
            </a:r>
            <a:r>
              <a:rPr lang="en-US" dirty="0"/>
              <a:t> to define the structure and validation rules for your form data.</a:t>
            </a:r>
          </a:p>
          <a:p>
            <a:r>
              <a:rPr lang="en-US" b="1" dirty="0"/>
              <a:t>Create a FastAPI Endpoint</a:t>
            </a:r>
            <a:r>
              <a:rPr lang="en-US" dirty="0"/>
              <a:t>: Define a path operation (e.g., @app.post()).</a:t>
            </a:r>
          </a:p>
          <a:p>
            <a:r>
              <a:rPr lang="en-US" b="1" dirty="0"/>
              <a:t>Use the Form annotation</a:t>
            </a:r>
            <a:r>
              <a:rPr lang="en-US" dirty="0"/>
              <a:t>: In the function signature, use your </a:t>
            </a:r>
            <a:r>
              <a:rPr lang="en-US" dirty="0" err="1"/>
              <a:t>Pydantic</a:t>
            </a:r>
            <a:r>
              <a:rPr lang="en-US" dirty="0"/>
              <a:t> model as the type and declare the parameter with Form(). </a:t>
            </a:r>
          </a:p>
          <a:p>
            <a:endParaRPr lang="en-US" dirty="0"/>
          </a:p>
        </p:txBody>
      </p:sp>
    </p:spTree>
    <p:extLst>
      <p:ext uri="{BB962C8B-B14F-4D97-AF65-F5344CB8AC3E}">
        <p14:creationId xmlns:p14="http://schemas.microsoft.com/office/powerpoint/2010/main" val="3917061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6042E-C4F8-08BF-2631-1DC98490441A}"/>
              </a:ext>
            </a:extLst>
          </p:cNvPr>
          <p:cNvSpPr>
            <a:spLocks noGrp="1"/>
          </p:cNvSpPr>
          <p:nvPr>
            <p:ph type="title"/>
          </p:nvPr>
        </p:nvSpPr>
        <p:spPr>
          <a:xfrm>
            <a:off x="677334" y="609600"/>
            <a:ext cx="9635066" cy="1320800"/>
          </a:xfrm>
        </p:spPr>
        <p:txBody>
          <a:bodyPr/>
          <a:lstStyle/>
          <a:p>
            <a:r>
              <a:rPr lang="en-US" dirty="0"/>
              <a:t>Authentication &amp; Authorization with FastAPI</a:t>
            </a:r>
          </a:p>
        </p:txBody>
      </p:sp>
      <p:sp>
        <p:nvSpPr>
          <p:cNvPr id="3" name="Content Placeholder 2">
            <a:extLst>
              <a:ext uri="{FF2B5EF4-FFF2-40B4-BE49-F238E27FC236}">
                <a16:creationId xmlns:a16="http://schemas.microsoft.com/office/drawing/2014/main" id="{03969D23-8CAD-DA38-8017-BA0D0A086FC2}"/>
              </a:ext>
            </a:extLst>
          </p:cNvPr>
          <p:cNvSpPr>
            <a:spLocks noGrp="1"/>
          </p:cNvSpPr>
          <p:nvPr>
            <p:ph idx="1"/>
          </p:nvPr>
        </p:nvSpPr>
        <p:spPr>
          <a:xfrm>
            <a:off x="677333" y="1744133"/>
            <a:ext cx="9872134" cy="4297229"/>
          </a:xfrm>
        </p:spPr>
        <p:txBody>
          <a:bodyPr>
            <a:normAutofit fontScale="92500" lnSpcReduction="10000"/>
          </a:bodyPr>
          <a:lstStyle/>
          <a:p>
            <a:r>
              <a:rPr lang="en-US" dirty="0"/>
              <a:t>FastAPI provides built-in tools and dependencies to streamline </a:t>
            </a:r>
            <a:r>
              <a:rPr lang="en-US" b="1" dirty="0"/>
              <a:t>authentication</a:t>
            </a:r>
            <a:r>
              <a:rPr lang="en-US" dirty="0"/>
              <a:t> (verifying user identity) and </a:t>
            </a:r>
            <a:r>
              <a:rPr lang="en-US" b="1" dirty="0"/>
              <a:t>authorization</a:t>
            </a:r>
            <a:r>
              <a:rPr lang="en-US" dirty="0"/>
              <a:t> (controlling user permissions), primarily using the </a:t>
            </a:r>
            <a:r>
              <a:rPr lang="en-US" b="1" dirty="0"/>
              <a:t>OAuth2</a:t>
            </a:r>
            <a:r>
              <a:rPr lang="en-US" dirty="0"/>
              <a:t> framework and </a:t>
            </a:r>
            <a:r>
              <a:rPr lang="en-US" b="1" dirty="0"/>
              <a:t>JSON Web Tokens (JWTs)</a:t>
            </a:r>
            <a:r>
              <a:rPr lang="en-US" dirty="0"/>
              <a:t>. </a:t>
            </a:r>
          </a:p>
          <a:p>
            <a:endParaRPr lang="en-US" dirty="0"/>
          </a:p>
          <a:p>
            <a:r>
              <a:rPr lang="en-US" b="1" dirty="0"/>
              <a:t>Authentication</a:t>
            </a:r>
            <a:r>
              <a:rPr lang="en-US" dirty="0"/>
              <a:t> is the process of confirming who a user is, typically via a username and password.</a:t>
            </a:r>
          </a:p>
          <a:p>
            <a:r>
              <a:rPr lang="en-US" b="1" dirty="0"/>
              <a:t>Authorization</a:t>
            </a:r>
            <a:r>
              <a:rPr lang="en-US" dirty="0"/>
              <a:t> determines what an authenticated user is permitted to do or access based on their assigned roles or permissions.</a:t>
            </a:r>
          </a:p>
          <a:p>
            <a:r>
              <a:rPr lang="en-US" b="1" dirty="0"/>
              <a:t>OAuth2</a:t>
            </a:r>
            <a:r>
              <a:rPr lang="en-US" dirty="0"/>
              <a:t> is a robust framework that defines different "flows" for handling security. In the context of a single FastAPI application, the </a:t>
            </a:r>
            <a:r>
              <a:rPr lang="en-US" b="1" dirty="0"/>
              <a:t>"password flow"</a:t>
            </a:r>
            <a:r>
              <a:rPr lang="en-US" dirty="0"/>
              <a:t> is commonly used, where the user exchanges credentials for an access token.</a:t>
            </a:r>
          </a:p>
          <a:p>
            <a:r>
              <a:rPr lang="en-US" b="1" dirty="0"/>
              <a:t>JSON Web Tokens (JWTs)</a:t>
            </a:r>
            <a:r>
              <a:rPr lang="en-US" dirty="0"/>
              <a:t> are compact, URL-safe tokens used to transfer claims (like user ID and expiration time) between parties. They are the standard way to handle session data in modern stateless APIs. </a:t>
            </a:r>
          </a:p>
          <a:p>
            <a:endParaRPr lang="en-US" dirty="0"/>
          </a:p>
        </p:txBody>
      </p:sp>
    </p:spTree>
    <p:extLst>
      <p:ext uri="{BB962C8B-B14F-4D97-AF65-F5344CB8AC3E}">
        <p14:creationId xmlns:p14="http://schemas.microsoft.com/office/powerpoint/2010/main" val="1977014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CE68-9409-34C0-C6FE-80F46FC6FE97}"/>
              </a:ext>
            </a:extLst>
          </p:cNvPr>
          <p:cNvSpPr>
            <a:spLocks noGrp="1"/>
          </p:cNvSpPr>
          <p:nvPr>
            <p:ph type="title"/>
          </p:nvPr>
        </p:nvSpPr>
        <p:spPr/>
        <p:txBody>
          <a:bodyPr/>
          <a:lstStyle/>
          <a:p>
            <a:r>
              <a:rPr lang="en-US" dirty="0"/>
              <a:t>Implement Auth Steps</a:t>
            </a:r>
          </a:p>
        </p:txBody>
      </p:sp>
      <p:sp>
        <p:nvSpPr>
          <p:cNvPr id="3" name="Content Placeholder 2">
            <a:extLst>
              <a:ext uri="{FF2B5EF4-FFF2-40B4-BE49-F238E27FC236}">
                <a16:creationId xmlns:a16="http://schemas.microsoft.com/office/drawing/2014/main" id="{F0110060-4FE8-56AE-23D8-0ECC8BCAA518}"/>
              </a:ext>
            </a:extLst>
          </p:cNvPr>
          <p:cNvSpPr>
            <a:spLocks noGrp="1"/>
          </p:cNvSpPr>
          <p:nvPr>
            <p:ph idx="1"/>
          </p:nvPr>
        </p:nvSpPr>
        <p:spPr>
          <a:xfrm>
            <a:off x="677333" y="2160589"/>
            <a:ext cx="9008533" cy="3880773"/>
          </a:xfrm>
        </p:spPr>
        <p:txBody>
          <a:bodyPr/>
          <a:lstStyle/>
          <a:p>
            <a:r>
              <a:rPr lang="en-US" dirty="0"/>
              <a:t>Password hashing </a:t>
            </a:r>
          </a:p>
          <a:p>
            <a:endParaRPr lang="en-US" dirty="0"/>
          </a:p>
          <a:p>
            <a:r>
              <a:rPr lang="en-US" dirty="0"/>
              <a:t>Oauth2PasswordBearer</a:t>
            </a:r>
          </a:p>
          <a:p>
            <a:endParaRPr lang="en-US" dirty="0"/>
          </a:p>
          <a:p>
            <a:r>
              <a:rPr lang="en-US" dirty="0"/>
              <a:t>Creating &amp; Verifying JWT</a:t>
            </a:r>
          </a:p>
          <a:p>
            <a:endParaRPr lang="en-US" dirty="0"/>
          </a:p>
          <a:p>
            <a:r>
              <a:rPr lang="en-US" dirty="0"/>
              <a:t>Securing Routes through Dependencies</a:t>
            </a:r>
          </a:p>
          <a:p>
            <a:endParaRPr lang="en-US" dirty="0"/>
          </a:p>
          <a:p>
            <a:r>
              <a:rPr lang="en-US" dirty="0"/>
              <a:t>Implementing Auth (Role based access control)</a:t>
            </a:r>
          </a:p>
        </p:txBody>
      </p:sp>
    </p:spTree>
    <p:extLst>
      <p:ext uri="{BB962C8B-B14F-4D97-AF65-F5344CB8AC3E}">
        <p14:creationId xmlns:p14="http://schemas.microsoft.com/office/powerpoint/2010/main" val="3981524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7E7B4-33CE-1211-9B63-C642E7495B31}"/>
              </a:ext>
            </a:extLst>
          </p:cNvPr>
          <p:cNvSpPr>
            <a:spLocks noGrp="1"/>
          </p:cNvSpPr>
          <p:nvPr>
            <p:ph type="title"/>
          </p:nvPr>
        </p:nvSpPr>
        <p:spPr>
          <a:xfrm>
            <a:off x="677334" y="609600"/>
            <a:ext cx="8596668" cy="812800"/>
          </a:xfrm>
        </p:spPr>
        <p:txBody>
          <a:bodyPr/>
          <a:lstStyle/>
          <a:p>
            <a:r>
              <a:rPr lang="en-US" dirty="0"/>
              <a:t>Migration of FastAPI Apps to Azure</a:t>
            </a:r>
          </a:p>
        </p:txBody>
      </p:sp>
      <p:sp>
        <p:nvSpPr>
          <p:cNvPr id="5" name="TextBox 4">
            <a:extLst>
              <a:ext uri="{FF2B5EF4-FFF2-40B4-BE49-F238E27FC236}">
                <a16:creationId xmlns:a16="http://schemas.microsoft.com/office/drawing/2014/main" id="{DC42461F-E299-B91F-BEA7-BA32861E20F4}"/>
              </a:ext>
            </a:extLst>
          </p:cNvPr>
          <p:cNvSpPr txBox="1"/>
          <p:nvPr/>
        </p:nvSpPr>
        <p:spPr>
          <a:xfrm>
            <a:off x="677334" y="1422400"/>
            <a:ext cx="10651066" cy="5355312"/>
          </a:xfrm>
          <a:prstGeom prst="rect">
            <a:avLst/>
          </a:prstGeom>
          <a:noFill/>
        </p:spPr>
        <p:txBody>
          <a:bodyPr wrap="square" rtlCol="0">
            <a:spAutoFit/>
          </a:bodyPr>
          <a:lstStyle/>
          <a:p>
            <a:pPr marL="285750" indent="-285750">
              <a:buFont typeface="Arial" panose="020B0604020202020204" pitchFamily="34" charset="0"/>
              <a:buChar char="•"/>
            </a:pPr>
            <a:r>
              <a:rPr lang="en-US" dirty="0"/>
              <a:t> Azure App Service is a fully managed web hosting service that supports Python apps hosted in a Linux server environment.</a:t>
            </a:r>
          </a:p>
          <a:p>
            <a:endParaRPr lang="en-US" dirty="0"/>
          </a:p>
          <a:p>
            <a:pPr marL="285750" indent="-285750">
              <a:buFont typeface="Arial" panose="020B0604020202020204" pitchFamily="34" charset="0"/>
              <a:buChar char="•"/>
            </a:pPr>
            <a:r>
              <a:rPr lang="en-US" b="1" dirty="0"/>
              <a:t>CI/CD</a:t>
            </a:r>
            <a:r>
              <a:rPr lang="en-US" dirty="0"/>
              <a:t>: </a:t>
            </a:r>
            <a:r>
              <a:rPr lang="en-US" dirty="0">
                <a:hlinkClick r:id="rId2">
                  <a:extLst>
                    <a:ext uri="{A12FA001-AC4F-418D-AE19-62706E023703}">
                      <ahyp:hlinkClr xmlns:ahyp="http://schemas.microsoft.com/office/drawing/2018/hyperlinkcolor" val="tx"/>
                    </a:ext>
                  </a:extLst>
                </a:hlinkClick>
              </a:rPr>
              <a:t>Deploy continuously</a:t>
            </a:r>
            <a:r>
              <a:rPr lang="en-US" dirty="0"/>
              <a:t> with GitHub Actions, Azure Pipelines, and more. Deploy predictably through </a:t>
            </a:r>
            <a:r>
              <a:rPr lang="en-US" dirty="0">
                <a:hlinkClick r:id="rId3">
                  <a:extLst>
                    <a:ext uri="{A12FA001-AC4F-418D-AE19-62706E023703}">
                      <ahyp:hlinkClr xmlns:ahyp="http://schemas.microsoft.com/office/drawing/2018/hyperlinkcolor" val="tx"/>
                    </a:ext>
                  </a:extLst>
                </a:hlinkClick>
              </a:rPr>
              <a:t>staging environments</a:t>
            </a:r>
            <a:r>
              <a:rPr lang="en-US" dirty="0"/>
              <a:t>.</a:t>
            </a:r>
          </a:p>
          <a:p>
            <a:endParaRPr lang="en-US" dirty="0"/>
          </a:p>
          <a:p>
            <a:pPr marL="285750" indent="-285750">
              <a:buFont typeface="Arial" panose="020B0604020202020204" pitchFamily="34" charset="0"/>
              <a:buChar char="•"/>
            </a:pPr>
            <a:r>
              <a:rPr lang="en-US" b="1" dirty="0"/>
              <a:t>High-density hosting savings</a:t>
            </a:r>
            <a:r>
              <a:rPr lang="en-US" dirty="0"/>
              <a:t>: Run more applications on fewer VMs with the memory-optimized </a:t>
            </a:r>
            <a:r>
              <a:rPr lang="en-US" dirty="0">
                <a:hlinkClick r:id="rId4">
                  <a:extLst>
                    <a:ext uri="{A12FA001-AC4F-418D-AE19-62706E023703}">
                      <ahyp:hlinkClr xmlns:ahyp="http://schemas.microsoft.com/office/drawing/2018/hyperlinkcolor" val="tx"/>
                    </a:ext>
                  </a:extLst>
                </a:hlinkClick>
              </a:rPr>
              <a:t>P*mv3 </a:t>
            </a:r>
            <a:r>
              <a:rPr lang="en-US" dirty="0"/>
              <a:t>tiers and save up to 55% on predictable workloads with </a:t>
            </a:r>
            <a:r>
              <a:rPr lang="en-US" dirty="0">
                <a:hlinkClick r:id="rId5">
                  <a:extLst>
                    <a:ext uri="{A12FA001-AC4F-418D-AE19-62706E023703}">
                      <ahyp:hlinkClr xmlns:ahyp="http://schemas.microsoft.com/office/drawing/2018/hyperlinkcolor" val="tx"/>
                    </a:ext>
                  </a:extLst>
                </a:hlinkClick>
              </a:rPr>
              <a:t>Azure savings plans</a:t>
            </a:r>
            <a:r>
              <a:rPr lang="en-US" dirty="0"/>
              <a:t> and </a:t>
            </a:r>
            <a:r>
              <a:rPr lang="en-US" dirty="0">
                <a:hlinkClick r:id="rId6">
                  <a:extLst>
                    <a:ext uri="{A12FA001-AC4F-418D-AE19-62706E023703}">
                      <ahyp:hlinkClr xmlns:ahyp="http://schemas.microsoft.com/office/drawing/2018/hyperlinkcolor" val="tx"/>
                    </a:ext>
                  </a:extLst>
                </a:hlinkClick>
              </a:rPr>
              <a:t>reserved instances</a:t>
            </a:r>
            <a:r>
              <a:rPr lang="en-US" dirty="0"/>
              <a:t>.</a:t>
            </a:r>
          </a:p>
          <a:p>
            <a:endParaRPr lang="en-US" dirty="0"/>
          </a:p>
          <a:p>
            <a:pPr marL="285750" indent="-285750">
              <a:buFont typeface="Arial" panose="020B0604020202020204" pitchFamily="34" charset="0"/>
              <a:buChar char="•"/>
            </a:pPr>
            <a:r>
              <a:rPr lang="en-US" b="1" dirty="0"/>
              <a:t>Full isolation</a:t>
            </a:r>
            <a:r>
              <a:rPr lang="en-US" dirty="0"/>
              <a:t>: Secure ingress and egress with </a:t>
            </a:r>
            <a:r>
              <a:rPr lang="en-US" dirty="0">
                <a:hlinkClick r:id="rId7">
                  <a:extLst>
                    <a:ext uri="{A12FA001-AC4F-418D-AE19-62706E023703}">
                      <ahyp:hlinkClr xmlns:ahyp="http://schemas.microsoft.com/office/drawing/2018/hyperlinkcolor" val="tx"/>
                    </a:ext>
                  </a:extLst>
                </a:hlinkClick>
              </a:rPr>
              <a:t>Azure Virtual Network integration</a:t>
            </a:r>
            <a:r>
              <a:rPr lang="en-US" dirty="0"/>
              <a:t>, or run fully isolated applications with </a:t>
            </a:r>
            <a:r>
              <a:rPr lang="en-US" dirty="0">
                <a:hlinkClick r:id="rId8">
                  <a:extLst>
                    <a:ext uri="{A12FA001-AC4F-418D-AE19-62706E023703}">
                      <ahyp:hlinkClr xmlns:ahyp="http://schemas.microsoft.com/office/drawing/2018/hyperlinkcolor" val="tx"/>
                    </a:ext>
                  </a:extLst>
                </a:hlinkClick>
              </a:rPr>
              <a:t>App Service environments</a:t>
            </a:r>
            <a:r>
              <a:rPr lang="en-US" dirty="0"/>
              <a:t>, using dedicated networking and VMs.</a:t>
            </a:r>
          </a:p>
          <a:p>
            <a:pPr marL="285750" indent="-285750">
              <a:buFont typeface="Arial" panose="020B0604020202020204" pitchFamily="34" charset="0"/>
              <a:buChar char="•"/>
            </a:pPr>
            <a:r>
              <a:rPr lang="en-US" b="1" dirty="0"/>
              <a:t>Line-of-business: </a:t>
            </a:r>
            <a:r>
              <a:rPr lang="en-US" dirty="0"/>
              <a:t>Develop business applications easily with built-in authentication, Microsoft Graph, and </a:t>
            </a:r>
            <a:r>
              <a:rPr lang="en-US" dirty="0">
                <a:hlinkClick r:id="rId9">
                  <a:extLst>
                    <a:ext uri="{A12FA001-AC4F-418D-AE19-62706E023703}">
                      <ahyp:hlinkClr xmlns:ahyp="http://schemas.microsoft.com/office/drawing/2018/hyperlinkcolor" val="tx"/>
                    </a:ext>
                  </a:extLst>
                </a:hlinkClick>
              </a:rPr>
              <a:t>connectors</a:t>
            </a:r>
            <a:r>
              <a:rPr lang="en-US" dirty="0"/>
              <a:t> to your line-of-business applications.</a:t>
            </a:r>
          </a:p>
          <a:p>
            <a:endParaRPr lang="en-US" dirty="0"/>
          </a:p>
          <a:p>
            <a:pPr marL="285750" indent="-285750">
              <a:buFont typeface="Arial" panose="020B0604020202020204" pitchFamily="34" charset="0"/>
              <a:buChar char="•"/>
            </a:pPr>
            <a:r>
              <a:rPr lang="en-US" b="1" dirty="0"/>
              <a:t>Reliability</a:t>
            </a:r>
            <a:r>
              <a:rPr lang="en-US" dirty="0"/>
              <a:t>: Robust </a:t>
            </a:r>
            <a:r>
              <a:rPr lang="en-US" dirty="0">
                <a:hlinkClick r:id="rId10">
                  <a:extLst>
                    <a:ext uri="{A12FA001-AC4F-418D-AE19-62706E023703}">
                      <ahyp:hlinkClr xmlns:ahyp="http://schemas.microsoft.com/office/drawing/2018/hyperlinkcolor" val="tx"/>
                    </a:ext>
                  </a:extLst>
                </a:hlinkClick>
              </a:rPr>
              <a:t>SLA</a:t>
            </a:r>
            <a:r>
              <a:rPr lang="en-US" dirty="0"/>
              <a:t> and zone redundancy features help disaster-proof your application.</a:t>
            </a:r>
          </a:p>
          <a:p>
            <a:pPr marL="285750" indent="-285750">
              <a:buFont typeface="Arial" panose="020B0604020202020204" pitchFamily="34" charset="0"/>
              <a:buChar char="•"/>
            </a:pPr>
            <a:r>
              <a:rPr lang="en-US" dirty="0"/>
              <a:t>Security and compliance: </a:t>
            </a:r>
            <a:r>
              <a:rPr lang="en-US" dirty="0">
                <a:hlinkClick r:id="rId11">
                  <a:extLst>
                    <a:ext uri="{A12FA001-AC4F-418D-AE19-62706E023703}">
                      <ahyp:hlinkClr xmlns:ahyp="http://schemas.microsoft.com/office/drawing/2018/hyperlinkcolor" val="tx"/>
                    </a:ext>
                  </a:extLst>
                </a:hlinkClick>
              </a:rPr>
              <a:t>ISO, SOC, and PCI compliance</a:t>
            </a:r>
            <a:r>
              <a:rPr lang="en-US" dirty="0"/>
              <a:t> meet the strictest requirements of large enterprises.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39450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BAD45-63D0-F8D7-D78F-E12A7E0B0346}"/>
              </a:ext>
            </a:extLst>
          </p:cNvPr>
          <p:cNvSpPr>
            <a:spLocks noGrp="1"/>
          </p:cNvSpPr>
          <p:nvPr>
            <p:ph type="title"/>
          </p:nvPr>
        </p:nvSpPr>
        <p:spPr/>
        <p:txBody>
          <a:bodyPr/>
          <a:lstStyle/>
          <a:p>
            <a:r>
              <a:rPr lang="en-US" dirty="0"/>
              <a:t>Azure App Service Scaling out Options</a:t>
            </a:r>
          </a:p>
        </p:txBody>
      </p:sp>
      <p:pic>
        <p:nvPicPr>
          <p:cNvPr id="5" name="Content Placeholder 4">
            <a:extLst>
              <a:ext uri="{FF2B5EF4-FFF2-40B4-BE49-F238E27FC236}">
                <a16:creationId xmlns:a16="http://schemas.microsoft.com/office/drawing/2014/main" id="{EDA59C4F-5297-64DD-9374-C3E848CAEC56}"/>
              </a:ext>
            </a:extLst>
          </p:cNvPr>
          <p:cNvPicPr>
            <a:picLocks noGrp="1" noChangeAspect="1"/>
          </p:cNvPicPr>
          <p:nvPr>
            <p:ph idx="1"/>
          </p:nvPr>
        </p:nvPicPr>
        <p:blipFill>
          <a:blip r:embed="rId2"/>
          <a:stretch>
            <a:fillRect/>
          </a:stretch>
        </p:blipFill>
        <p:spPr>
          <a:xfrm>
            <a:off x="1268147" y="2378340"/>
            <a:ext cx="9485787" cy="35144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81765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8AE5D-0941-83B2-01AF-CCA9B91BA5B4}"/>
              </a:ext>
            </a:extLst>
          </p:cNvPr>
          <p:cNvSpPr>
            <a:spLocks noGrp="1"/>
          </p:cNvSpPr>
          <p:nvPr>
            <p:ph type="title"/>
          </p:nvPr>
        </p:nvSpPr>
        <p:spPr/>
        <p:txBody>
          <a:bodyPr/>
          <a:lstStyle/>
          <a:p>
            <a:r>
              <a:rPr lang="en-US" dirty="0"/>
              <a:t>Deployment of FastAPI App with Azure</a:t>
            </a:r>
          </a:p>
        </p:txBody>
      </p:sp>
      <p:sp>
        <p:nvSpPr>
          <p:cNvPr id="3" name="Content Placeholder 2">
            <a:extLst>
              <a:ext uri="{FF2B5EF4-FFF2-40B4-BE49-F238E27FC236}">
                <a16:creationId xmlns:a16="http://schemas.microsoft.com/office/drawing/2014/main" id="{E18EA537-2F47-2349-43D5-5220731FD321}"/>
              </a:ext>
            </a:extLst>
          </p:cNvPr>
          <p:cNvSpPr>
            <a:spLocks noGrp="1"/>
          </p:cNvSpPr>
          <p:nvPr>
            <p:ph idx="1"/>
          </p:nvPr>
        </p:nvSpPr>
        <p:spPr>
          <a:xfrm>
            <a:off x="677333" y="2160589"/>
            <a:ext cx="9922933" cy="4087811"/>
          </a:xfrm>
        </p:spPr>
        <p:txBody>
          <a:bodyPr/>
          <a:lstStyle/>
          <a:p>
            <a:r>
              <a:rPr lang="en-US" dirty="0"/>
              <a:t>Pre-requisites </a:t>
            </a:r>
          </a:p>
          <a:p>
            <a:r>
              <a:rPr lang="en-US" dirty="0"/>
              <a:t>Python 3.10+ </a:t>
            </a:r>
          </a:p>
          <a:p>
            <a:r>
              <a:rPr lang="en-US" dirty="0"/>
              <a:t>Azure Account </a:t>
            </a:r>
          </a:p>
          <a:p>
            <a:r>
              <a:rPr lang="en-US" dirty="0"/>
              <a:t>Configure a custom </a:t>
            </a:r>
            <a:r>
              <a:rPr lang="en-US" b="1" dirty="0"/>
              <a:t>startup command</a:t>
            </a:r>
            <a:r>
              <a:rPr lang="en-US" dirty="0"/>
              <a:t> that uses </a:t>
            </a:r>
            <a:r>
              <a:rPr lang="en-US" dirty="0" err="1"/>
              <a:t>Gunicorn</a:t>
            </a:r>
            <a:r>
              <a:rPr lang="en-US" dirty="0"/>
              <a:t> to run the asynchronous </a:t>
            </a:r>
            <a:r>
              <a:rPr lang="en-US" dirty="0" err="1"/>
              <a:t>Uvicorn</a:t>
            </a:r>
            <a:r>
              <a:rPr lang="en-US" dirty="0"/>
              <a:t> server, along with ensuring your dependencies are specified correctly.</a:t>
            </a:r>
          </a:p>
          <a:p>
            <a:pPr marL="0" indent="0">
              <a:buNone/>
            </a:pPr>
            <a:endParaRPr lang="en-US" dirty="0"/>
          </a:p>
          <a:p>
            <a:r>
              <a:rPr lang="en-US" dirty="0"/>
              <a:t> Deployment can be done using the Azure CLI, Visual Studio Code extensions, or GitHub Actions. </a:t>
            </a:r>
          </a:p>
        </p:txBody>
      </p:sp>
    </p:spTree>
    <p:extLst>
      <p:ext uri="{BB962C8B-B14F-4D97-AF65-F5344CB8AC3E}">
        <p14:creationId xmlns:p14="http://schemas.microsoft.com/office/powerpoint/2010/main" val="2090334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0D294-D123-D30A-0356-9D25D83CA2FB}"/>
              </a:ext>
            </a:extLst>
          </p:cNvPr>
          <p:cNvSpPr>
            <a:spLocks noGrp="1"/>
          </p:cNvSpPr>
          <p:nvPr>
            <p:ph type="title"/>
          </p:nvPr>
        </p:nvSpPr>
        <p:spPr/>
        <p:txBody>
          <a:bodyPr/>
          <a:lstStyle/>
          <a:p>
            <a:r>
              <a:rPr lang="en-US" dirty="0"/>
              <a:t>Background Tasks </a:t>
            </a:r>
            <a:r>
              <a:rPr lang="en-US" dirty="0" err="1"/>
              <a:t>Mgmt</a:t>
            </a:r>
            <a:r>
              <a:rPr lang="en-US" dirty="0"/>
              <a:t> in FastAPI</a:t>
            </a:r>
          </a:p>
        </p:txBody>
      </p:sp>
      <p:sp>
        <p:nvSpPr>
          <p:cNvPr id="3" name="Content Placeholder 2">
            <a:extLst>
              <a:ext uri="{FF2B5EF4-FFF2-40B4-BE49-F238E27FC236}">
                <a16:creationId xmlns:a16="http://schemas.microsoft.com/office/drawing/2014/main" id="{2D0DF8AA-6013-8919-8883-FCBBA3DF9862}"/>
              </a:ext>
            </a:extLst>
          </p:cNvPr>
          <p:cNvSpPr>
            <a:spLocks noGrp="1"/>
          </p:cNvSpPr>
          <p:nvPr>
            <p:ph idx="1"/>
          </p:nvPr>
        </p:nvSpPr>
        <p:spPr/>
        <p:txBody>
          <a:bodyPr>
            <a:normAutofit fontScale="92500"/>
          </a:bodyPr>
          <a:lstStyle/>
          <a:p>
            <a:r>
              <a:rPr lang="en-US" dirty="0"/>
              <a:t>You can define background tasks to be run </a:t>
            </a:r>
            <a:r>
              <a:rPr lang="en-US" i="1" dirty="0"/>
              <a:t>after</a:t>
            </a:r>
            <a:r>
              <a:rPr lang="en-US" dirty="0"/>
              <a:t> returning a response.</a:t>
            </a:r>
          </a:p>
          <a:p>
            <a:r>
              <a:rPr lang="en-US" dirty="0"/>
              <a:t>This is useful for operations that need to happen after a request, but that the client doesn't really have to be waiting for the operation to complete before receiving the response.</a:t>
            </a:r>
          </a:p>
          <a:p>
            <a:r>
              <a:rPr lang="en-US" dirty="0"/>
              <a:t>This includes, for example:</a:t>
            </a:r>
          </a:p>
          <a:p>
            <a:r>
              <a:rPr lang="en-US" dirty="0"/>
              <a:t>Email notifications sent after performing an action:</a:t>
            </a:r>
          </a:p>
          <a:p>
            <a:pPr lvl="1"/>
            <a:r>
              <a:rPr lang="en-US" dirty="0"/>
              <a:t>As connecting to an email server and sending an email tends to be "slow" (several seconds), you can return the response right away and send the email notification in the background.</a:t>
            </a:r>
          </a:p>
          <a:p>
            <a:r>
              <a:rPr lang="en-US" dirty="0"/>
              <a:t>Processing data:</a:t>
            </a:r>
          </a:p>
          <a:p>
            <a:pPr lvl="1"/>
            <a:r>
              <a:rPr lang="en-US" dirty="0"/>
              <a:t>For example, let's say you receive a file that must go through a slow process, you can return a response of "Accepted" (HTTP 202) and process the file in the background.</a:t>
            </a:r>
          </a:p>
          <a:p>
            <a:endParaRPr lang="en-US" dirty="0"/>
          </a:p>
        </p:txBody>
      </p:sp>
    </p:spTree>
    <p:extLst>
      <p:ext uri="{BB962C8B-B14F-4D97-AF65-F5344CB8AC3E}">
        <p14:creationId xmlns:p14="http://schemas.microsoft.com/office/powerpoint/2010/main" val="481736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230F9-95DE-D1D1-D771-BCAC08146AF5}"/>
              </a:ext>
            </a:extLst>
          </p:cNvPr>
          <p:cNvSpPr>
            <a:spLocks noGrp="1"/>
          </p:cNvSpPr>
          <p:nvPr>
            <p:ph type="title"/>
          </p:nvPr>
        </p:nvSpPr>
        <p:spPr/>
        <p:txBody>
          <a:bodyPr/>
          <a:lstStyle/>
          <a:p>
            <a:r>
              <a:rPr lang="en-US" dirty="0"/>
              <a:t>Create a Task function </a:t>
            </a:r>
          </a:p>
        </p:txBody>
      </p:sp>
      <p:sp>
        <p:nvSpPr>
          <p:cNvPr id="3" name="Content Placeholder 2">
            <a:extLst>
              <a:ext uri="{FF2B5EF4-FFF2-40B4-BE49-F238E27FC236}">
                <a16:creationId xmlns:a16="http://schemas.microsoft.com/office/drawing/2014/main" id="{96FD8F17-8303-6373-9726-9D8F10115E7D}"/>
              </a:ext>
            </a:extLst>
          </p:cNvPr>
          <p:cNvSpPr>
            <a:spLocks noGrp="1"/>
          </p:cNvSpPr>
          <p:nvPr>
            <p:ph idx="1"/>
          </p:nvPr>
        </p:nvSpPr>
        <p:spPr/>
        <p:txBody>
          <a:bodyPr/>
          <a:lstStyle/>
          <a:p>
            <a:r>
              <a:rPr lang="en-US" dirty="0"/>
              <a:t>Create a function to be run as the background task.</a:t>
            </a:r>
          </a:p>
          <a:p>
            <a:r>
              <a:rPr lang="en-US" dirty="0"/>
              <a:t>It is just a standard function that can receive parameters.</a:t>
            </a:r>
          </a:p>
          <a:p>
            <a:r>
              <a:rPr lang="en-US" dirty="0"/>
              <a:t>It can be an async def or normal def function, </a:t>
            </a:r>
            <a:r>
              <a:rPr lang="en-US" b="1" dirty="0"/>
              <a:t>FastAPI</a:t>
            </a:r>
            <a:r>
              <a:rPr lang="en-US" dirty="0"/>
              <a:t> will know how to handle it correctly.</a:t>
            </a:r>
          </a:p>
          <a:p>
            <a:r>
              <a:rPr lang="en-US" dirty="0"/>
              <a:t>Inside of your </a:t>
            </a:r>
            <a:r>
              <a:rPr lang="en-US" i="1" dirty="0"/>
              <a:t>path operation function</a:t>
            </a:r>
            <a:r>
              <a:rPr lang="en-US" dirty="0"/>
              <a:t>, pass your task function to the </a:t>
            </a:r>
            <a:r>
              <a:rPr lang="en-US" i="1" dirty="0"/>
              <a:t>background tasks</a:t>
            </a:r>
            <a:r>
              <a:rPr lang="en-US" dirty="0"/>
              <a:t> object with the method .</a:t>
            </a:r>
            <a:r>
              <a:rPr lang="en-US" dirty="0" err="1"/>
              <a:t>add_task</a:t>
            </a:r>
            <a:r>
              <a:rPr lang="en-US" dirty="0"/>
              <a:t>():</a:t>
            </a:r>
          </a:p>
        </p:txBody>
      </p:sp>
    </p:spTree>
    <p:extLst>
      <p:ext uri="{BB962C8B-B14F-4D97-AF65-F5344CB8AC3E}">
        <p14:creationId xmlns:p14="http://schemas.microsoft.com/office/powerpoint/2010/main" val="3681589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148847-CC2F-95E7-48C0-CAC990A549A2}"/>
              </a:ext>
            </a:extLst>
          </p:cNvPr>
          <p:cNvSpPr>
            <a:spLocks noGrp="1"/>
          </p:cNvSpPr>
          <p:nvPr>
            <p:ph type="title"/>
          </p:nvPr>
        </p:nvSpPr>
        <p:spPr/>
        <p:txBody>
          <a:bodyPr/>
          <a:lstStyle/>
          <a:p>
            <a:r>
              <a:rPr lang="en-US" dirty="0"/>
              <a:t>Overview of Alembic</a:t>
            </a:r>
          </a:p>
        </p:txBody>
      </p:sp>
      <p:sp>
        <p:nvSpPr>
          <p:cNvPr id="5" name="Content Placeholder 4">
            <a:extLst>
              <a:ext uri="{FF2B5EF4-FFF2-40B4-BE49-F238E27FC236}">
                <a16:creationId xmlns:a16="http://schemas.microsoft.com/office/drawing/2014/main" id="{0CA17889-A9F4-5B15-8846-E72483C5F312}"/>
              </a:ext>
            </a:extLst>
          </p:cNvPr>
          <p:cNvSpPr>
            <a:spLocks noGrp="1"/>
          </p:cNvSpPr>
          <p:nvPr>
            <p:ph sz="half" idx="1"/>
          </p:nvPr>
        </p:nvSpPr>
        <p:spPr>
          <a:xfrm>
            <a:off x="677334" y="2160589"/>
            <a:ext cx="8771466" cy="3880772"/>
          </a:xfrm>
        </p:spPr>
        <p:txBody>
          <a:bodyPr/>
          <a:lstStyle/>
          <a:p>
            <a:r>
              <a:rPr lang="en-US" dirty="0"/>
              <a:t>Alembic provides for the creation, management, and invocation of </a:t>
            </a:r>
            <a:r>
              <a:rPr lang="en-US" i="1" dirty="0"/>
              <a:t>change management</a:t>
            </a:r>
            <a:r>
              <a:rPr lang="en-US" dirty="0"/>
              <a:t> scripts for a relational database, using SQLAlchemy as the underlying engine.</a:t>
            </a:r>
          </a:p>
          <a:p>
            <a:pPr marL="0" indent="0">
              <a:buNone/>
            </a:pPr>
            <a:endParaRPr lang="en-US" dirty="0"/>
          </a:p>
          <a:p>
            <a:r>
              <a:rPr lang="en-US" dirty="0"/>
              <a:t>Usage of Alembic starts with creation of the </a:t>
            </a:r>
            <a:r>
              <a:rPr lang="en-US" i="1" dirty="0"/>
              <a:t>Migration Environment</a:t>
            </a:r>
            <a:r>
              <a:rPr lang="en-US" dirty="0"/>
              <a:t>. This is a directory of scripts that is specific to a particular application. </a:t>
            </a:r>
          </a:p>
          <a:p>
            <a:endParaRPr lang="en-US" dirty="0"/>
          </a:p>
          <a:p>
            <a:r>
              <a:rPr lang="en-US" dirty="0"/>
              <a:t>The migration environment is created just once and is then maintained along with the application’s source code itself. The environment is created using the </a:t>
            </a:r>
            <a:r>
              <a:rPr lang="en-US" b="1" dirty="0" err="1"/>
              <a:t>init</a:t>
            </a:r>
            <a:r>
              <a:rPr lang="en-US" b="1" dirty="0"/>
              <a:t> </a:t>
            </a:r>
            <a:r>
              <a:rPr lang="en-US" dirty="0"/>
              <a:t>command of Alembic and is then customizable to suit the specific needs of the application.</a:t>
            </a:r>
          </a:p>
        </p:txBody>
      </p:sp>
    </p:spTree>
    <p:extLst>
      <p:ext uri="{BB962C8B-B14F-4D97-AF65-F5344CB8AC3E}">
        <p14:creationId xmlns:p14="http://schemas.microsoft.com/office/powerpoint/2010/main" val="1893952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2FD47-CAE6-C096-D8D3-EB919B13F2CB}"/>
              </a:ext>
            </a:extLst>
          </p:cNvPr>
          <p:cNvSpPr>
            <a:spLocks noGrp="1"/>
          </p:cNvSpPr>
          <p:nvPr>
            <p:ph type="title"/>
          </p:nvPr>
        </p:nvSpPr>
        <p:spPr/>
        <p:txBody>
          <a:bodyPr/>
          <a:lstStyle/>
          <a:p>
            <a:r>
              <a:rPr lang="en-US" dirty="0"/>
              <a:t>Alembic Benefits</a:t>
            </a:r>
          </a:p>
        </p:txBody>
      </p:sp>
      <p:sp>
        <p:nvSpPr>
          <p:cNvPr id="3" name="Content Placeholder 2">
            <a:extLst>
              <a:ext uri="{FF2B5EF4-FFF2-40B4-BE49-F238E27FC236}">
                <a16:creationId xmlns:a16="http://schemas.microsoft.com/office/drawing/2014/main" id="{A1F87560-C935-8368-2D2D-9782F3FA8385}"/>
              </a:ext>
            </a:extLst>
          </p:cNvPr>
          <p:cNvSpPr>
            <a:spLocks noGrp="1"/>
          </p:cNvSpPr>
          <p:nvPr>
            <p:ph sz="half" idx="1"/>
          </p:nvPr>
        </p:nvSpPr>
        <p:spPr>
          <a:xfrm>
            <a:off x="677334" y="1524000"/>
            <a:ext cx="10143066" cy="4517361"/>
          </a:xfrm>
        </p:spPr>
        <p:txBody>
          <a:bodyPr>
            <a:normAutofit fontScale="70000" lnSpcReduction="20000"/>
          </a:bodyPr>
          <a:lstStyle/>
          <a:p>
            <a:r>
              <a:rPr lang="en-US" sz="2100" b="1" dirty="0"/>
              <a:t>Version Control for Your Database</a:t>
            </a:r>
            <a:r>
              <a:rPr lang="en-US" sz="2100" dirty="0"/>
              <a:t>: Alembic acts like "Git for your database schema," allowing you to track every change (e.g., adding a table, renaming a column) as an explicit, versioned step in a migration script. This provides a clear, auditable history of modifications.</a:t>
            </a:r>
          </a:p>
          <a:p>
            <a:r>
              <a:rPr lang="en-US" sz="2100" b="1" dirty="0"/>
              <a:t>Consistency Across Environments</a:t>
            </a:r>
            <a:r>
              <a:rPr lang="en-US" sz="2100" dirty="0"/>
              <a:t>: It ensures that every developer, testing environment, and the production database uses the exact same schema evolution process. This eliminates "schema drift" and prevents issues caused by manual errors during deployment.</a:t>
            </a:r>
          </a:p>
          <a:p>
            <a:r>
              <a:rPr lang="en-US" sz="2100" b="1" dirty="0"/>
              <a:t>Safe Upgrades and Downgrades (Rollbacks): </a:t>
            </a:r>
            <a:r>
              <a:rPr lang="en-US" sz="2100" dirty="0"/>
              <a:t>Each migration script contains instructions for both applying the changes (upgrade) and reversing them (downgrade). This provides a crucial safety net, allowing you to revert to a previous, stable state if a new release encounters problems.</a:t>
            </a:r>
          </a:p>
          <a:p>
            <a:r>
              <a:rPr lang="en-US" sz="2100" b="1" dirty="0"/>
              <a:t>Streamlined Collaboration: E</a:t>
            </a:r>
            <a:r>
              <a:rPr lang="en-US" sz="2100" dirty="0"/>
              <a:t>ach developer's schema changes are captured in migration files that are checked into the source code repository. Team members can easily pull the latest changes and run a single command to sync their local databases.</a:t>
            </a:r>
          </a:p>
          <a:p>
            <a:r>
              <a:rPr lang="en-US" sz="2100" dirty="0"/>
              <a:t>Automation and CI/CD Integration: </a:t>
            </a:r>
            <a:r>
              <a:rPr lang="en-US" sz="2000" dirty="0"/>
              <a:t>Migrations can be easily integrated into Continuous Integration/Continuous Deployment (CI/CD) pipelines, automating the process of applying database changes during deployment. This makes releases more reliable and predictable.</a:t>
            </a:r>
          </a:p>
          <a:p>
            <a:r>
              <a:rPr lang="en-US" sz="2100" dirty="0"/>
              <a:t>Pythonic API and SQLAlchemy Integration: Migration scripts are written in Python, allowing developers to leverage the full power and readability of Python code. It works hand-in-hand with </a:t>
            </a:r>
            <a:r>
              <a:rPr lang="en-US" sz="2100" b="1" dirty="0">
                <a:hlinkClick r:id="rId2">
                  <a:extLst>
                    <a:ext uri="{A12FA001-AC4F-418D-AE19-62706E023703}">
                      <ahyp:hlinkClr xmlns:ahyp="http://schemas.microsoft.com/office/drawing/2018/hyperlinkcolor" val="tx"/>
                    </a:ext>
                  </a:extLst>
                </a:hlinkClick>
              </a:rPr>
              <a:t>SQLAlchemy</a:t>
            </a:r>
            <a:r>
              <a:rPr lang="en-US" sz="2100" dirty="0"/>
              <a:t>, the most popular Python ORM, and can automatically generate draft migration scripts based on model definitions.</a:t>
            </a:r>
          </a:p>
          <a:p>
            <a:r>
              <a:rPr lang="en-US" sz="2100" dirty="0"/>
              <a:t>Database Agnostic: Alembic supports all major databases that SQLAlchemy works with, including PostgreSQL, MySQL, and SQLite, making it a versatile choice for diverse projects. </a:t>
            </a:r>
          </a:p>
          <a:p>
            <a:endParaRPr lang="en-US" dirty="0"/>
          </a:p>
        </p:txBody>
      </p:sp>
    </p:spTree>
    <p:extLst>
      <p:ext uri="{BB962C8B-B14F-4D97-AF65-F5344CB8AC3E}">
        <p14:creationId xmlns:p14="http://schemas.microsoft.com/office/powerpoint/2010/main" val="459849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1" name="Rectangle 20">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 name="Straight Connector 23">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E75FBFB4-B885-D5A7-67F3-033797202AF5}"/>
              </a:ext>
            </a:extLst>
          </p:cNvPr>
          <p:cNvSpPr>
            <a:spLocks noGrp="1"/>
          </p:cNvSpPr>
          <p:nvPr>
            <p:ph type="title"/>
          </p:nvPr>
        </p:nvSpPr>
        <p:spPr>
          <a:xfrm>
            <a:off x="677333" y="609600"/>
            <a:ext cx="10634133" cy="1320800"/>
          </a:xfrm>
        </p:spPr>
        <p:txBody>
          <a:bodyPr vert="horz" lIns="91440" tIns="45720" rIns="91440" bIns="45720" rtlCol="0" anchor="t">
            <a:normAutofit/>
          </a:bodyPr>
          <a:lstStyle/>
          <a:p>
            <a:r>
              <a:rPr lang="en-US" dirty="0"/>
              <a:t>Directory Structure</a:t>
            </a:r>
          </a:p>
        </p:txBody>
      </p:sp>
      <p:pic>
        <p:nvPicPr>
          <p:cNvPr id="8" name="Picture 7">
            <a:extLst>
              <a:ext uri="{FF2B5EF4-FFF2-40B4-BE49-F238E27FC236}">
                <a16:creationId xmlns:a16="http://schemas.microsoft.com/office/drawing/2014/main" id="{0F02853E-0E5F-AEC1-CEF3-0B0142C1960C}"/>
              </a:ext>
            </a:extLst>
          </p:cNvPr>
          <p:cNvPicPr>
            <a:picLocks noChangeAspect="1"/>
          </p:cNvPicPr>
          <p:nvPr/>
        </p:nvPicPr>
        <p:blipFill>
          <a:blip r:embed="rId2"/>
          <a:stretch>
            <a:fillRect/>
          </a:stretch>
        </p:blipFill>
        <p:spPr>
          <a:xfrm>
            <a:off x="1036027" y="2359024"/>
            <a:ext cx="5801945" cy="3076576"/>
          </a:xfrm>
          <a:prstGeom prst="rect">
            <a:avLst/>
          </a:prstGeom>
        </p:spPr>
      </p:pic>
      <p:sp>
        <p:nvSpPr>
          <p:cNvPr id="35" name="TextBox 34">
            <a:extLst>
              <a:ext uri="{FF2B5EF4-FFF2-40B4-BE49-F238E27FC236}">
                <a16:creationId xmlns:a16="http://schemas.microsoft.com/office/drawing/2014/main" id="{24900FBD-F0F3-EAA7-C861-0AC67E06EA4F}"/>
              </a:ext>
            </a:extLst>
          </p:cNvPr>
          <p:cNvSpPr txBox="1"/>
          <p:nvPr/>
        </p:nvSpPr>
        <p:spPr>
          <a:xfrm>
            <a:off x="7586133" y="1270000"/>
            <a:ext cx="4165600" cy="5078313"/>
          </a:xfrm>
          <a:prstGeom prst="rect">
            <a:avLst/>
          </a:prstGeom>
          <a:noFill/>
        </p:spPr>
        <p:txBody>
          <a:bodyPr wrap="square" rtlCol="0">
            <a:spAutoFit/>
          </a:bodyPr>
          <a:lstStyle/>
          <a:p>
            <a:pPr marL="285750" indent="-285750">
              <a:buFont typeface="Arial" panose="020B0604020202020204" pitchFamily="34" charset="0"/>
              <a:buChar char="•"/>
            </a:pPr>
            <a:r>
              <a:rPr lang="en-US" dirty="0"/>
              <a:t>Alembic.ini -&gt; This is Alembic’s main configuration file which is generated by all templates.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Pyproject.toml</a:t>
            </a:r>
            <a:r>
              <a:rPr lang="en-US" dirty="0"/>
              <a:t> – Alembic may store optionally project related configuration.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Yourproject</a:t>
            </a:r>
            <a:r>
              <a:rPr lang="en-US" dirty="0"/>
              <a:t> – root of the application.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Alembic – The directory lives within the application source tree and source of migration.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env.py – part of generated environment so that the migration runs are entirely customizable.    </a:t>
            </a:r>
          </a:p>
        </p:txBody>
      </p:sp>
    </p:spTree>
    <p:extLst>
      <p:ext uri="{BB962C8B-B14F-4D97-AF65-F5344CB8AC3E}">
        <p14:creationId xmlns:p14="http://schemas.microsoft.com/office/powerpoint/2010/main" val="1564788362"/>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F66557-E426-2E4D-B4E0-0F6385CB63C5}"/>
              </a:ext>
            </a:extLst>
          </p:cNvPr>
          <p:cNvSpPr>
            <a:spLocks noGrp="1"/>
          </p:cNvSpPr>
          <p:nvPr>
            <p:ph type="title"/>
          </p:nvPr>
        </p:nvSpPr>
        <p:spPr>
          <a:xfrm>
            <a:off x="677334" y="626534"/>
            <a:ext cx="8596668" cy="1320800"/>
          </a:xfrm>
        </p:spPr>
        <p:txBody>
          <a:bodyPr/>
          <a:lstStyle/>
          <a:p>
            <a:r>
              <a:rPr lang="en-US" dirty="0"/>
              <a:t>Alembic .</a:t>
            </a:r>
            <a:r>
              <a:rPr lang="en-US" dirty="0" err="1"/>
              <a:t>ini</a:t>
            </a:r>
            <a:r>
              <a:rPr lang="en-US" dirty="0"/>
              <a:t> file</a:t>
            </a:r>
          </a:p>
        </p:txBody>
      </p:sp>
      <p:pic>
        <p:nvPicPr>
          <p:cNvPr id="3" name="Picture 2">
            <a:extLst>
              <a:ext uri="{FF2B5EF4-FFF2-40B4-BE49-F238E27FC236}">
                <a16:creationId xmlns:a16="http://schemas.microsoft.com/office/drawing/2014/main" id="{07EB9FB5-DC77-EF4C-D140-BAFDDCB06561}"/>
              </a:ext>
            </a:extLst>
          </p:cNvPr>
          <p:cNvPicPr>
            <a:picLocks noChangeAspect="1"/>
          </p:cNvPicPr>
          <p:nvPr/>
        </p:nvPicPr>
        <p:blipFill>
          <a:blip r:embed="rId2"/>
          <a:stretch>
            <a:fillRect/>
          </a:stretch>
        </p:blipFill>
        <p:spPr>
          <a:xfrm>
            <a:off x="2395538" y="1971578"/>
            <a:ext cx="5021262" cy="40389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2399186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1120</TotalTime>
  <Words>1554</Words>
  <Application>Microsoft Office PowerPoint</Application>
  <PresentationFormat>Widescreen</PresentationFormat>
  <Paragraphs>116</Paragraphs>
  <Slides>20</Slides>
  <Notes>0</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Trebuchet MS</vt:lpstr>
      <vt:lpstr>Wingdings 3</vt:lpstr>
      <vt:lpstr>Facet</vt:lpstr>
      <vt:lpstr>FASTAPI Development using Python on Cloud</vt:lpstr>
      <vt:lpstr>Query Parameters Model</vt:lpstr>
      <vt:lpstr>Query Parameters with a Pydantic Model</vt:lpstr>
      <vt:lpstr>Forbid extra Query Parameters</vt:lpstr>
      <vt:lpstr>Extra Data Types - FastAPI</vt:lpstr>
      <vt:lpstr>Extra Data Types – Contd. </vt:lpstr>
      <vt:lpstr>Cookie Parameters in FastAPI</vt:lpstr>
      <vt:lpstr>Declare Header Parameters </vt:lpstr>
      <vt:lpstr>Form Models in FastAPI</vt:lpstr>
      <vt:lpstr>Authentication &amp; Authorization with FastAPI</vt:lpstr>
      <vt:lpstr>Implement Auth Steps</vt:lpstr>
      <vt:lpstr>Migration of FastAPI Apps to Azure</vt:lpstr>
      <vt:lpstr>Azure App Service Scaling out Options</vt:lpstr>
      <vt:lpstr>Deployment of FastAPI App with Azure</vt:lpstr>
      <vt:lpstr>Background Tasks Mgmt in FastAPI</vt:lpstr>
      <vt:lpstr>Create a Task function </vt:lpstr>
      <vt:lpstr>Overview of Alembic</vt:lpstr>
      <vt:lpstr>Alembic Benefits</vt:lpstr>
      <vt:lpstr>Directory Structure</vt:lpstr>
      <vt:lpstr>Alembic .ini file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65</cp:revision>
  <dcterms:created xsi:type="dcterms:W3CDTF">2026-02-07T01:49:08Z</dcterms:created>
  <dcterms:modified xsi:type="dcterms:W3CDTF">2026-02-11T07:55:54Z</dcterms:modified>
</cp:coreProperties>
</file>
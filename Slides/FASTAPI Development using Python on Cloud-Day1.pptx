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126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0DF7D1-1A6A-47BF-AE6E-87394BAACE36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932C57-5D08-4988-BE30-1BF682F263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​Web Page</a:t>
          </a:r>
        </a:p>
      </dgm:t>
    </dgm:pt>
    <dgm:pt modelId="{D721166B-9CE9-4EB5-B741-B8B26E462BBE}" type="parTrans" cxnId="{0ACC7C23-E5C4-416B-AC34-082A4A2163AF}">
      <dgm:prSet/>
      <dgm:spPr/>
      <dgm:t>
        <a:bodyPr/>
        <a:lstStyle/>
        <a:p>
          <a:endParaRPr lang="en-US"/>
        </a:p>
      </dgm:t>
    </dgm:pt>
    <dgm:pt modelId="{9C509CED-20A1-4D46-8B2A-B9B2968BCA87}" type="sibTrans" cxnId="{0ACC7C23-E5C4-416B-AC34-082A4A2163A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B601D75B-1F2B-4FB1-BAA6-A58AFEEAE23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Full Stack Application</a:t>
          </a:r>
        </a:p>
      </dgm:t>
    </dgm:pt>
    <dgm:pt modelId="{EC7027C9-55A1-4339-90D4-876E1BA209BC}" type="parTrans" cxnId="{76D10B22-8FDA-415F-A9B0-E4795370F511}">
      <dgm:prSet/>
      <dgm:spPr/>
      <dgm:t>
        <a:bodyPr/>
        <a:lstStyle/>
        <a:p>
          <a:endParaRPr lang="en-US"/>
        </a:p>
      </dgm:t>
    </dgm:pt>
    <dgm:pt modelId="{3A489B89-BD26-49B4-B47E-6EC1738AE0C6}" type="sibTrans" cxnId="{76D10B22-8FDA-415F-A9B0-E4795370F511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1702A6A6-9B56-4224-9C3C-E3EC2224F4C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Server </a:t>
          </a:r>
        </a:p>
      </dgm:t>
    </dgm:pt>
    <dgm:pt modelId="{16DA9F8C-4B84-4523-A33D-2A4A8FEFED51}" type="parTrans" cxnId="{A2EC2A05-1086-4442-A4C1-183C8C29C472}">
      <dgm:prSet/>
      <dgm:spPr/>
      <dgm:t>
        <a:bodyPr/>
        <a:lstStyle/>
        <a:p>
          <a:endParaRPr lang="en-US"/>
        </a:p>
      </dgm:t>
    </dgm:pt>
    <dgm:pt modelId="{DDD3F83F-2D77-46D1-BF40-969C0D74C84F}" type="sibTrans" cxnId="{A2EC2A05-1086-4442-A4C1-183C8C29C472}">
      <dgm:prSet/>
      <dgm:spPr/>
      <dgm:t>
        <a:bodyPr/>
        <a:lstStyle/>
        <a:p>
          <a:endParaRPr lang="en-US"/>
        </a:p>
      </dgm:t>
    </dgm:pt>
    <dgm:pt modelId="{DA6A452F-9F1F-41A5-834E-450C20F08B6F}" type="pres">
      <dgm:prSet presAssocID="{9F0DF7D1-1A6A-47BF-AE6E-87394BAACE36}" presName="Name0" presStyleCnt="0">
        <dgm:presLayoutVars>
          <dgm:dir/>
          <dgm:resizeHandles val="exact"/>
        </dgm:presLayoutVars>
      </dgm:prSet>
      <dgm:spPr/>
    </dgm:pt>
    <dgm:pt modelId="{5AE96DE3-F777-4D59-ACD9-FE7BF8F098B2}" type="pres">
      <dgm:prSet presAssocID="{96932C57-5D08-4988-BE30-1BF682F2631F}" presName="compNode" presStyleCnt="0"/>
      <dgm:spPr/>
    </dgm:pt>
    <dgm:pt modelId="{F7B6A8FE-8866-4DA0-8D2C-E5C8768ED40E}" type="pres">
      <dgm:prSet presAssocID="{96932C57-5D08-4988-BE30-1BF682F2631F}" presName="pictRect" presStyleLbl="revTx" presStyleIdx="0" presStyleCnt="6">
        <dgm:presLayoutVars>
          <dgm:chMax val="0"/>
          <dgm:bulletEnabled/>
        </dgm:presLayoutVars>
      </dgm:prSet>
      <dgm:spPr/>
    </dgm:pt>
    <dgm:pt modelId="{5FD791FD-19B4-4156-9FA1-102913D6DD4F}" type="pres">
      <dgm:prSet presAssocID="{96932C57-5D08-4988-BE30-1BF682F2631F}" presName="textRect" presStyleLbl="revTx" presStyleIdx="1" presStyleCnt="6">
        <dgm:presLayoutVars>
          <dgm:bulletEnabled/>
        </dgm:presLayoutVars>
      </dgm:prSet>
      <dgm:spPr/>
    </dgm:pt>
    <dgm:pt modelId="{A43E97FD-BA45-4A70-9852-1C850AA99845}" type="pres">
      <dgm:prSet presAssocID="{9C509CED-20A1-4D46-8B2A-B9B2968BCA87}" presName="sibTrans" presStyleLbl="sibTrans2D1" presStyleIdx="0" presStyleCnt="0"/>
      <dgm:spPr/>
    </dgm:pt>
    <dgm:pt modelId="{DB45F48C-154F-421B-BDA2-C568F5FB5CE7}" type="pres">
      <dgm:prSet presAssocID="{B601D75B-1F2B-4FB1-BAA6-A58AFEEAE23A}" presName="compNode" presStyleCnt="0"/>
      <dgm:spPr/>
    </dgm:pt>
    <dgm:pt modelId="{2C06BDB5-05C1-4CA7-AB79-7783FA0BFEC3}" type="pres">
      <dgm:prSet presAssocID="{B601D75B-1F2B-4FB1-BAA6-A58AFEEAE23A}" presName="pictRect" presStyleLbl="revTx" presStyleIdx="2" presStyleCnt="6" custLinFactNeighborX="-30442">
        <dgm:presLayoutVars>
          <dgm:chMax val="0"/>
          <dgm:bulletEnabled/>
        </dgm:presLayoutVars>
      </dgm:prSet>
      <dgm:spPr/>
    </dgm:pt>
    <dgm:pt modelId="{6511B011-CB5D-46E3-9374-420002468170}" type="pres">
      <dgm:prSet presAssocID="{B601D75B-1F2B-4FB1-BAA6-A58AFEEAE23A}" presName="textRect" presStyleLbl="revTx" presStyleIdx="3" presStyleCnt="6">
        <dgm:presLayoutVars>
          <dgm:bulletEnabled/>
        </dgm:presLayoutVars>
      </dgm:prSet>
      <dgm:spPr/>
    </dgm:pt>
    <dgm:pt modelId="{A13773A1-7D57-419B-9E55-43D6647B107E}" type="pres">
      <dgm:prSet presAssocID="{3A489B89-BD26-49B4-B47E-6EC1738AE0C6}" presName="sibTrans" presStyleLbl="sibTrans2D1" presStyleIdx="0" presStyleCnt="0"/>
      <dgm:spPr/>
    </dgm:pt>
    <dgm:pt modelId="{B7B8378C-E0B7-4968-9952-C8A54C441CBE}" type="pres">
      <dgm:prSet presAssocID="{1702A6A6-9B56-4224-9C3C-E3EC2224F4C5}" presName="compNode" presStyleCnt="0"/>
      <dgm:spPr/>
    </dgm:pt>
    <dgm:pt modelId="{EAC6FD34-2338-4C79-88F0-71976ED77786}" type="pres">
      <dgm:prSet presAssocID="{1702A6A6-9B56-4224-9C3C-E3EC2224F4C5}" presName="pictRect" presStyleLbl="revTx" presStyleIdx="4" presStyleCnt="6">
        <dgm:presLayoutVars>
          <dgm:chMax val="0"/>
          <dgm:bulletEnabled/>
        </dgm:presLayoutVars>
      </dgm:prSet>
      <dgm:spPr/>
    </dgm:pt>
    <dgm:pt modelId="{CE79DC4C-FC39-4F3E-9DE4-A5EF8964293E}" type="pres">
      <dgm:prSet presAssocID="{1702A6A6-9B56-4224-9C3C-E3EC2224F4C5}" presName="textRect" presStyleLbl="revTx" presStyleIdx="5" presStyleCnt="6">
        <dgm:presLayoutVars>
          <dgm:bulletEnabled/>
        </dgm:presLayoutVars>
      </dgm:prSet>
      <dgm:spPr/>
    </dgm:pt>
  </dgm:ptLst>
  <dgm:cxnLst>
    <dgm:cxn modelId="{A2EC2A05-1086-4442-A4C1-183C8C29C472}" srcId="{9F0DF7D1-1A6A-47BF-AE6E-87394BAACE36}" destId="{1702A6A6-9B56-4224-9C3C-E3EC2224F4C5}" srcOrd="2" destOrd="0" parTransId="{16DA9F8C-4B84-4523-A33D-2A4A8FEFED51}" sibTransId="{DDD3F83F-2D77-46D1-BF40-969C0D74C84F}"/>
    <dgm:cxn modelId="{10181516-2820-4103-B926-7C18D282DAE6}" type="presOf" srcId="{96932C57-5D08-4988-BE30-1BF682F2631F}" destId="{F7B6A8FE-8866-4DA0-8D2C-E5C8768ED40E}" srcOrd="0" destOrd="0" presId="urn:microsoft.com/office/officeart/2024/3/layout/hArchList1"/>
    <dgm:cxn modelId="{76D10B22-8FDA-415F-A9B0-E4795370F511}" srcId="{9F0DF7D1-1A6A-47BF-AE6E-87394BAACE36}" destId="{B601D75B-1F2B-4FB1-BAA6-A58AFEEAE23A}" srcOrd="1" destOrd="0" parTransId="{EC7027C9-55A1-4339-90D4-876E1BA209BC}" sibTransId="{3A489B89-BD26-49B4-B47E-6EC1738AE0C6}"/>
    <dgm:cxn modelId="{0ACC7C23-E5C4-416B-AC34-082A4A2163AF}" srcId="{9F0DF7D1-1A6A-47BF-AE6E-87394BAACE36}" destId="{96932C57-5D08-4988-BE30-1BF682F2631F}" srcOrd="0" destOrd="0" parTransId="{D721166B-9CE9-4EB5-B741-B8B26E462BBE}" sibTransId="{9C509CED-20A1-4D46-8B2A-B9B2968BCA87}"/>
    <dgm:cxn modelId="{182DDA2C-A010-4C21-A3D7-1A81B210F587}" type="presOf" srcId="{3A489B89-BD26-49B4-B47E-6EC1738AE0C6}" destId="{A13773A1-7D57-419B-9E55-43D6647B107E}" srcOrd="0" destOrd="0" presId="urn:microsoft.com/office/officeart/2024/3/layout/hArchList1"/>
    <dgm:cxn modelId="{4AC90F60-F8EB-4C26-976B-02A572809A19}" type="presOf" srcId="{1702A6A6-9B56-4224-9C3C-E3EC2224F4C5}" destId="{EAC6FD34-2338-4C79-88F0-71976ED77786}" srcOrd="0" destOrd="0" presId="urn:microsoft.com/office/officeart/2024/3/layout/hArchList1"/>
    <dgm:cxn modelId="{020DD874-9481-42B4-97A8-52419BC42695}" type="presOf" srcId="{B601D75B-1F2B-4FB1-BAA6-A58AFEEAE23A}" destId="{2C06BDB5-05C1-4CA7-AB79-7783FA0BFEC3}" srcOrd="0" destOrd="0" presId="urn:microsoft.com/office/officeart/2024/3/layout/hArchList1"/>
    <dgm:cxn modelId="{21F79CDC-BADE-4219-B94D-2DE61854BF4C}" type="presOf" srcId="{9F0DF7D1-1A6A-47BF-AE6E-87394BAACE36}" destId="{DA6A452F-9F1F-41A5-834E-450C20F08B6F}" srcOrd="0" destOrd="0" presId="urn:microsoft.com/office/officeart/2024/3/layout/hArchList1"/>
    <dgm:cxn modelId="{C89103E1-A7D6-41D1-84A1-72BA372A538F}" type="presOf" srcId="{9C509CED-20A1-4D46-8B2A-B9B2968BCA87}" destId="{A43E97FD-BA45-4A70-9852-1C850AA99845}" srcOrd="0" destOrd="0" presId="urn:microsoft.com/office/officeart/2024/3/layout/hArchList1"/>
    <dgm:cxn modelId="{18627E33-9CEB-4F99-846B-90BF410C5E8E}" type="presParOf" srcId="{DA6A452F-9F1F-41A5-834E-450C20F08B6F}" destId="{5AE96DE3-F777-4D59-ACD9-FE7BF8F098B2}" srcOrd="0" destOrd="0" presId="urn:microsoft.com/office/officeart/2024/3/layout/hArchList1"/>
    <dgm:cxn modelId="{55C2B0B3-B9FC-4D47-9009-BAB4F56AC7FB}" type="presParOf" srcId="{5AE96DE3-F777-4D59-ACD9-FE7BF8F098B2}" destId="{F7B6A8FE-8866-4DA0-8D2C-E5C8768ED40E}" srcOrd="0" destOrd="0" presId="urn:microsoft.com/office/officeart/2024/3/layout/hArchList1"/>
    <dgm:cxn modelId="{92D04728-4264-4153-B40E-4472DCD4FC7C}" type="presParOf" srcId="{5AE96DE3-F777-4D59-ACD9-FE7BF8F098B2}" destId="{5FD791FD-19B4-4156-9FA1-102913D6DD4F}" srcOrd="1" destOrd="0" presId="urn:microsoft.com/office/officeart/2024/3/layout/hArchList1"/>
    <dgm:cxn modelId="{C8470ED3-5126-45B1-8560-E5DC04F04990}" type="presParOf" srcId="{DA6A452F-9F1F-41A5-834E-450C20F08B6F}" destId="{A43E97FD-BA45-4A70-9852-1C850AA99845}" srcOrd="1" destOrd="0" presId="urn:microsoft.com/office/officeart/2024/3/layout/hArchList1"/>
    <dgm:cxn modelId="{73A6235F-0972-42D8-8102-6121535F4DDA}" type="presParOf" srcId="{DA6A452F-9F1F-41A5-834E-450C20F08B6F}" destId="{DB45F48C-154F-421B-BDA2-C568F5FB5CE7}" srcOrd="2" destOrd="0" presId="urn:microsoft.com/office/officeart/2024/3/layout/hArchList1"/>
    <dgm:cxn modelId="{648FF8A5-FED4-43F4-81C0-95BA32D95DF4}" type="presParOf" srcId="{DB45F48C-154F-421B-BDA2-C568F5FB5CE7}" destId="{2C06BDB5-05C1-4CA7-AB79-7783FA0BFEC3}" srcOrd="0" destOrd="0" presId="urn:microsoft.com/office/officeart/2024/3/layout/hArchList1"/>
    <dgm:cxn modelId="{CBA74A4C-6942-4B19-866A-A5EC97F40E68}" type="presParOf" srcId="{DB45F48C-154F-421B-BDA2-C568F5FB5CE7}" destId="{6511B011-CB5D-46E3-9374-420002468170}" srcOrd="1" destOrd="0" presId="urn:microsoft.com/office/officeart/2024/3/layout/hArchList1"/>
    <dgm:cxn modelId="{1AE972F5-D630-491F-8E20-632ABA6D2B19}" type="presParOf" srcId="{DA6A452F-9F1F-41A5-834E-450C20F08B6F}" destId="{A13773A1-7D57-419B-9E55-43D6647B107E}" srcOrd="3" destOrd="0" presId="urn:microsoft.com/office/officeart/2024/3/layout/hArchList1"/>
    <dgm:cxn modelId="{E577271D-791D-4BA1-9155-A9A90C6F8AD2}" type="presParOf" srcId="{DA6A452F-9F1F-41A5-834E-450C20F08B6F}" destId="{B7B8378C-E0B7-4968-9952-C8A54C441CBE}" srcOrd="4" destOrd="0" presId="urn:microsoft.com/office/officeart/2024/3/layout/hArchList1"/>
    <dgm:cxn modelId="{A6B64221-C7AE-4E34-B9E0-26F8467B88C4}" type="presParOf" srcId="{B7B8378C-E0B7-4968-9952-C8A54C441CBE}" destId="{EAC6FD34-2338-4C79-88F0-71976ED77786}" srcOrd="0" destOrd="0" presId="urn:microsoft.com/office/officeart/2024/3/layout/hArchList1"/>
    <dgm:cxn modelId="{BD3B5DAE-B6D0-4DDB-B05F-B1DEA4F0E9B1}" type="presParOf" srcId="{B7B8378C-E0B7-4968-9952-C8A54C441CBE}" destId="{CE79DC4C-FC39-4F3E-9DE4-A5EF8964293E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6A8FE-8866-4DA0-8D2C-E5C8768ED40E}">
      <dsp:nvSpPr>
        <dsp:cNvPr id="0" name=""/>
        <dsp:cNvSpPr/>
      </dsp:nvSpPr>
      <dsp:spPr>
        <a:xfrm>
          <a:off x="0" y="0"/>
          <a:ext cx="2686458" cy="338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​Web Page</a:t>
          </a:r>
        </a:p>
      </dsp:txBody>
      <dsp:txXfrm>
        <a:off x="0" y="0"/>
        <a:ext cx="2686458" cy="338252"/>
      </dsp:txXfrm>
    </dsp:sp>
    <dsp:sp modelId="{5FD791FD-19B4-4156-9FA1-102913D6DD4F}">
      <dsp:nvSpPr>
        <dsp:cNvPr id="0" name=""/>
        <dsp:cNvSpPr/>
      </dsp:nvSpPr>
      <dsp:spPr>
        <a:xfrm>
          <a:off x="0" y="338252"/>
          <a:ext cx="2686458" cy="982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06BDB5-05C1-4CA7-AB79-7783FA0BFEC3}">
      <dsp:nvSpPr>
        <dsp:cNvPr id="0" name=""/>
        <dsp:cNvSpPr/>
      </dsp:nvSpPr>
      <dsp:spPr>
        <a:xfrm>
          <a:off x="2137292" y="0"/>
          <a:ext cx="2686458" cy="338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Full Stack Application</a:t>
          </a:r>
        </a:p>
      </dsp:txBody>
      <dsp:txXfrm>
        <a:off x="2137292" y="0"/>
        <a:ext cx="2686458" cy="338252"/>
      </dsp:txXfrm>
    </dsp:sp>
    <dsp:sp modelId="{6511B011-CB5D-46E3-9374-420002468170}">
      <dsp:nvSpPr>
        <dsp:cNvPr id="0" name=""/>
        <dsp:cNvSpPr/>
      </dsp:nvSpPr>
      <dsp:spPr>
        <a:xfrm>
          <a:off x="2955104" y="338252"/>
          <a:ext cx="2686458" cy="982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C6FD34-2338-4C79-88F0-71976ED77786}">
      <dsp:nvSpPr>
        <dsp:cNvPr id="0" name=""/>
        <dsp:cNvSpPr/>
      </dsp:nvSpPr>
      <dsp:spPr>
        <a:xfrm>
          <a:off x="5910209" y="0"/>
          <a:ext cx="2686458" cy="338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Server </a:t>
          </a:r>
        </a:p>
      </dsp:txBody>
      <dsp:txXfrm>
        <a:off x="5910209" y="0"/>
        <a:ext cx="2686458" cy="338252"/>
      </dsp:txXfrm>
    </dsp:sp>
    <dsp:sp modelId="{CE79DC4C-FC39-4F3E-9DE4-A5EF8964293E}">
      <dsp:nvSpPr>
        <dsp:cNvPr id="0" name=""/>
        <dsp:cNvSpPr/>
      </dsp:nvSpPr>
      <dsp:spPr>
        <a:xfrm>
          <a:off x="5910209" y="338252"/>
          <a:ext cx="2686458" cy="982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5538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839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8145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6148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922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9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4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6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6174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612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13672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57354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845688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190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6626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27643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2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mpR8ngthqiE?feature=oembe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F658F-8D2B-6D3F-1510-352DFF3B93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 fontScale="90000"/>
          </a:bodyPr>
          <a:lstStyle/>
          <a:p>
            <a:r>
              <a:rPr lang="en-US" dirty="0"/>
              <a:t>FASTAPI Development using Python on Cloud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1C9E5-7ED4-7426-203C-4C5CA8872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FastAPI with Agentic AI on Cloud</a:t>
            </a:r>
          </a:p>
        </p:txBody>
      </p:sp>
    </p:spTree>
    <p:extLst>
      <p:ext uri="{BB962C8B-B14F-4D97-AF65-F5344CB8AC3E}">
        <p14:creationId xmlns:p14="http://schemas.microsoft.com/office/powerpoint/2010/main" val="568568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148847-CC2F-95E7-48C0-CAC990A5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FASTAPI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A17889-A9F4-5B15-8846-E72483C5F3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FastAPI is a Python web-framework for building modern APIs. </a:t>
            </a:r>
          </a:p>
          <a:p>
            <a:r>
              <a:rPr lang="en-US" dirty="0"/>
              <a:t>Fast (Performance)</a:t>
            </a:r>
          </a:p>
          <a:p>
            <a:r>
              <a:rPr lang="en-US" dirty="0"/>
              <a:t>Fast(Development) </a:t>
            </a:r>
          </a:p>
          <a:p>
            <a:endParaRPr lang="en-US" dirty="0"/>
          </a:p>
          <a:p>
            <a:r>
              <a:rPr lang="en-US" dirty="0"/>
              <a:t>Features </a:t>
            </a:r>
          </a:p>
          <a:p>
            <a:r>
              <a:rPr lang="en-US" dirty="0"/>
              <a:t>Few Bugs</a:t>
            </a:r>
          </a:p>
          <a:p>
            <a:r>
              <a:rPr lang="en-US" dirty="0"/>
              <a:t>Quick &amp; Easy </a:t>
            </a:r>
          </a:p>
          <a:p>
            <a:r>
              <a:rPr lang="en-US" dirty="0"/>
              <a:t>Robust </a:t>
            </a:r>
          </a:p>
          <a:p>
            <a:r>
              <a:rPr lang="en-US" dirty="0"/>
              <a:t>Standards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DA8663-19FA-2AD9-1FBE-6C1691B00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68" y="2834150"/>
            <a:ext cx="623887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52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FD47-CAE6-C096-D8D3-EB919B13F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FastAPI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87560-C935-8368-2D2D-9782F3FA8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10143066" cy="3880772"/>
          </a:xfrm>
        </p:spPr>
        <p:txBody>
          <a:bodyPr/>
          <a:lstStyle/>
          <a:p>
            <a:r>
              <a:rPr lang="en-US" dirty="0"/>
              <a:t>FastAPI is a web framework or building modern RESTful APIs. </a:t>
            </a:r>
          </a:p>
          <a:p>
            <a:endParaRPr lang="en-US" dirty="0"/>
          </a:p>
          <a:p>
            <a:r>
              <a:rPr lang="en-US" b="1" dirty="0"/>
              <a:t>Fast -</a:t>
            </a:r>
            <a:r>
              <a:rPr lang="en-US" dirty="0"/>
              <a:t> Very high performance, on par with </a:t>
            </a:r>
            <a:r>
              <a:rPr lang="en-US" b="1" dirty="0"/>
              <a:t>NodeJS</a:t>
            </a:r>
            <a:r>
              <a:rPr lang="en-US" dirty="0"/>
              <a:t> and </a:t>
            </a:r>
            <a:r>
              <a:rPr lang="en-US" b="1" dirty="0"/>
              <a:t>Go</a:t>
            </a:r>
          </a:p>
          <a:p>
            <a:r>
              <a:rPr lang="en-US" b="1" dirty="0"/>
              <a:t>Fast to code -</a:t>
            </a:r>
            <a:r>
              <a:rPr lang="en-US" dirty="0"/>
              <a:t> Increase the speed to develop features by about 200% to 300%.</a:t>
            </a:r>
          </a:p>
          <a:p>
            <a:r>
              <a:rPr lang="en-US" b="1" dirty="0"/>
              <a:t>Intuitive -</a:t>
            </a:r>
            <a:r>
              <a:rPr lang="en-US" dirty="0"/>
              <a:t>  Faster code support , Less time debugging. </a:t>
            </a:r>
          </a:p>
          <a:p>
            <a:r>
              <a:rPr lang="en-US" b="1" dirty="0"/>
              <a:t>Robust </a:t>
            </a:r>
            <a:r>
              <a:rPr lang="en-US" dirty="0"/>
              <a:t>– Designed to be automated Production ready code. With automatic interactive documentation. </a:t>
            </a:r>
          </a:p>
          <a:p>
            <a:r>
              <a:rPr lang="en-US" b="1" dirty="0"/>
              <a:t>Short</a:t>
            </a:r>
            <a:r>
              <a:rPr lang="en-US" dirty="0"/>
              <a:t> – Minimize code duplication. Multiple features from each parameter's declaration.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84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83B46E-4B9D-41E7-AEA4-D49D0E7D8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96A8005-E9F4-4EB9-8920-B40570B4A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0635935-0E19-45AE-833C-28B82B087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3F51BFFB-86E2-4C0F-A3E6-9EB854CA4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BC377650-A34B-4F5C-9CF6-357C1AE1A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EDFD6E0-0A92-4B6A-8B1C-6DD83E629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A1D08E0A-48F2-475F-933A-7D65C5B04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43F7D684-BFDD-4685-8195-32F1ABE31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4A0E8712-3D59-4F13-9FD3-F8889E3C5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99F7967-C64D-482A-A1B6-896D7EC22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7CE53433-52BD-4F44-80A5-B57F4B53A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5FBFB4-B885-D5A7-67F3-03379720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634133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FastAPI integration with Full Stack Architecture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EBF7483E-8BF3-6993-9CD9-DEB40DB355E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3922519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2009658" y="2367628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6C7CA-77E5-916D-83DA-212AD00170EE}"/>
              </a:ext>
            </a:extLst>
          </p:cNvPr>
          <p:cNvSpPr/>
          <p:nvPr/>
        </p:nvSpPr>
        <p:spPr>
          <a:xfrm>
            <a:off x="7806267" y="1676400"/>
            <a:ext cx="1372035" cy="49106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FastAPI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AD03236-97E5-FF39-EDB3-3986CFE31A7B}"/>
              </a:ext>
            </a:extLst>
          </p:cNvPr>
          <p:cNvCxnSpPr/>
          <p:nvPr/>
        </p:nvCxnSpPr>
        <p:spPr>
          <a:xfrm>
            <a:off x="3454400" y="2590800"/>
            <a:ext cx="762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F1FB80-9A2F-ECFD-D9CF-512D1043A743}"/>
              </a:ext>
            </a:extLst>
          </p:cNvPr>
          <p:cNvCxnSpPr/>
          <p:nvPr/>
        </p:nvCxnSpPr>
        <p:spPr>
          <a:xfrm>
            <a:off x="6824133" y="2590800"/>
            <a:ext cx="11345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07829DC-6149-954E-1702-CFBDEA863943}"/>
              </a:ext>
            </a:extLst>
          </p:cNvPr>
          <p:cNvSpPr txBox="1"/>
          <p:nvPr/>
        </p:nvSpPr>
        <p:spPr>
          <a:xfrm>
            <a:off x="1522268" y="3350750"/>
            <a:ext cx="7828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Handles all business logic for the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Based on Two sets of API – </a:t>
            </a:r>
            <a:r>
              <a:rPr lang="en-US" dirty="0" err="1"/>
              <a:t>OpenAPI</a:t>
            </a:r>
            <a:r>
              <a:rPr lang="en-US" dirty="0"/>
              <a:t> and JSON Schema</a:t>
            </a:r>
          </a:p>
        </p:txBody>
      </p:sp>
    </p:spTree>
    <p:extLst>
      <p:ext uri="{BB962C8B-B14F-4D97-AF65-F5344CB8AC3E}">
        <p14:creationId xmlns:p14="http://schemas.microsoft.com/office/powerpoint/2010/main" val="1564788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F66557-E426-2E4D-B4E0-0F6385CB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534" y="609600"/>
            <a:ext cx="8596668" cy="1320800"/>
          </a:xfrm>
        </p:spPr>
        <p:txBody>
          <a:bodyPr/>
          <a:lstStyle/>
          <a:p>
            <a:r>
              <a:rPr lang="en-US" dirty="0"/>
              <a:t>FastAPI Documentary</a:t>
            </a:r>
          </a:p>
        </p:txBody>
      </p:sp>
      <p:pic>
        <p:nvPicPr>
          <p:cNvPr id="35" name="Online Media 34" title="The Rise and Rise of FastAPI">
            <a:hlinkClick r:id="" action="ppaction://media"/>
            <a:extLst>
              <a:ext uri="{FF2B5EF4-FFF2-40B4-BE49-F238E27FC236}">
                <a16:creationId xmlns:a16="http://schemas.microsoft.com/office/drawing/2014/main" id="{DB2B4837-EC20-4BB7-1E17-279CB477BA2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51653" y="1930400"/>
            <a:ext cx="6869800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9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7E7B4-33CE-1211-9B63-C642E749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has used FASTAPI?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C89BF-5FDD-3E90-6339-2CF545DBF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720" y="2574925"/>
            <a:ext cx="1302280" cy="1501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64FF2E-32F3-DA82-8C79-1E3B87363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170" y="2665251"/>
            <a:ext cx="2424253" cy="1320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3F2D7F-D853-7C01-C9B9-C5691564C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875" y="2608363"/>
            <a:ext cx="2424253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6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DB10-2400-E155-F149-BCB74B7B0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of Dependencies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63B9C-FF62-E4A2-0B9D-6E0E83A9E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Pip is the Python package manager. </a:t>
            </a:r>
          </a:p>
          <a:p>
            <a:endParaRPr lang="en-US" dirty="0"/>
          </a:p>
          <a:p>
            <a:r>
              <a:rPr lang="en-US" dirty="0"/>
              <a:t>Pip is used to install and update packages. </a:t>
            </a:r>
          </a:p>
          <a:p>
            <a:endParaRPr lang="en-US" dirty="0"/>
          </a:p>
          <a:p>
            <a:r>
              <a:rPr lang="en-US" dirty="0"/>
              <a:t>Use the latest version of pip installed.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333C0B-2B48-3900-8A5E-50E53C7B5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4927601"/>
            <a:ext cx="10608142" cy="894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6063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2C704-41F4-7169-2E12-C38514DF4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Virtual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C9C9D-6799-DDA2-2AAE-B743ADCA9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1125199" cy="3880773"/>
          </a:xfrm>
        </p:spPr>
        <p:txBody>
          <a:bodyPr/>
          <a:lstStyle/>
          <a:p>
            <a:r>
              <a:rPr lang="en-US" dirty="0"/>
              <a:t>Start by new folder / directory called “FastAPI”</a:t>
            </a:r>
          </a:p>
          <a:p>
            <a:r>
              <a:rPr lang="en-US" dirty="0"/>
              <a:t>Within the pip check the dependencies that have been installed</a:t>
            </a:r>
          </a:p>
          <a:p>
            <a:endParaRPr lang="en-US" dirty="0"/>
          </a:p>
          <a:p>
            <a:r>
              <a:rPr lang="en-US" dirty="0"/>
              <a:t>Python already has an included dependency for virtual environments called </a:t>
            </a:r>
            <a:r>
              <a:rPr lang="en-US" dirty="0" err="1"/>
              <a:t>venv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Creating a new FastAPI environment as a virtual environment. </a:t>
            </a:r>
          </a:p>
          <a:p>
            <a:endParaRPr lang="en-US" dirty="0"/>
          </a:p>
          <a:p>
            <a:r>
              <a:rPr lang="en-US" dirty="0"/>
              <a:t>Activating out virtual environment to install our dependencies in</a:t>
            </a:r>
          </a:p>
        </p:txBody>
      </p:sp>
    </p:spTree>
    <p:extLst>
      <p:ext uri="{BB962C8B-B14F-4D97-AF65-F5344CB8AC3E}">
        <p14:creationId xmlns:p14="http://schemas.microsoft.com/office/powerpoint/2010/main" val="807656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DB91-4996-8BA0-48D5-2A5C6FB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 &amp; Response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F71CE-2C05-41B1-B332-95EC3C38C502}"/>
              </a:ext>
            </a:extLst>
          </p:cNvPr>
          <p:cNvSpPr/>
          <p:nvPr/>
        </p:nvSpPr>
        <p:spPr>
          <a:xfrm>
            <a:off x="914400" y="1710267"/>
            <a:ext cx="9770533" cy="2353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FF88367E-2CEF-FFA2-DA8C-34980A6980BE}"/>
              </a:ext>
            </a:extLst>
          </p:cNvPr>
          <p:cNvSpPr/>
          <p:nvPr/>
        </p:nvSpPr>
        <p:spPr>
          <a:xfrm>
            <a:off x="1371600" y="2472267"/>
            <a:ext cx="2421467" cy="95673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Page 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344A3D0D-8269-5CA6-9EF9-9EF6F91E4FF5}"/>
              </a:ext>
            </a:extLst>
          </p:cNvPr>
          <p:cNvSpPr/>
          <p:nvPr/>
        </p:nvSpPr>
        <p:spPr>
          <a:xfrm>
            <a:off x="7450667" y="2472267"/>
            <a:ext cx="2540000" cy="1168400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4A8FC2A-C926-145A-CBE8-D197BD04031C}"/>
              </a:ext>
            </a:extLst>
          </p:cNvPr>
          <p:cNvCxnSpPr/>
          <p:nvPr/>
        </p:nvCxnSpPr>
        <p:spPr>
          <a:xfrm>
            <a:off x="4013200" y="2794000"/>
            <a:ext cx="31157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051017-C08E-0B73-FABD-AF17FE9FACA7}"/>
              </a:ext>
            </a:extLst>
          </p:cNvPr>
          <p:cNvCxnSpPr>
            <a:cxnSpLocks/>
          </p:cNvCxnSpPr>
          <p:nvPr/>
        </p:nvCxnSpPr>
        <p:spPr>
          <a:xfrm flipH="1">
            <a:off x="4013200" y="3429000"/>
            <a:ext cx="31157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473517-78D3-1C74-2B6A-7375CA163D4E}"/>
              </a:ext>
            </a:extLst>
          </p:cNvPr>
          <p:cNvSpPr txBox="1"/>
          <p:nvPr/>
        </p:nvSpPr>
        <p:spPr>
          <a:xfrm>
            <a:off x="3970867" y="2235201"/>
            <a:ext cx="333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 Request Methods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80662A-CB68-B11C-C16C-12D5B5402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3919" y="1879601"/>
            <a:ext cx="1487883" cy="457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F69AEE-BE08-5EF2-D3C8-3187327A3581}"/>
              </a:ext>
            </a:extLst>
          </p:cNvPr>
          <p:cNvSpPr txBox="1"/>
          <p:nvPr/>
        </p:nvSpPr>
        <p:spPr>
          <a:xfrm>
            <a:off x="1540933" y="4439734"/>
            <a:ext cx="208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</a:t>
            </a: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7F0FF65B-EBC4-DC26-A385-8FE217BC2C15}"/>
              </a:ext>
            </a:extLst>
          </p:cNvPr>
          <p:cNvSpPr/>
          <p:nvPr/>
        </p:nvSpPr>
        <p:spPr>
          <a:xfrm>
            <a:off x="6392331" y="4353467"/>
            <a:ext cx="1405467" cy="440266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150E78-39F2-701F-1EB5-EE15A08DA602}"/>
              </a:ext>
            </a:extLst>
          </p:cNvPr>
          <p:cNvSpPr txBox="1"/>
          <p:nvPr/>
        </p:nvSpPr>
        <p:spPr>
          <a:xfrm>
            <a:off x="1540933" y="5140065"/>
            <a:ext cx="116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46B5FF4E-A3E2-F273-955F-FB76F4393CF1}"/>
              </a:ext>
            </a:extLst>
          </p:cNvPr>
          <p:cNvSpPr/>
          <p:nvPr/>
        </p:nvSpPr>
        <p:spPr>
          <a:xfrm>
            <a:off x="6392331" y="5083200"/>
            <a:ext cx="1405467" cy="369332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F794D7-8246-DFBF-EA0C-A718168D0AF9}"/>
              </a:ext>
            </a:extLst>
          </p:cNvPr>
          <p:cNvSpPr txBox="1"/>
          <p:nvPr/>
        </p:nvSpPr>
        <p:spPr>
          <a:xfrm>
            <a:off x="1540933" y="5701731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2A3252-D20A-A119-8610-5135705EC754}"/>
              </a:ext>
            </a:extLst>
          </p:cNvPr>
          <p:cNvSpPr/>
          <p:nvPr/>
        </p:nvSpPr>
        <p:spPr>
          <a:xfrm>
            <a:off x="6426198" y="5701731"/>
            <a:ext cx="153772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A3CFB2-1563-954F-8B45-C5DC0AE549C4}"/>
              </a:ext>
            </a:extLst>
          </p:cNvPr>
          <p:cNvSpPr txBox="1"/>
          <p:nvPr/>
        </p:nvSpPr>
        <p:spPr>
          <a:xfrm>
            <a:off x="1524000" y="6263397"/>
            <a:ext cx="1049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Delete</a:t>
            </a: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03704CD1-ABEC-D6F0-2882-A103F3864A21}"/>
              </a:ext>
            </a:extLst>
          </p:cNvPr>
          <p:cNvSpPr/>
          <p:nvPr/>
        </p:nvSpPr>
        <p:spPr>
          <a:xfrm>
            <a:off x="6426198" y="6320261"/>
            <a:ext cx="1537720" cy="31246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Delete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888B712-3A2D-3876-0DB0-2615397327F0}"/>
              </a:ext>
            </a:extLst>
          </p:cNvPr>
          <p:cNvCxnSpPr/>
          <p:nvPr/>
        </p:nvCxnSpPr>
        <p:spPr>
          <a:xfrm>
            <a:off x="2912533" y="4588933"/>
            <a:ext cx="3014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448EA2B-78AE-AD5C-D282-901E65CCD4D2}"/>
              </a:ext>
            </a:extLst>
          </p:cNvPr>
          <p:cNvCxnSpPr>
            <a:stCxn id="17" idx="3"/>
          </p:cNvCxnSpPr>
          <p:nvPr/>
        </p:nvCxnSpPr>
        <p:spPr>
          <a:xfrm flipV="1">
            <a:off x="2709333" y="5317067"/>
            <a:ext cx="3217334" cy="7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AF1C80A-B56A-2E8D-5A62-78FF7BB56D9C}"/>
              </a:ext>
            </a:extLst>
          </p:cNvPr>
          <p:cNvCxnSpPr/>
          <p:nvPr/>
        </p:nvCxnSpPr>
        <p:spPr>
          <a:xfrm>
            <a:off x="2709333" y="5825067"/>
            <a:ext cx="29802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14E6BA8-FDB5-D662-FC59-3A48DD694F7E}"/>
              </a:ext>
            </a:extLst>
          </p:cNvPr>
          <p:cNvCxnSpPr/>
          <p:nvPr/>
        </p:nvCxnSpPr>
        <p:spPr>
          <a:xfrm>
            <a:off x="2912533" y="6502400"/>
            <a:ext cx="3014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432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0BB1C-E620-CBED-CE7D-1E917C2AC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FastAPI Application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1CFFE3-51FC-967D-C31B-AEE1C4BA7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350" y="2194456"/>
            <a:ext cx="10033300" cy="39184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0272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43AEF-4FCD-68E4-3643-5CD928B54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Your FastAPI App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DFE5A5-4066-BB09-299D-C0E863B4F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215" y="2376753"/>
            <a:ext cx="5225786" cy="25517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FDD6A6-6482-9279-FE58-955A75F9C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851" y="2223824"/>
            <a:ext cx="4842934" cy="27576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9927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2FD5A-A049-93DD-DCD8-CA38233C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DCE56-6D7B-76BF-1044-05FB7550A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634133" cy="3880773"/>
          </a:xfrm>
        </p:spPr>
        <p:txBody>
          <a:bodyPr/>
          <a:lstStyle/>
          <a:p>
            <a:r>
              <a:rPr lang="en-US" dirty="0"/>
              <a:t>Path Parameters are request parameters which have been attached to the URL</a:t>
            </a:r>
          </a:p>
          <a:p>
            <a:endParaRPr lang="en-US" dirty="0"/>
          </a:p>
          <a:p>
            <a:r>
              <a:rPr lang="en-US" dirty="0"/>
              <a:t>Path Parameters are defined as a way to find information based on location </a:t>
            </a:r>
          </a:p>
          <a:p>
            <a:endParaRPr lang="en-US" dirty="0"/>
          </a:p>
          <a:p>
            <a:r>
              <a:rPr lang="en-US" dirty="0"/>
              <a:t>Like File system – </a:t>
            </a:r>
          </a:p>
          <a:p>
            <a:r>
              <a:rPr lang="en-US" b="1" dirty="0"/>
              <a:t>/Users/&lt;username&gt;/Documents/python/</a:t>
            </a:r>
            <a:r>
              <a:rPr lang="en-US" b="1" dirty="0" err="1"/>
              <a:t>fastapi</a:t>
            </a:r>
            <a:r>
              <a:rPr lang="en-US" b="1" dirty="0"/>
              <a:t>/section1</a:t>
            </a:r>
          </a:p>
        </p:txBody>
      </p:sp>
    </p:spTree>
    <p:extLst>
      <p:ext uri="{BB962C8B-B14F-4D97-AF65-F5344CB8AC3E}">
        <p14:creationId xmlns:p14="http://schemas.microsoft.com/office/powerpoint/2010/main" val="109639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CA458-DF02-3405-7AAF-0841E217B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 Project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5BCD36-6652-3381-08B4-8D98764C8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055" y="1695450"/>
            <a:ext cx="6753225" cy="4552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329022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97</TotalTime>
  <Words>312</Words>
  <Application>Microsoft Office PowerPoint</Application>
  <PresentationFormat>Widescreen</PresentationFormat>
  <Paragraphs>67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FASTAPI Development using Python on Cloud</vt:lpstr>
      <vt:lpstr>Overview of FASTAPI</vt:lpstr>
      <vt:lpstr>FastAPI Documentation</vt:lpstr>
      <vt:lpstr>FastAPI integration with Full Stack Architecture</vt:lpstr>
      <vt:lpstr>FastAPI Documentary</vt:lpstr>
      <vt:lpstr>Who has used FASTAPI?</vt:lpstr>
      <vt:lpstr>Installation of Dependencies </vt:lpstr>
      <vt:lpstr>Setting Up Virtual Environment</vt:lpstr>
      <vt:lpstr>HTTP Request &amp; Response</vt:lpstr>
      <vt:lpstr>Creating FastAPI Application</vt:lpstr>
      <vt:lpstr>Running Your FastAPI App</vt:lpstr>
      <vt:lpstr>Path Parameters</vt:lpstr>
      <vt:lpstr>Books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Anindita Basak</dc:creator>
  <cp:lastModifiedBy>Anindita Basak</cp:lastModifiedBy>
  <cp:revision>10</cp:revision>
  <dcterms:created xsi:type="dcterms:W3CDTF">2026-02-07T01:49:08Z</dcterms:created>
  <dcterms:modified xsi:type="dcterms:W3CDTF">2026-02-07T03:26:23Z</dcterms:modified>
</cp:coreProperties>
</file>
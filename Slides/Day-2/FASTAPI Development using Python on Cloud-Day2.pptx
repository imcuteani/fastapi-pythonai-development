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8" r:id="rId8"/>
    <p:sldId id="263" r:id="rId9"/>
    <p:sldId id="262" r:id="rId10"/>
    <p:sldId id="264" r:id="rId11"/>
    <p:sldId id="265" r:id="rId12"/>
    <p:sldId id="266" r:id="rId13"/>
    <p:sldId id="267" r:id="rId14"/>
    <p:sldId id="279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12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0DF7D1-1A6A-47BF-AE6E-87394BAACE36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932C57-5D08-4988-BE30-1BF682F2631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​Web Page</a:t>
          </a:r>
        </a:p>
      </dgm:t>
    </dgm:pt>
    <dgm:pt modelId="{D721166B-9CE9-4EB5-B741-B8B26E462BBE}" type="parTrans" cxnId="{0ACC7C23-E5C4-416B-AC34-082A4A2163AF}">
      <dgm:prSet/>
      <dgm:spPr/>
      <dgm:t>
        <a:bodyPr/>
        <a:lstStyle/>
        <a:p>
          <a:endParaRPr lang="en-US"/>
        </a:p>
      </dgm:t>
    </dgm:pt>
    <dgm:pt modelId="{9C509CED-20A1-4D46-8B2A-B9B2968BCA87}" type="sibTrans" cxnId="{0ACC7C23-E5C4-416B-AC34-082A4A2163AF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601D75B-1F2B-4FB1-BAA6-A58AFEEAE23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Full Stack Application</a:t>
          </a:r>
        </a:p>
      </dgm:t>
    </dgm:pt>
    <dgm:pt modelId="{EC7027C9-55A1-4339-90D4-876E1BA209BC}" type="parTrans" cxnId="{76D10B22-8FDA-415F-A9B0-E4795370F511}">
      <dgm:prSet/>
      <dgm:spPr/>
      <dgm:t>
        <a:bodyPr/>
        <a:lstStyle/>
        <a:p>
          <a:endParaRPr lang="en-US"/>
        </a:p>
      </dgm:t>
    </dgm:pt>
    <dgm:pt modelId="{3A489B89-BD26-49B4-B47E-6EC1738AE0C6}" type="sibTrans" cxnId="{76D10B22-8FDA-415F-A9B0-E4795370F511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1702A6A6-9B56-4224-9C3C-E3EC2224F4C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Server </a:t>
          </a:r>
        </a:p>
      </dgm:t>
    </dgm:pt>
    <dgm:pt modelId="{16DA9F8C-4B84-4523-A33D-2A4A8FEFED51}" type="parTrans" cxnId="{A2EC2A05-1086-4442-A4C1-183C8C29C472}">
      <dgm:prSet/>
      <dgm:spPr/>
      <dgm:t>
        <a:bodyPr/>
        <a:lstStyle/>
        <a:p>
          <a:endParaRPr lang="en-US"/>
        </a:p>
      </dgm:t>
    </dgm:pt>
    <dgm:pt modelId="{DDD3F83F-2D77-46D1-BF40-969C0D74C84F}" type="sibTrans" cxnId="{A2EC2A05-1086-4442-A4C1-183C8C29C472}">
      <dgm:prSet/>
      <dgm:spPr/>
      <dgm:t>
        <a:bodyPr/>
        <a:lstStyle/>
        <a:p>
          <a:endParaRPr lang="en-US"/>
        </a:p>
      </dgm:t>
    </dgm:pt>
    <dgm:pt modelId="{DA6A452F-9F1F-41A5-834E-450C20F08B6F}" type="pres">
      <dgm:prSet presAssocID="{9F0DF7D1-1A6A-47BF-AE6E-87394BAACE36}" presName="Name0" presStyleCnt="0">
        <dgm:presLayoutVars>
          <dgm:dir/>
          <dgm:resizeHandles val="exact"/>
        </dgm:presLayoutVars>
      </dgm:prSet>
      <dgm:spPr/>
    </dgm:pt>
    <dgm:pt modelId="{5AE96DE3-F777-4D59-ACD9-FE7BF8F098B2}" type="pres">
      <dgm:prSet presAssocID="{96932C57-5D08-4988-BE30-1BF682F2631F}" presName="compNode" presStyleCnt="0"/>
      <dgm:spPr/>
    </dgm:pt>
    <dgm:pt modelId="{F7B6A8FE-8866-4DA0-8D2C-E5C8768ED40E}" type="pres">
      <dgm:prSet presAssocID="{96932C57-5D08-4988-BE30-1BF682F2631F}" presName="pictRect" presStyleLbl="revTx" presStyleIdx="0" presStyleCnt="6">
        <dgm:presLayoutVars>
          <dgm:chMax val="0"/>
          <dgm:bulletEnabled/>
        </dgm:presLayoutVars>
      </dgm:prSet>
      <dgm:spPr/>
    </dgm:pt>
    <dgm:pt modelId="{5FD791FD-19B4-4156-9FA1-102913D6DD4F}" type="pres">
      <dgm:prSet presAssocID="{96932C57-5D08-4988-BE30-1BF682F2631F}" presName="textRect" presStyleLbl="revTx" presStyleIdx="1" presStyleCnt="6">
        <dgm:presLayoutVars>
          <dgm:bulletEnabled/>
        </dgm:presLayoutVars>
      </dgm:prSet>
      <dgm:spPr/>
    </dgm:pt>
    <dgm:pt modelId="{A43E97FD-BA45-4A70-9852-1C850AA99845}" type="pres">
      <dgm:prSet presAssocID="{9C509CED-20A1-4D46-8B2A-B9B2968BCA87}" presName="sibTrans" presStyleLbl="sibTrans2D1" presStyleIdx="0" presStyleCnt="0"/>
      <dgm:spPr/>
    </dgm:pt>
    <dgm:pt modelId="{DB45F48C-154F-421B-BDA2-C568F5FB5CE7}" type="pres">
      <dgm:prSet presAssocID="{B601D75B-1F2B-4FB1-BAA6-A58AFEEAE23A}" presName="compNode" presStyleCnt="0"/>
      <dgm:spPr/>
    </dgm:pt>
    <dgm:pt modelId="{2C06BDB5-05C1-4CA7-AB79-7783FA0BFEC3}" type="pres">
      <dgm:prSet presAssocID="{B601D75B-1F2B-4FB1-BAA6-A58AFEEAE23A}" presName="pictRect" presStyleLbl="revTx" presStyleIdx="2" presStyleCnt="6" custLinFactNeighborX="-30442">
        <dgm:presLayoutVars>
          <dgm:chMax val="0"/>
          <dgm:bulletEnabled/>
        </dgm:presLayoutVars>
      </dgm:prSet>
      <dgm:spPr/>
    </dgm:pt>
    <dgm:pt modelId="{6511B011-CB5D-46E3-9374-420002468170}" type="pres">
      <dgm:prSet presAssocID="{B601D75B-1F2B-4FB1-BAA6-A58AFEEAE23A}" presName="textRect" presStyleLbl="revTx" presStyleIdx="3" presStyleCnt="6">
        <dgm:presLayoutVars>
          <dgm:bulletEnabled/>
        </dgm:presLayoutVars>
      </dgm:prSet>
      <dgm:spPr/>
    </dgm:pt>
    <dgm:pt modelId="{A13773A1-7D57-419B-9E55-43D6647B107E}" type="pres">
      <dgm:prSet presAssocID="{3A489B89-BD26-49B4-B47E-6EC1738AE0C6}" presName="sibTrans" presStyleLbl="sibTrans2D1" presStyleIdx="0" presStyleCnt="0"/>
      <dgm:spPr/>
    </dgm:pt>
    <dgm:pt modelId="{B7B8378C-E0B7-4968-9952-C8A54C441CBE}" type="pres">
      <dgm:prSet presAssocID="{1702A6A6-9B56-4224-9C3C-E3EC2224F4C5}" presName="compNode" presStyleCnt="0"/>
      <dgm:spPr/>
    </dgm:pt>
    <dgm:pt modelId="{EAC6FD34-2338-4C79-88F0-71976ED77786}" type="pres">
      <dgm:prSet presAssocID="{1702A6A6-9B56-4224-9C3C-E3EC2224F4C5}" presName="pictRect" presStyleLbl="revTx" presStyleIdx="4" presStyleCnt="6">
        <dgm:presLayoutVars>
          <dgm:chMax val="0"/>
          <dgm:bulletEnabled/>
        </dgm:presLayoutVars>
      </dgm:prSet>
      <dgm:spPr/>
    </dgm:pt>
    <dgm:pt modelId="{CE79DC4C-FC39-4F3E-9DE4-A5EF8964293E}" type="pres">
      <dgm:prSet presAssocID="{1702A6A6-9B56-4224-9C3C-E3EC2224F4C5}" presName="textRect" presStyleLbl="revTx" presStyleIdx="5" presStyleCnt="6">
        <dgm:presLayoutVars>
          <dgm:bulletEnabled/>
        </dgm:presLayoutVars>
      </dgm:prSet>
      <dgm:spPr/>
    </dgm:pt>
  </dgm:ptLst>
  <dgm:cxnLst>
    <dgm:cxn modelId="{A2EC2A05-1086-4442-A4C1-183C8C29C472}" srcId="{9F0DF7D1-1A6A-47BF-AE6E-87394BAACE36}" destId="{1702A6A6-9B56-4224-9C3C-E3EC2224F4C5}" srcOrd="2" destOrd="0" parTransId="{16DA9F8C-4B84-4523-A33D-2A4A8FEFED51}" sibTransId="{DDD3F83F-2D77-46D1-BF40-969C0D74C84F}"/>
    <dgm:cxn modelId="{10181516-2820-4103-B926-7C18D282DAE6}" type="presOf" srcId="{96932C57-5D08-4988-BE30-1BF682F2631F}" destId="{F7B6A8FE-8866-4DA0-8D2C-E5C8768ED40E}" srcOrd="0" destOrd="0" presId="urn:microsoft.com/office/officeart/2024/3/layout/hArchList1"/>
    <dgm:cxn modelId="{76D10B22-8FDA-415F-A9B0-E4795370F511}" srcId="{9F0DF7D1-1A6A-47BF-AE6E-87394BAACE36}" destId="{B601D75B-1F2B-4FB1-BAA6-A58AFEEAE23A}" srcOrd="1" destOrd="0" parTransId="{EC7027C9-55A1-4339-90D4-876E1BA209BC}" sibTransId="{3A489B89-BD26-49B4-B47E-6EC1738AE0C6}"/>
    <dgm:cxn modelId="{0ACC7C23-E5C4-416B-AC34-082A4A2163AF}" srcId="{9F0DF7D1-1A6A-47BF-AE6E-87394BAACE36}" destId="{96932C57-5D08-4988-BE30-1BF682F2631F}" srcOrd="0" destOrd="0" parTransId="{D721166B-9CE9-4EB5-B741-B8B26E462BBE}" sibTransId="{9C509CED-20A1-4D46-8B2A-B9B2968BCA87}"/>
    <dgm:cxn modelId="{182DDA2C-A010-4C21-A3D7-1A81B210F587}" type="presOf" srcId="{3A489B89-BD26-49B4-B47E-6EC1738AE0C6}" destId="{A13773A1-7D57-419B-9E55-43D6647B107E}" srcOrd="0" destOrd="0" presId="urn:microsoft.com/office/officeart/2024/3/layout/hArchList1"/>
    <dgm:cxn modelId="{4AC90F60-F8EB-4C26-976B-02A572809A19}" type="presOf" srcId="{1702A6A6-9B56-4224-9C3C-E3EC2224F4C5}" destId="{EAC6FD34-2338-4C79-88F0-71976ED77786}" srcOrd="0" destOrd="0" presId="urn:microsoft.com/office/officeart/2024/3/layout/hArchList1"/>
    <dgm:cxn modelId="{020DD874-9481-42B4-97A8-52419BC42695}" type="presOf" srcId="{B601D75B-1F2B-4FB1-BAA6-A58AFEEAE23A}" destId="{2C06BDB5-05C1-4CA7-AB79-7783FA0BFEC3}" srcOrd="0" destOrd="0" presId="urn:microsoft.com/office/officeart/2024/3/layout/hArchList1"/>
    <dgm:cxn modelId="{21F79CDC-BADE-4219-B94D-2DE61854BF4C}" type="presOf" srcId="{9F0DF7D1-1A6A-47BF-AE6E-87394BAACE36}" destId="{DA6A452F-9F1F-41A5-834E-450C20F08B6F}" srcOrd="0" destOrd="0" presId="urn:microsoft.com/office/officeart/2024/3/layout/hArchList1"/>
    <dgm:cxn modelId="{C89103E1-A7D6-41D1-84A1-72BA372A538F}" type="presOf" srcId="{9C509CED-20A1-4D46-8B2A-B9B2968BCA87}" destId="{A43E97FD-BA45-4A70-9852-1C850AA99845}" srcOrd="0" destOrd="0" presId="urn:microsoft.com/office/officeart/2024/3/layout/hArchList1"/>
    <dgm:cxn modelId="{18627E33-9CEB-4F99-846B-90BF410C5E8E}" type="presParOf" srcId="{DA6A452F-9F1F-41A5-834E-450C20F08B6F}" destId="{5AE96DE3-F777-4D59-ACD9-FE7BF8F098B2}" srcOrd="0" destOrd="0" presId="urn:microsoft.com/office/officeart/2024/3/layout/hArchList1"/>
    <dgm:cxn modelId="{55C2B0B3-B9FC-4D47-9009-BAB4F56AC7FB}" type="presParOf" srcId="{5AE96DE3-F777-4D59-ACD9-FE7BF8F098B2}" destId="{F7B6A8FE-8866-4DA0-8D2C-E5C8768ED40E}" srcOrd="0" destOrd="0" presId="urn:microsoft.com/office/officeart/2024/3/layout/hArchList1"/>
    <dgm:cxn modelId="{92D04728-4264-4153-B40E-4472DCD4FC7C}" type="presParOf" srcId="{5AE96DE3-F777-4D59-ACD9-FE7BF8F098B2}" destId="{5FD791FD-19B4-4156-9FA1-102913D6DD4F}" srcOrd="1" destOrd="0" presId="urn:microsoft.com/office/officeart/2024/3/layout/hArchList1"/>
    <dgm:cxn modelId="{C8470ED3-5126-45B1-8560-E5DC04F04990}" type="presParOf" srcId="{DA6A452F-9F1F-41A5-834E-450C20F08B6F}" destId="{A43E97FD-BA45-4A70-9852-1C850AA99845}" srcOrd="1" destOrd="0" presId="urn:microsoft.com/office/officeart/2024/3/layout/hArchList1"/>
    <dgm:cxn modelId="{73A6235F-0972-42D8-8102-6121535F4DDA}" type="presParOf" srcId="{DA6A452F-9F1F-41A5-834E-450C20F08B6F}" destId="{DB45F48C-154F-421B-BDA2-C568F5FB5CE7}" srcOrd="2" destOrd="0" presId="urn:microsoft.com/office/officeart/2024/3/layout/hArchList1"/>
    <dgm:cxn modelId="{648FF8A5-FED4-43F4-81C0-95BA32D95DF4}" type="presParOf" srcId="{DB45F48C-154F-421B-BDA2-C568F5FB5CE7}" destId="{2C06BDB5-05C1-4CA7-AB79-7783FA0BFEC3}" srcOrd="0" destOrd="0" presId="urn:microsoft.com/office/officeart/2024/3/layout/hArchList1"/>
    <dgm:cxn modelId="{CBA74A4C-6942-4B19-866A-A5EC97F40E68}" type="presParOf" srcId="{DB45F48C-154F-421B-BDA2-C568F5FB5CE7}" destId="{6511B011-CB5D-46E3-9374-420002468170}" srcOrd="1" destOrd="0" presId="urn:microsoft.com/office/officeart/2024/3/layout/hArchList1"/>
    <dgm:cxn modelId="{1AE972F5-D630-491F-8E20-632ABA6D2B19}" type="presParOf" srcId="{DA6A452F-9F1F-41A5-834E-450C20F08B6F}" destId="{A13773A1-7D57-419B-9E55-43D6647B107E}" srcOrd="3" destOrd="0" presId="urn:microsoft.com/office/officeart/2024/3/layout/hArchList1"/>
    <dgm:cxn modelId="{E577271D-791D-4BA1-9155-A9A90C6F8AD2}" type="presParOf" srcId="{DA6A452F-9F1F-41A5-834E-450C20F08B6F}" destId="{B7B8378C-E0B7-4968-9952-C8A54C441CBE}" srcOrd="4" destOrd="0" presId="urn:microsoft.com/office/officeart/2024/3/layout/hArchList1"/>
    <dgm:cxn modelId="{A6B64221-C7AE-4E34-B9E0-26F8467B88C4}" type="presParOf" srcId="{B7B8378C-E0B7-4968-9952-C8A54C441CBE}" destId="{EAC6FD34-2338-4C79-88F0-71976ED77786}" srcOrd="0" destOrd="0" presId="urn:microsoft.com/office/officeart/2024/3/layout/hArchList1"/>
    <dgm:cxn modelId="{BD3B5DAE-B6D0-4DDB-B05F-B1DEA4F0E9B1}" type="presParOf" srcId="{B7B8378C-E0B7-4968-9952-C8A54C441CBE}" destId="{CE79DC4C-FC39-4F3E-9DE4-A5EF8964293E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B6A8FE-8866-4DA0-8D2C-E5C8768ED40E}">
      <dsp:nvSpPr>
        <dsp:cNvPr id="0" name=""/>
        <dsp:cNvSpPr/>
      </dsp:nvSpPr>
      <dsp:spPr>
        <a:xfrm>
          <a:off x="0" y="0"/>
          <a:ext cx="2686458" cy="3382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​Web Page</a:t>
          </a:r>
        </a:p>
      </dsp:txBody>
      <dsp:txXfrm>
        <a:off x="0" y="0"/>
        <a:ext cx="2686458" cy="338252"/>
      </dsp:txXfrm>
    </dsp:sp>
    <dsp:sp modelId="{5FD791FD-19B4-4156-9FA1-102913D6DD4F}">
      <dsp:nvSpPr>
        <dsp:cNvPr id="0" name=""/>
        <dsp:cNvSpPr/>
      </dsp:nvSpPr>
      <dsp:spPr>
        <a:xfrm>
          <a:off x="0" y="338252"/>
          <a:ext cx="2686458" cy="982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06BDB5-05C1-4CA7-AB79-7783FA0BFEC3}">
      <dsp:nvSpPr>
        <dsp:cNvPr id="0" name=""/>
        <dsp:cNvSpPr/>
      </dsp:nvSpPr>
      <dsp:spPr>
        <a:xfrm>
          <a:off x="2137292" y="0"/>
          <a:ext cx="2686458" cy="3382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Full Stack Application</a:t>
          </a:r>
        </a:p>
      </dsp:txBody>
      <dsp:txXfrm>
        <a:off x="2137292" y="0"/>
        <a:ext cx="2686458" cy="338252"/>
      </dsp:txXfrm>
    </dsp:sp>
    <dsp:sp modelId="{6511B011-CB5D-46E3-9374-420002468170}">
      <dsp:nvSpPr>
        <dsp:cNvPr id="0" name=""/>
        <dsp:cNvSpPr/>
      </dsp:nvSpPr>
      <dsp:spPr>
        <a:xfrm>
          <a:off x="2955104" y="338252"/>
          <a:ext cx="2686458" cy="982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C6FD34-2338-4C79-88F0-71976ED77786}">
      <dsp:nvSpPr>
        <dsp:cNvPr id="0" name=""/>
        <dsp:cNvSpPr/>
      </dsp:nvSpPr>
      <dsp:spPr>
        <a:xfrm>
          <a:off x="5910209" y="0"/>
          <a:ext cx="2686458" cy="3382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Server </a:t>
          </a:r>
        </a:p>
      </dsp:txBody>
      <dsp:txXfrm>
        <a:off x="5910209" y="0"/>
        <a:ext cx="2686458" cy="338252"/>
      </dsp:txXfrm>
    </dsp:sp>
    <dsp:sp modelId="{CE79DC4C-FC39-4F3E-9DE4-A5EF8964293E}">
      <dsp:nvSpPr>
        <dsp:cNvPr id="0" name=""/>
        <dsp:cNvSpPr/>
      </dsp:nvSpPr>
      <dsp:spPr>
        <a:xfrm>
          <a:off x="5910209" y="338252"/>
          <a:ext cx="2686458" cy="982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538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183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814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61480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922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4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6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174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7612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367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7354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84568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190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6626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27643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C4689-B28D-4D3C-8B05-9ABB967E2A3E}" type="datetime1">
              <a:rPr lang="en-US" smtClean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2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fastapi.tiangolo.com/virtual-environment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F658F-8D2B-6D3F-1510-352DFF3B9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 fontScale="90000"/>
          </a:bodyPr>
          <a:lstStyle/>
          <a:p>
            <a:r>
              <a:rPr lang="en-US" dirty="0"/>
              <a:t>FASTAPI Development using Python on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1C9E5-7ED4-7426-203C-4C5CA8872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FastAPI with Agentic AI on Cloud</a:t>
            </a:r>
          </a:p>
        </p:txBody>
      </p:sp>
    </p:spTree>
    <p:extLst>
      <p:ext uri="{BB962C8B-B14F-4D97-AF65-F5344CB8AC3E}">
        <p14:creationId xmlns:p14="http://schemas.microsoft.com/office/powerpoint/2010/main" val="56856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148847-CC2F-95E7-48C0-CAC990A5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</a:t>
            </a:r>
            <a:r>
              <a:rPr lang="en-US" dirty="0" err="1"/>
              <a:t>Pydantics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A17889-A9F4-5B15-8846-E72483C5F3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771466" cy="3880772"/>
          </a:xfrm>
        </p:spPr>
        <p:txBody>
          <a:bodyPr/>
          <a:lstStyle/>
          <a:p>
            <a:r>
              <a:rPr lang="en-US" dirty="0"/>
              <a:t>Python library used for data modelling , data parsing and has efficient error handling. </a:t>
            </a:r>
          </a:p>
          <a:p>
            <a:endParaRPr lang="en-US" dirty="0"/>
          </a:p>
          <a:p>
            <a:r>
              <a:rPr lang="en-US" dirty="0" err="1"/>
              <a:t>Pydantics</a:t>
            </a:r>
            <a:r>
              <a:rPr lang="en-US" dirty="0"/>
              <a:t> commonly used as a resource for data validation and how to handle data coming to </a:t>
            </a:r>
            <a:r>
              <a:rPr lang="en-US" dirty="0" err="1"/>
              <a:t>FastAPI</a:t>
            </a:r>
            <a:r>
              <a:rPr lang="en-US" dirty="0"/>
              <a:t> application. </a:t>
            </a:r>
          </a:p>
        </p:txBody>
      </p:sp>
    </p:spTree>
    <p:extLst>
      <p:ext uri="{BB962C8B-B14F-4D97-AF65-F5344CB8AC3E}">
        <p14:creationId xmlns:p14="http://schemas.microsoft.com/office/powerpoint/2010/main" val="189395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FD47-CAE6-C096-D8D3-EB919B13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Pydantic</a:t>
            </a:r>
            <a:r>
              <a:rPr lang="en-US" dirty="0"/>
              <a:t>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87560-C935-8368-2D2D-9782F3FA8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10143066" cy="3880772"/>
          </a:xfrm>
        </p:spPr>
        <p:txBody>
          <a:bodyPr/>
          <a:lstStyle/>
          <a:p>
            <a:r>
              <a:rPr lang="en-US" dirty="0"/>
              <a:t>Powered by type hints – with </a:t>
            </a:r>
            <a:r>
              <a:rPr lang="en-US" dirty="0" err="1"/>
              <a:t>Pydantics</a:t>
            </a:r>
            <a:r>
              <a:rPr lang="en-US" dirty="0"/>
              <a:t>, schema validation, serialization are controlled by type annotations. </a:t>
            </a:r>
          </a:p>
          <a:p>
            <a:r>
              <a:rPr lang="en-US" b="1" dirty="0"/>
              <a:t>Fast –</a:t>
            </a:r>
            <a:r>
              <a:rPr lang="en-US" b="1" dirty="0" err="1"/>
              <a:t>Pydantics</a:t>
            </a:r>
            <a:r>
              <a:rPr lang="en-US" b="1" dirty="0"/>
              <a:t> core validation is written in Rust. </a:t>
            </a:r>
            <a:r>
              <a:rPr lang="en-US" dirty="0"/>
              <a:t>One of the fastest data validation library in Python. </a:t>
            </a:r>
          </a:p>
          <a:p>
            <a:r>
              <a:rPr lang="en-US" b="1" dirty="0"/>
              <a:t>Json Schema-</a:t>
            </a:r>
            <a:r>
              <a:rPr lang="en-US" dirty="0"/>
              <a:t> </a:t>
            </a:r>
            <a:r>
              <a:rPr lang="en-US" dirty="0" err="1"/>
              <a:t>Pydantic</a:t>
            </a:r>
            <a:r>
              <a:rPr lang="en-US" dirty="0"/>
              <a:t> model emits JSON schema allowing for easy integration</a:t>
            </a:r>
          </a:p>
          <a:p>
            <a:r>
              <a:rPr lang="en-US" b="1" dirty="0" err="1"/>
              <a:t>DataClasses</a:t>
            </a:r>
            <a:r>
              <a:rPr lang="en-US" b="1" dirty="0"/>
              <a:t> – </a:t>
            </a:r>
            <a:r>
              <a:rPr lang="en-US" dirty="0" err="1"/>
              <a:t>Pydantic</a:t>
            </a:r>
            <a:r>
              <a:rPr lang="en-US" dirty="0"/>
              <a:t> supports validation of many standard libraries like </a:t>
            </a:r>
            <a:r>
              <a:rPr lang="en-US" dirty="0" err="1"/>
              <a:t>dataclass</a:t>
            </a:r>
            <a:r>
              <a:rPr lang="en-US" dirty="0"/>
              <a:t> and </a:t>
            </a:r>
            <a:r>
              <a:rPr lang="en-US" dirty="0" err="1"/>
              <a:t>typedDict</a:t>
            </a:r>
            <a:endParaRPr lang="en-US" dirty="0"/>
          </a:p>
          <a:p>
            <a:r>
              <a:rPr lang="en-US" b="1" dirty="0"/>
              <a:t>Customization </a:t>
            </a:r>
            <a:r>
              <a:rPr lang="en-US" dirty="0"/>
              <a:t>– Allows custom validators and serializers to alter how data is processed. </a:t>
            </a:r>
          </a:p>
          <a:p>
            <a:r>
              <a:rPr lang="en-US" b="1" dirty="0"/>
              <a:t>Ecosystem</a:t>
            </a:r>
            <a:r>
              <a:rPr lang="en-US" dirty="0"/>
              <a:t> –Around 8000 packages on </a:t>
            </a:r>
            <a:r>
              <a:rPr lang="en-US" dirty="0" err="1"/>
              <a:t>PyPI</a:t>
            </a:r>
            <a:r>
              <a:rPr lang="en-US" dirty="0"/>
              <a:t> uses </a:t>
            </a:r>
            <a:r>
              <a:rPr lang="en-US" dirty="0" err="1"/>
              <a:t>Pydantic</a:t>
            </a:r>
            <a:r>
              <a:rPr lang="en-US" dirty="0"/>
              <a:t> &amp; massively popular over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Huggingface</a:t>
            </a:r>
            <a:r>
              <a:rPr lang="en-US" dirty="0"/>
              <a:t>, </a:t>
            </a:r>
            <a:r>
              <a:rPr lang="en-US" dirty="0" err="1"/>
              <a:t>FastAPI</a:t>
            </a:r>
            <a:r>
              <a:rPr lang="en-US" dirty="0"/>
              <a:t>, </a:t>
            </a:r>
            <a:r>
              <a:rPr lang="en-US" dirty="0" err="1"/>
              <a:t>SQLModel</a:t>
            </a:r>
            <a:r>
              <a:rPr lang="en-US" dirty="0"/>
              <a:t> etc.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83B46E-4B9D-41E7-AEA4-D49D0E7D8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96A8005-E9F4-4EB9-8920-B40570B4A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635935-0E19-45AE-833C-28B82B087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F51BFFB-86E2-4C0F-A3E6-9EB854CA4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C377650-A34B-4F5C-9CF6-357C1AE1A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EDFD6E0-0A92-4B6A-8B1C-6DD83E629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1D08E0A-48F2-475F-933A-7D65C5B04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3F7D684-BFDD-4685-8195-32F1ABE31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4A0E8712-3D59-4F13-9FD3-F8889E3C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99F7967-C64D-482A-A1B6-896D7EC22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7CE53433-52BD-4F44-80A5-B57F4B53A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48049AD-9827-49E8-8BF5-32E175C8E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A99CFD-13BA-4D43-8274-E720ACDBE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46D58D6-64B0-4752-8159-24114F47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C16801F7-F15E-4355-8767-26487BA8B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5">
              <a:extLst>
                <a:ext uri="{FF2B5EF4-FFF2-40B4-BE49-F238E27FC236}">
                  <a16:creationId xmlns:a16="http://schemas.microsoft.com/office/drawing/2014/main" id="{14FF0578-E224-4225-8396-B99D4881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4642C0E0-9644-41F1-8CF3-33779AA8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5F77D9D3-628A-4607-B307-91AAA5603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0600759E-C22E-4F3D-8569-0DE8F1D4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9A4E951D-EAB0-4F6B-84AE-B5B25684F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B953BEA8-1B45-419E-BACD-49DB8888B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72B7FA08-1FF3-4AED-B4E9-587D81D6B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5FBFB4-B885-D5A7-67F3-03379720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0634133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HTTP Status Codes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EBF7483E-8BF3-6993-9CD9-DEB40DB355E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39225190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2009658" y="2367628"/>
          <a:ext cx="8596668" cy="1320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2C6C7CA-77E5-916D-83DA-212AD00170EE}"/>
              </a:ext>
            </a:extLst>
          </p:cNvPr>
          <p:cNvSpPr/>
          <p:nvPr/>
        </p:nvSpPr>
        <p:spPr>
          <a:xfrm>
            <a:off x="7806267" y="1676400"/>
            <a:ext cx="1372035" cy="49106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FastAPI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D03236-97E5-FF39-EDB3-3986CFE31A7B}"/>
              </a:ext>
            </a:extLst>
          </p:cNvPr>
          <p:cNvCxnSpPr/>
          <p:nvPr/>
        </p:nvCxnSpPr>
        <p:spPr>
          <a:xfrm>
            <a:off x="3454400" y="2590800"/>
            <a:ext cx="76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F1FB80-9A2F-ECFD-D9CF-512D1043A743}"/>
              </a:ext>
            </a:extLst>
          </p:cNvPr>
          <p:cNvCxnSpPr/>
          <p:nvPr/>
        </p:nvCxnSpPr>
        <p:spPr>
          <a:xfrm>
            <a:off x="6824133" y="2590800"/>
            <a:ext cx="11345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07829DC-6149-954E-1702-CFBDEA863943}"/>
              </a:ext>
            </a:extLst>
          </p:cNvPr>
          <p:cNvSpPr txBox="1"/>
          <p:nvPr/>
        </p:nvSpPr>
        <p:spPr>
          <a:xfrm>
            <a:off x="1522268" y="3350749"/>
            <a:ext cx="978919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HTTP Status Code is used to help the Client to understand what happened on the Server side application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Status Codes are international standards on how a Client/Server should handle the result of a request.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allows everyone who sends a request to know if their submission is successful or not. </a:t>
            </a:r>
          </a:p>
        </p:txBody>
      </p:sp>
    </p:spTree>
    <p:extLst>
      <p:ext uri="{BB962C8B-B14F-4D97-AF65-F5344CB8AC3E}">
        <p14:creationId xmlns:p14="http://schemas.microsoft.com/office/powerpoint/2010/main" val="15647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66557-E426-2E4D-B4E0-0F6385CB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6534"/>
            <a:ext cx="8596668" cy="1320800"/>
          </a:xfrm>
        </p:spPr>
        <p:txBody>
          <a:bodyPr/>
          <a:lstStyle/>
          <a:p>
            <a:r>
              <a:rPr lang="en-US" dirty="0"/>
              <a:t>Status Codes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B2736C-B7D6-5590-1260-2C7DCC194B66}"/>
              </a:ext>
            </a:extLst>
          </p:cNvPr>
          <p:cNvSpPr/>
          <p:nvPr/>
        </p:nvSpPr>
        <p:spPr>
          <a:xfrm>
            <a:off x="812800" y="1456268"/>
            <a:ext cx="1727200" cy="795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1xx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A5DFC6-FA39-9620-EEDF-D447B442FB7F}"/>
              </a:ext>
            </a:extLst>
          </p:cNvPr>
          <p:cNvSpPr txBox="1"/>
          <p:nvPr/>
        </p:nvSpPr>
        <p:spPr>
          <a:xfrm>
            <a:off x="3776131" y="1613472"/>
            <a:ext cx="628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Information Response: Request Processing.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F09033-F71A-1B58-0A8D-174C20A6283D}"/>
              </a:ext>
            </a:extLst>
          </p:cNvPr>
          <p:cNvSpPr/>
          <p:nvPr/>
        </p:nvSpPr>
        <p:spPr>
          <a:xfrm>
            <a:off x="812800" y="2556933"/>
            <a:ext cx="1727200" cy="795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2xx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CFE40B-CCB4-B6D4-DE25-7B6F9C78E2D0}"/>
              </a:ext>
            </a:extLst>
          </p:cNvPr>
          <p:cNvSpPr/>
          <p:nvPr/>
        </p:nvSpPr>
        <p:spPr>
          <a:xfrm>
            <a:off x="812800" y="3708402"/>
            <a:ext cx="1727200" cy="795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3xx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2435DB-2C49-E88F-63FA-8FF3340A0081}"/>
              </a:ext>
            </a:extLst>
          </p:cNvPr>
          <p:cNvSpPr/>
          <p:nvPr/>
        </p:nvSpPr>
        <p:spPr>
          <a:xfrm>
            <a:off x="812800" y="4724400"/>
            <a:ext cx="1727200" cy="795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4xx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F6156D-D18F-9D0B-0109-B4953E979428}"/>
              </a:ext>
            </a:extLst>
          </p:cNvPr>
          <p:cNvSpPr/>
          <p:nvPr/>
        </p:nvSpPr>
        <p:spPr>
          <a:xfrm>
            <a:off x="812800" y="5833533"/>
            <a:ext cx="1727200" cy="795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5xx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C074E-5F08-03D3-0FBE-2D22C7B8B405}"/>
              </a:ext>
            </a:extLst>
          </p:cNvPr>
          <p:cNvSpPr txBox="1"/>
          <p:nvPr/>
        </p:nvSpPr>
        <p:spPr>
          <a:xfrm>
            <a:off x="3776133" y="2675467"/>
            <a:ext cx="4995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Success: Request Successfully 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5DEC54-8CD9-D55B-7913-E263127222B2}"/>
              </a:ext>
            </a:extLst>
          </p:cNvPr>
          <p:cNvSpPr txBox="1"/>
          <p:nvPr/>
        </p:nvSpPr>
        <p:spPr>
          <a:xfrm>
            <a:off x="3776131" y="3896268"/>
            <a:ext cx="628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Redirection: Further action must be complete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D9D4C6-2911-7A61-7783-539C70A8CD88}"/>
              </a:ext>
            </a:extLst>
          </p:cNvPr>
          <p:cNvSpPr txBox="1"/>
          <p:nvPr/>
        </p:nvSpPr>
        <p:spPr>
          <a:xfrm>
            <a:off x="3666066" y="4932403"/>
            <a:ext cx="5215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Errors: An Error was caused by the Client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495217-33B4-AF44-9BDB-F711CDDE589E}"/>
              </a:ext>
            </a:extLst>
          </p:cNvPr>
          <p:cNvSpPr txBox="1"/>
          <p:nvPr/>
        </p:nvSpPr>
        <p:spPr>
          <a:xfrm>
            <a:off x="3776133" y="6011333"/>
            <a:ext cx="4995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Server Errors: An error occurred on the server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EF96B71-BB6B-3B87-7F31-7C9F0824708B}"/>
              </a:ext>
            </a:extLst>
          </p:cNvPr>
          <p:cNvCxnSpPr/>
          <p:nvPr/>
        </p:nvCxnSpPr>
        <p:spPr>
          <a:xfrm>
            <a:off x="2794000" y="1854201"/>
            <a:ext cx="829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81A0A8-D840-55DA-7364-E6942EEE9904}"/>
              </a:ext>
            </a:extLst>
          </p:cNvPr>
          <p:cNvCxnSpPr/>
          <p:nvPr/>
        </p:nvCxnSpPr>
        <p:spPr>
          <a:xfrm>
            <a:off x="2717799" y="2868601"/>
            <a:ext cx="829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B80295-791E-3F86-5AD9-0450C8395689}"/>
              </a:ext>
            </a:extLst>
          </p:cNvPr>
          <p:cNvCxnSpPr/>
          <p:nvPr/>
        </p:nvCxnSpPr>
        <p:spPr>
          <a:xfrm>
            <a:off x="2650066" y="4064003"/>
            <a:ext cx="829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3B1A09-C02E-DD5E-458F-D8398B8805BF}"/>
              </a:ext>
            </a:extLst>
          </p:cNvPr>
          <p:cNvCxnSpPr/>
          <p:nvPr/>
        </p:nvCxnSpPr>
        <p:spPr>
          <a:xfrm>
            <a:off x="2675465" y="5122333"/>
            <a:ext cx="829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0B7035-9D93-C834-4A05-F9964B80C597}"/>
              </a:ext>
            </a:extLst>
          </p:cNvPr>
          <p:cNvCxnSpPr/>
          <p:nvPr/>
        </p:nvCxnSpPr>
        <p:spPr>
          <a:xfrm>
            <a:off x="2675465" y="6170600"/>
            <a:ext cx="829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991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7E7B4-33CE-1211-9B63-C642E7495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2xx Successful Status Codes: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434AB1-A15D-9A4D-E583-C1D86448EB9F}"/>
              </a:ext>
            </a:extLst>
          </p:cNvPr>
          <p:cNvSpPr/>
          <p:nvPr/>
        </p:nvSpPr>
        <p:spPr>
          <a:xfrm>
            <a:off x="914400" y="1794933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200: 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4FC9-8395-DB05-9712-7B53B73C89B5}"/>
              </a:ext>
            </a:extLst>
          </p:cNvPr>
          <p:cNvSpPr/>
          <p:nvPr/>
        </p:nvSpPr>
        <p:spPr>
          <a:xfrm>
            <a:off x="914400" y="3302000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0467C2-0C3A-D122-A1F4-743CB485A7DC}"/>
              </a:ext>
            </a:extLst>
          </p:cNvPr>
          <p:cNvSpPr/>
          <p:nvPr/>
        </p:nvSpPr>
        <p:spPr>
          <a:xfrm>
            <a:off x="914400" y="4809067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204: No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CC0DD1-C47C-AC04-6215-BD97708E1B23}"/>
              </a:ext>
            </a:extLst>
          </p:cNvPr>
          <p:cNvSpPr txBox="1"/>
          <p:nvPr/>
        </p:nvSpPr>
        <p:spPr>
          <a:xfrm>
            <a:off x="3996266" y="1930400"/>
            <a:ext cx="660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response for a successful request. Commonly used for successful Get requests when data is being returned.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A7E504-012C-FBC3-8851-4208528C79BE}"/>
              </a:ext>
            </a:extLst>
          </p:cNvPr>
          <p:cNvSpPr txBox="1"/>
          <p:nvPr/>
        </p:nvSpPr>
        <p:spPr>
          <a:xfrm>
            <a:off x="3996266" y="3302000"/>
            <a:ext cx="5943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request has been successful. Creating a new resource. Used when a POST creates an entity.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62D1E-3366-EB4C-3389-63B8B68E9DBE}"/>
              </a:ext>
            </a:extLst>
          </p:cNvPr>
          <p:cNvSpPr txBox="1"/>
          <p:nvPr/>
        </p:nvSpPr>
        <p:spPr>
          <a:xfrm>
            <a:off x="3996266" y="4978400"/>
            <a:ext cx="6163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request has been successful, did not create an entity nor return anything. Used mainly with PUT request.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BF72F0-D9D7-6940-758F-6236280017AC}"/>
              </a:ext>
            </a:extLst>
          </p:cNvPr>
          <p:cNvCxnSpPr>
            <a:endCxn id="8" idx="1"/>
          </p:cNvCxnSpPr>
          <p:nvPr/>
        </p:nvCxnSpPr>
        <p:spPr>
          <a:xfrm>
            <a:off x="2827867" y="2235200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860829-235D-A581-4D0A-5DD897089A5D}"/>
              </a:ext>
            </a:extLst>
          </p:cNvPr>
          <p:cNvCxnSpPr/>
          <p:nvPr/>
        </p:nvCxnSpPr>
        <p:spPr>
          <a:xfrm>
            <a:off x="2827867" y="3691467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D55E19-1A0C-88B1-CAB9-B7A53B52578D}"/>
              </a:ext>
            </a:extLst>
          </p:cNvPr>
          <p:cNvCxnSpPr/>
          <p:nvPr/>
        </p:nvCxnSpPr>
        <p:spPr>
          <a:xfrm>
            <a:off x="2827867" y="5215467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264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04DE3-87D9-2E43-BAEA-839BC927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4CFCD-FA12-481E-BB68-075B25D47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4xx Client Errors Status Codes: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FCD781-1081-7E2F-9F0D-5CE5DFC63B0A}"/>
              </a:ext>
            </a:extLst>
          </p:cNvPr>
          <p:cNvSpPr/>
          <p:nvPr/>
        </p:nvSpPr>
        <p:spPr>
          <a:xfrm>
            <a:off x="914400" y="1794933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400: Bad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6D965B-A784-31A7-90C8-CCC2CFA546D4}"/>
              </a:ext>
            </a:extLst>
          </p:cNvPr>
          <p:cNvSpPr/>
          <p:nvPr/>
        </p:nvSpPr>
        <p:spPr>
          <a:xfrm>
            <a:off x="914400" y="3302000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401: Unauthorized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A30212-8D5D-DCA7-CA7B-3A324DBCEB91}"/>
              </a:ext>
            </a:extLst>
          </p:cNvPr>
          <p:cNvSpPr/>
          <p:nvPr/>
        </p:nvSpPr>
        <p:spPr>
          <a:xfrm>
            <a:off x="914400" y="4688932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404: Not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C44C5C-8AA3-46D3-BDCE-314BCC3DD4F1}"/>
              </a:ext>
            </a:extLst>
          </p:cNvPr>
          <p:cNvSpPr txBox="1"/>
          <p:nvPr/>
        </p:nvSpPr>
        <p:spPr>
          <a:xfrm>
            <a:off x="3996266" y="1930400"/>
            <a:ext cx="660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Can’t process request due to client error. Commonly used for invalid request methods.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7218F-1D74-91D1-DF7A-72C49A842308}"/>
              </a:ext>
            </a:extLst>
          </p:cNvPr>
          <p:cNvSpPr txBox="1"/>
          <p:nvPr/>
        </p:nvSpPr>
        <p:spPr>
          <a:xfrm>
            <a:off x="3996266" y="3302000"/>
            <a:ext cx="5943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does not have valid authentication for target resource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24FA1-DCC2-ED0E-87DC-968BF78316AB}"/>
              </a:ext>
            </a:extLst>
          </p:cNvPr>
          <p:cNvSpPr txBox="1"/>
          <p:nvPr/>
        </p:nvSpPr>
        <p:spPr>
          <a:xfrm>
            <a:off x="3996266" y="4978400"/>
            <a:ext cx="616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clients requested resource can’t be found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DAED37A-91A8-5186-14AC-DF7949224DBD}"/>
              </a:ext>
            </a:extLst>
          </p:cNvPr>
          <p:cNvCxnSpPr>
            <a:endCxn id="8" idx="1"/>
          </p:cNvCxnSpPr>
          <p:nvPr/>
        </p:nvCxnSpPr>
        <p:spPr>
          <a:xfrm>
            <a:off x="2827867" y="2235200"/>
            <a:ext cx="1168399" cy="18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E6B3634-FF44-E36F-DAF6-40998905CE12}"/>
              </a:ext>
            </a:extLst>
          </p:cNvPr>
          <p:cNvCxnSpPr/>
          <p:nvPr/>
        </p:nvCxnSpPr>
        <p:spPr>
          <a:xfrm>
            <a:off x="2827867" y="3691467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AED8B67-7D6A-CFE2-4B17-7A1F5199D645}"/>
              </a:ext>
            </a:extLst>
          </p:cNvPr>
          <p:cNvCxnSpPr/>
          <p:nvPr/>
        </p:nvCxnSpPr>
        <p:spPr>
          <a:xfrm>
            <a:off x="2827867" y="5215467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F623687-3983-A47E-9D09-7D914CD5D6CB}"/>
              </a:ext>
            </a:extLst>
          </p:cNvPr>
          <p:cNvSpPr/>
          <p:nvPr/>
        </p:nvSpPr>
        <p:spPr>
          <a:xfrm>
            <a:off x="914400" y="5808133"/>
            <a:ext cx="1778000" cy="948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422: Unprocessable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638A5-955A-9D15-D1C3-1608B604EC84}"/>
              </a:ext>
            </a:extLst>
          </p:cNvPr>
          <p:cNvSpPr txBox="1"/>
          <p:nvPr/>
        </p:nvSpPr>
        <p:spPr>
          <a:xfrm>
            <a:off x="4182533" y="6062133"/>
            <a:ext cx="475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Semantic Errors in Client Request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0CFBF0-3C01-5D81-1362-B9906B3A5377}"/>
              </a:ext>
            </a:extLst>
          </p:cNvPr>
          <p:cNvCxnSpPr/>
          <p:nvPr/>
        </p:nvCxnSpPr>
        <p:spPr>
          <a:xfrm>
            <a:off x="2827867" y="6248400"/>
            <a:ext cx="1049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738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DB10-2400-E155-F149-BCB74B7B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5xx Server Error Status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63B9C-FF62-E4A2-0B9D-6E0E83A9E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200399" cy="3880773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995D74-1B95-6EB3-1650-5FEF18283D30}"/>
              </a:ext>
            </a:extLst>
          </p:cNvPr>
          <p:cNvSpPr/>
          <p:nvPr/>
        </p:nvSpPr>
        <p:spPr>
          <a:xfrm>
            <a:off x="948267" y="3183467"/>
            <a:ext cx="2302933" cy="11345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500: Internal Server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7D01D-1784-15F4-2DEC-7EECF8EAF50C}"/>
              </a:ext>
            </a:extLst>
          </p:cNvPr>
          <p:cNvSpPr txBox="1"/>
          <p:nvPr/>
        </p:nvSpPr>
        <p:spPr>
          <a:xfrm>
            <a:off x="4826000" y="3183467"/>
            <a:ext cx="6688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Generic Error Message, when an expected issue on the server happened.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B61DC-E48A-3F66-1D53-8647CD4E5E6E}"/>
              </a:ext>
            </a:extLst>
          </p:cNvPr>
          <p:cNvCxnSpPr>
            <a:cxnSpLocks/>
          </p:cNvCxnSpPr>
          <p:nvPr/>
        </p:nvCxnSpPr>
        <p:spPr>
          <a:xfrm>
            <a:off x="3454400" y="3572934"/>
            <a:ext cx="1320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6063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2C704-41F4-7169-2E12-C38514DF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SQL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C9C9D-6799-DDA2-2AAE-B743ADCA9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1125199" cy="3880773"/>
          </a:xfrm>
        </p:spPr>
        <p:txBody>
          <a:bodyPr/>
          <a:lstStyle/>
          <a:p>
            <a:r>
              <a:rPr lang="en-US" dirty="0"/>
              <a:t>Organized collection of structural information of data, which’s stored in Cloud, container or server. </a:t>
            </a:r>
          </a:p>
          <a:p>
            <a:endParaRPr lang="en-US" dirty="0"/>
          </a:p>
          <a:p>
            <a:r>
              <a:rPr lang="en-US" dirty="0"/>
              <a:t>The data can easily retrieve. </a:t>
            </a:r>
          </a:p>
          <a:p>
            <a:endParaRPr lang="en-US" dirty="0"/>
          </a:p>
          <a:p>
            <a:r>
              <a:rPr lang="en-US" dirty="0"/>
              <a:t>The data can be modeled. </a:t>
            </a:r>
          </a:p>
          <a:p>
            <a:endParaRPr lang="en-US" dirty="0"/>
          </a:p>
          <a:p>
            <a:r>
              <a:rPr lang="en-US" dirty="0"/>
              <a:t>A database is collection of data. </a:t>
            </a:r>
          </a:p>
          <a:p>
            <a:endParaRPr lang="en-US" dirty="0"/>
          </a:p>
          <a:p>
            <a:r>
              <a:rPr lang="en-US" dirty="0"/>
              <a:t>Database are organized in how data can be retrieved, stored or modified. </a:t>
            </a:r>
          </a:p>
        </p:txBody>
      </p:sp>
    </p:spTree>
    <p:extLst>
      <p:ext uri="{BB962C8B-B14F-4D97-AF65-F5344CB8AC3E}">
        <p14:creationId xmlns:p14="http://schemas.microsoft.com/office/powerpoint/2010/main" val="80765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DDB91-4996-8BA0-48D5-2A5C6FB8D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24933"/>
          </a:xfrm>
        </p:spPr>
        <p:txBody>
          <a:bodyPr/>
          <a:lstStyle/>
          <a:p>
            <a:r>
              <a:rPr lang="en-US" dirty="0"/>
              <a:t>SQL Details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8F71CE-2C05-41B1-B332-95EC3C38C502}"/>
              </a:ext>
            </a:extLst>
          </p:cNvPr>
          <p:cNvSpPr/>
          <p:nvPr/>
        </p:nvSpPr>
        <p:spPr>
          <a:xfrm>
            <a:off x="914400" y="1710267"/>
            <a:ext cx="9770533" cy="235373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FF88367E-2CEF-FFA2-DA8C-34980A6980BE}"/>
              </a:ext>
            </a:extLst>
          </p:cNvPr>
          <p:cNvSpPr/>
          <p:nvPr/>
        </p:nvSpPr>
        <p:spPr>
          <a:xfrm>
            <a:off x="1371600" y="2472267"/>
            <a:ext cx="2421467" cy="95673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DBMS 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344A3D0D-8269-5CA6-9EF9-9EF6F91E4FF5}"/>
              </a:ext>
            </a:extLst>
          </p:cNvPr>
          <p:cNvSpPr/>
          <p:nvPr/>
        </p:nvSpPr>
        <p:spPr>
          <a:xfrm>
            <a:off x="7450667" y="2472267"/>
            <a:ext cx="2540000" cy="1168400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A8FC2A-C926-145A-CBE8-D197BD04031C}"/>
              </a:ext>
            </a:extLst>
          </p:cNvPr>
          <p:cNvCxnSpPr/>
          <p:nvPr/>
        </p:nvCxnSpPr>
        <p:spPr>
          <a:xfrm>
            <a:off x="4013200" y="2794000"/>
            <a:ext cx="3115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051017-C08E-0B73-FABD-AF17FE9FACA7}"/>
              </a:ext>
            </a:extLst>
          </p:cNvPr>
          <p:cNvCxnSpPr>
            <a:cxnSpLocks/>
          </p:cNvCxnSpPr>
          <p:nvPr/>
        </p:nvCxnSpPr>
        <p:spPr>
          <a:xfrm flipH="1">
            <a:off x="4013200" y="3429000"/>
            <a:ext cx="31157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5473517-78D3-1C74-2B6A-7375CA163D4E}"/>
              </a:ext>
            </a:extLst>
          </p:cNvPr>
          <p:cNvSpPr txBox="1"/>
          <p:nvPr/>
        </p:nvSpPr>
        <p:spPr>
          <a:xfrm>
            <a:off x="3970867" y="2235201"/>
            <a:ext cx="3335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Query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80662A-CB68-B11C-C16C-12D5B5402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3919" y="1879601"/>
            <a:ext cx="1487883" cy="457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F69AEE-BE08-5EF2-D3C8-3187327A3581}"/>
              </a:ext>
            </a:extLst>
          </p:cNvPr>
          <p:cNvSpPr txBox="1"/>
          <p:nvPr/>
        </p:nvSpPr>
        <p:spPr>
          <a:xfrm>
            <a:off x="1540933" y="4439734"/>
            <a:ext cx="208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</a:t>
            </a:r>
          </a:p>
        </p:txBody>
      </p:sp>
      <p:sp>
        <p:nvSpPr>
          <p:cNvPr id="16" name="Rectangle: Diagonal Corners Rounded 15">
            <a:extLst>
              <a:ext uri="{FF2B5EF4-FFF2-40B4-BE49-F238E27FC236}">
                <a16:creationId xmlns:a16="http://schemas.microsoft.com/office/drawing/2014/main" id="{7F0FF65B-EBC4-DC26-A385-8FE217BC2C15}"/>
              </a:ext>
            </a:extLst>
          </p:cNvPr>
          <p:cNvSpPr/>
          <p:nvPr/>
        </p:nvSpPr>
        <p:spPr>
          <a:xfrm>
            <a:off x="6392331" y="4353467"/>
            <a:ext cx="1405467" cy="440266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50E78-39F2-701F-1EB5-EE15A08DA602}"/>
              </a:ext>
            </a:extLst>
          </p:cNvPr>
          <p:cNvSpPr txBox="1"/>
          <p:nvPr/>
        </p:nvSpPr>
        <p:spPr>
          <a:xfrm>
            <a:off x="1540933" y="5140065"/>
            <a:ext cx="11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46B5FF4E-A3E2-F273-955F-FB76F4393CF1}"/>
              </a:ext>
            </a:extLst>
          </p:cNvPr>
          <p:cNvSpPr/>
          <p:nvPr/>
        </p:nvSpPr>
        <p:spPr>
          <a:xfrm>
            <a:off x="6392331" y="5083200"/>
            <a:ext cx="1405467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F794D7-8246-DFBF-EA0C-A718168D0AF9}"/>
              </a:ext>
            </a:extLst>
          </p:cNvPr>
          <p:cNvSpPr txBox="1"/>
          <p:nvPr/>
        </p:nvSpPr>
        <p:spPr>
          <a:xfrm>
            <a:off x="1540933" y="5701731"/>
            <a:ext cx="96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2A3252-D20A-A119-8610-5135705EC754}"/>
              </a:ext>
            </a:extLst>
          </p:cNvPr>
          <p:cNvSpPr/>
          <p:nvPr/>
        </p:nvSpPr>
        <p:spPr>
          <a:xfrm>
            <a:off x="6426198" y="5701731"/>
            <a:ext cx="15377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A3CFB2-1563-954F-8B45-C5DC0AE549C4}"/>
              </a:ext>
            </a:extLst>
          </p:cNvPr>
          <p:cNvSpPr txBox="1"/>
          <p:nvPr/>
        </p:nvSpPr>
        <p:spPr>
          <a:xfrm>
            <a:off x="1524000" y="6263397"/>
            <a:ext cx="1049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Delete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03704CD1-ABEC-D6F0-2882-A103F3864A21}"/>
              </a:ext>
            </a:extLst>
          </p:cNvPr>
          <p:cNvSpPr/>
          <p:nvPr/>
        </p:nvSpPr>
        <p:spPr>
          <a:xfrm>
            <a:off x="6426198" y="6320261"/>
            <a:ext cx="1537720" cy="312467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888B712-3A2D-3876-0DB0-2615397327F0}"/>
              </a:ext>
            </a:extLst>
          </p:cNvPr>
          <p:cNvCxnSpPr/>
          <p:nvPr/>
        </p:nvCxnSpPr>
        <p:spPr>
          <a:xfrm>
            <a:off x="2912533" y="4588933"/>
            <a:ext cx="30141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448EA2B-78AE-AD5C-D282-901E65CCD4D2}"/>
              </a:ext>
            </a:extLst>
          </p:cNvPr>
          <p:cNvCxnSpPr>
            <a:stCxn id="17" idx="3"/>
          </p:cNvCxnSpPr>
          <p:nvPr/>
        </p:nvCxnSpPr>
        <p:spPr>
          <a:xfrm flipV="1">
            <a:off x="2709333" y="5317067"/>
            <a:ext cx="3217334" cy="7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F1C80A-B56A-2E8D-5A62-78FF7BB56D9C}"/>
              </a:ext>
            </a:extLst>
          </p:cNvPr>
          <p:cNvCxnSpPr/>
          <p:nvPr/>
        </p:nvCxnSpPr>
        <p:spPr>
          <a:xfrm>
            <a:off x="2709333" y="5825067"/>
            <a:ext cx="29802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14E6BA8-FDB5-D662-FC59-3A48DD694F7E}"/>
              </a:ext>
            </a:extLst>
          </p:cNvPr>
          <p:cNvCxnSpPr/>
          <p:nvPr/>
        </p:nvCxnSpPr>
        <p:spPr>
          <a:xfrm>
            <a:off x="2912533" y="6502400"/>
            <a:ext cx="30141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432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BB1C-E620-CBED-CE7D-1E917C2AC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80533"/>
          </a:xfrm>
        </p:spPr>
        <p:txBody>
          <a:bodyPr/>
          <a:lstStyle/>
          <a:p>
            <a:r>
              <a:rPr lang="en-US" dirty="0"/>
              <a:t>Alembic &amp; </a:t>
            </a:r>
            <a:r>
              <a:rPr lang="en-US" dirty="0" err="1"/>
              <a:t>SQLAlchemy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74AB8D-63B1-D152-8AB3-1D49B268C919}"/>
              </a:ext>
            </a:extLst>
          </p:cNvPr>
          <p:cNvSpPr txBox="1"/>
          <p:nvPr/>
        </p:nvSpPr>
        <p:spPr>
          <a:xfrm>
            <a:off x="1100667" y="1896533"/>
            <a:ext cx="948266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Lightweight database migration tool for when using </a:t>
            </a:r>
            <a:r>
              <a:rPr lang="en-US" dirty="0" err="1"/>
              <a:t>SQLAlchemy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Migration tools allow us to plan, transfer and upgrade resources within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allows to change a </a:t>
            </a:r>
            <a:r>
              <a:rPr lang="en-US" dirty="0" err="1"/>
              <a:t>SQLAlchemy</a:t>
            </a:r>
            <a:r>
              <a:rPr lang="en-US" dirty="0"/>
              <a:t> database table after it has been created.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</a:t>
            </a:r>
            <a:r>
              <a:rPr lang="en-US" dirty="0" err="1"/>
              <a:t>SQLAlchemy</a:t>
            </a:r>
            <a:r>
              <a:rPr lang="en-US" dirty="0"/>
              <a:t> will only create new database tables.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provides the creation and invocation of change management scripts.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allows to able to crate migration environments and be able to change the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works on tables which already have data. It allows to continually create additional content  which works within the application. </a:t>
            </a:r>
          </a:p>
        </p:txBody>
      </p:sp>
    </p:spTree>
    <p:extLst>
      <p:ext uri="{BB962C8B-B14F-4D97-AF65-F5344CB8AC3E}">
        <p14:creationId xmlns:p14="http://schemas.microsoft.com/office/powerpoint/2010/main" val="3900272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43AEF-4FCD-68E4-3643-5CD928B54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Your </a:t>
            </a:r>
            <a:r>
              <a:rPr lang="en-US" dirty="0" err="1"/>
              <a:t>SQLModel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E41630-D5B8-56D4-C3CD-54C547BEB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 err="1"/>
              <a:t>SQLModel</a:t>
            </a:r>
            <a:r>
              <a:rPr lang="en-US" dirty="0"/>
              <a:t> is built on top of </a:t>
            </a:r>
            <a:r>
              <a:rPr lang="en-US" dirty="0" err="1">
                <a:hlinkClick r:id="rId2"/>
              </a:rPr>
              <a:t>SQLAlchemy</a:t>
            </a:r>
            <a:r>
              <a:rPr lang="en-US" dirty="0"/>
              <a:t> and </a:t>
            </a:r>
            <a:r>
              <a:rPr lang="en-US" dirty="0" err="1"/>
              <a:t>Pydantic</a:t>
            </a:r>
            <a:r>
              <a:rPr lang="en-US" dirty="0"/>
              <a:t>. It was made by the same author of </a:t>
            </a:r>
            <a:r>
              <a:rPr lang="en-US" b="1" dirty="0" err="1"/>
              <a:t>FastAPI</a:t>
            </a:r>
            <a:r>
              <a:rPr lang="en-US" dirty="0"/>
              <a:t> to be the perfect match for </a:t>
            </a:r>
            <a:r>
              <a:rPr lang="en-US" dirty="0" err="1"/>
              <a:t>FastAPI</a:t>
            </a:r>
            <a:r>
              <a:rPr lang="en-US" dirty="0"/>
              <a:t> applications that need to use </a:t>
            </a:r>
            <a:r>
              <a:rPr lang="en-US" b="1" dirty="0"/>
              <a:t>SQL databases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As </a:t>
            </a:r>
            <a:r>
              <a:rPr lang="en-US" dirty="0" err="1"/>
              <a:t>SQLModel</a:t>
            </a:r>
            <a:r>
              <a:rPr lang="en-US" dirty="0"/>
              <a:t> is based on </a:t>
            </a:r>
            <a:r>
              <a:rPr lang="en-US" dirty="0" err="1"/>
              <a:t>SQLAlchemy</a:t>
            </a:r>
            <a:r>
              <a:rPr lang="en-US" dirty="0"/>
              <a:t>, you can easily use </a:t>
            </a:r>
            <a:r>
              <a:rPr lang="en-US" b="1" dirty="0"/>
              <a:t>any database supported</a:t>
            </a:r>
            <a:r>
              <a:rPr lang="en-US" dirty="0"/>
              <a:t> by </a:t>
            </a:r>
            <a:r>
              <a:rPr lang="en-US" dirty="0" err="1"/>
              <a:t>SQLAlchemy</a:t>
            </a:r>
            <a:r>
              <a:rPr lang="en-US" dirty="0"/>
              <a:t> (which makes them also supported by </a:t>
            </a:r>
            <a:r>
              <a:rPr lang="en-US" dirty="0" err="1"/>
              <a:t>SQLModel</a:t>
            </a:r>
            <a:r>
              <a:rPr lang="en-US" dirty="0"/>
              <a:t>), like:</a:t>
            </a:r>
          </a:p>
          <a:p>
            <a:r>
              <a:rPr lang="en-US" dirty="0"/>
              <a:t>PostgreSQL</a:t>
            </a:r>
          </a:p>
          <a:p>
            <a:r>
              <a:rPr lang="en-US" dirty="0"/>
              <a:t>MySQL</a:t>
            </a:r>
          </a:p>
          <a:p>
            <a:r>
              <a:rPr lang="en-US" dirty="0"/>
              <a:t>SQLite</a:t>
            </a:r>
          </a:p>
          <a:p>
            <a:r>
              <a:rPr lang="en-US" dirty="0"/>
              <a:t>Oracle</a:t>
            </a:r>
          </a:p>
          <a:p>
            <a:r>
              <a:rPr lang="en-US" dirty="0"/>
              <a:t>Microsoft SQL Server,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927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2FD5A-A049-93DD-DCD8-CA38233C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SQLModel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DCE56-6D7B-76BF-1044-05FB7550A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2428"/>
            <a:ext cx="10634133" cy="1073678"/>
          </a:xfrm>
        </p:spPr>
        <p:txBody>
          <a:bodyPr/>
          <a:lstStyle/>
          <a:p>
            <a:r>
              <a:rPr lang="en-US" dirty="0"/>
              <a:t>First, make sure you create your </a:t>
            </a:r>
            <a:r>
              <a:rPr lang="en-US" dirty="0">
                <a:hlinkClick r:id="rId2"/>
              </a:rPr>
              <a:t>virtual environment</a:t>
            </a:r>
            <a:r>
              <a:rPr lang="en-US" dirty="0"/>
              <a:t>, activate it, and then install </a:t>
            </a:r>
            <a:r>
              <a:rPr lang="en-US" dirty="0" err="1"/>
              <a:t>sqlmodel:Path</a:t>
            </a:r>
            <a:r>
              <a:rPr lang="en-US" dirty="0"/>
              <a:t> Parameters are defined as a way to find information based on location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B7A2FA-4CCA-827D-8E47-52C1EFBE2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332" y="3589859"/>
            <a:ext cx="5788525" cy="107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6276-E290-DD5B-DD4F-F320AD74F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Create SQL Table with SQLModel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35F6C-BF97-707B-FDCE-4CBA1F1D8ADA}"/>
              </a:ext>
            </a:extLst>
          </p:cNvPr>
          <p:cNvSpPr txBox="1"/>
          <p:nvPr/>
        </p:nvSpPr>
        <p:spPr>
          <a:xfrm>
            <a:off x="685167" y="2160589"/>
            <a:ext cx="3720916" cy="356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Imagine you have a SQL table called </a:t>
            </a:r>
            <a:r>
              <a:rPr lang="en-US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hero 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with: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id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name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secret_name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D30406-14FD-E818-6315-2F14F4D82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035" y="2095088"/>
            <a:ext cx="4602747" cy="216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987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CA458-DF02-3405-7AAF-0841E217B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Model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C3648-71DE-B74A-6353-CC977085DE63}"/>
              </a:ext>
            </a:extLst>
          </p:cNvPr>
          <p:cNvSpPr txBox="1"/>
          <p:nvPr/>
        </p:nvSpPr>
        <p:spPr>
          <a:xfrm>
            <a:off x="677334" y="2093385"/>
            <a:ext cx="100584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typing import Annotated</a:t>
            </a:r>
          </a:p>
          <a:p>
            <a:endParaRPr lang="en-US" dirty="0"/>
          </a:p>
          <a:p>
            <a:r>
              <a:rPr lang="en-US" dirty="0"/>
              <a:t>from </a:t>
            </a:r>
            <a:r>
              <a:rPr lang="en-US" dirty="0" err="1"/>
              <a:t>fastapi</a:t>
            </a:r>
            <a:r>
              <a:rPr lang="en-US" dirty="0"/>
              <a:t> import Depends, </a:t>
            </a:r>
            <a:r>
              <a:rPr lang="en-US" dirty="0" err="1"/>
              <a:t>FastAPI</a:t>
            </a:r>
            <a:r>
              <a:rPr lang="en-US" dirty="0"/>
              <a:t>, </a:t>
            </a:r>
            <a:r>
              <a:rPr lang="en-US" dirty="0" err="1"/>
              <a:t>HTTPException</a:t>
            </a:r>
            <a:r>
              <a:rPr lang="en-US" dirty="0"/>
              <a:t>, Query</a:t>
            </a:r>
          </a:p>
          <a:p>
            <a:r>
              <a:rPr lang="en-US" dirty="0"/>
              <a:t>from </a:t>
            </a:r>
            <a:r>
              <a:rPr lang="en-US" dirty="0" err="1"/>
              <a:t>sqlmodel</a:t>
            </a:r>
            <a:r>
              <a:rPr lang="en-US" dirty="0"/>
              <a:t> import Field, Session, </a:t>
            </a:r>
            <a:r>
              <a:rPr lang="en-US" dirty="0" err="1"/>
              <a:t>SQLModel</a:t>
            </a:r>
            <a:r>
              <a:rPr lang="en-US" dirty="0"/>
              <a:t>, </a:t>
            </a:r>
            <a:r>
              <a:rPr lang="en-US" dirty="0" err="1"/>
              <a:t>create_engine</a:t>
            </a:r>
            <a:r>
              <a:rPr lang="en-US" dirty="0"/>
              <a:t>, select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Hero(</a:t>
            </a:r>
            <a:r>
              <a:rPr lang="en-US" dirty="0" err="1"/>
              <a:t>SQLModel</a:t>
            </a:r>
            <a:r>
              <a:rPr lang="en-US" dirty="0"/>
              <a:t>, table=True):</a:t>
            </a:r>
          </a:p>
          <a:p>
            <a:r>
              <a:rPr lang="en-US" dirty="0"/>
              <a:t>    id: int | None = Field(default=None, </a:t>
            </a:r>
            <a:r>
              <a:rPr lang="en-US" dirty="0" err="1"/>
              <a:t>primary_key</a:t>
            </a:r>
            <a:r>
              <a:rPr lang="en-US" dirty="0"/>
              <a:t>=True)</a:t>
            </a:r>
          </a:p>
          <a:p>
            <a:r>
              <a:rPr lang="en-US" dirty="0"/>
              <a:t>    name: str = Field(index=True)</a:t>
            </a:r>
          </a:p>
          <a:p>
            <a:r>
              <a:rPr lang="en-US" dirty="0"/>
              <a:t>    age: int | None = Field(default=None, index=True)</a:t>
            </a:r>
          </a:p>
          <a:p>
            <a:r>
              <a:rPr lang="en-US" dirty="0"/>
              <a:t>    </a:t>
            </a:r>
            <a:r>
              <a:rPr lang="en-US" dirty="0" err="1"/>
              <a:t>secret_name</a:t>
            </a:r>
            <a:r>
              <a:rPr lang="en-US" dirty="0"/>
              <a:t>: str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90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0F2ED-953A-14C0-423C-3C03280F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Dependency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78835-CEDC-6815-938E-9301F1630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 </a:t>
            </a:r>
            <a:r>
              <a:rPr lang="en-US" b="1" dirty="0"/>
              <a:t>Session</a:t>
            </a:r>
            <a:r>
              <a:rPr lang="en-US" dirty="0"/>
              <a:t> is what stores the </a:t>
            </a:r>
            <a:r>
              <a:rPr lang="en-US" b="1" dirty="0"/>
              <a:t>objects in memory</a:t>
            </a:r>
            <a:r>
              <a:rPr lang="en-US" dirty="0"/>
              <a:t> and keeps track of any changes needed in the data, then it </a:t>
            </a:r>
            <a:r>
              <a:rPr lang="en-US" b="1" dirty="0"/>
              <a:t>uses the engine</a:t>
            </a:r>
            <a:r>
              <a:rPr lang="en-US" dirty="0"/>
              <a:t> to communicate with the database.</a:t>
            </a:r>
          </a:p>
          <a:p>
            <a:r>
              <a:rPr lang="en-US" dirty="0"/>
              <a:t>We will create a </a:t>
            </a:r>
            <a:r>
              <a:rPr lang="en-US" dirty="0" err="1"/>
              <a:t>FastAPI</a:t>
            </a:r>
            <a:r>
              <a:rPr lang="en-US" dirty="0"/>
              <a:t> </a:t>
            </a:r>
            <a:r>
              <a:rPr lang="en-US" b="1" dirty="0"/>
              <a:t>dependency</a:t>
            </a:r>
            <a:r>
              <a:rPr lang="en-US" dirty="0"/>
              <a:t> with yield that will provide a new Session for each request. This is what ensures that we use a single session per request. </a:t>
            </a:r>
          </a:p>
          <a:p>
            <a:r>
              <a:rPr lang="en-US" dirty="0"/>
              <a:t>Then we create an Annotated dependency </a:t>
            </a:r>
            <a:r>
              <a:rPr lang="en-US" dirty="0" err="1"/>
              <a:t>SessionDep</a:t>
            </a:r>
            <a:r>
              <a:rPr lang="en-US" dirty="0"/>
              <a:t> to simplify the rest of the code that will use this dependency.</a:t>
            </a:r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08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6B87-A80C-B183-14D4-22AF1DE12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SQLModel</a:t>
            </a:r>
            <a:r>
              <a:rPr lang="en-US" dirty="0"/>
              <a:t>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27171-E857-AC5E-E2ED-A4EC75C2E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E9665-3B01-D603-4BAC-064838971E40}"/>
              </a:ext>
            </a:extLst>
          </p:cNvPr>
          <p:cNvSpPr txBox="1"/>
          <p:nvPr/>
        </p:nvSpPr>
        <p:spPr>
          <a:xfrm>
            <a:off x="931333" y="1811867"/>
            <a:ext cx="9702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Since </a:t>
            </a:r>
            <a:r>
              <a:rPr lang="en-US" dirty="0" err="1"/>
              <a:t>FastAPI</a:t>
            </a:r>
            <a:r>
              <a:rPr lang="en-US" dirty="0"/>
              <a:t> is based on </a:t>
            </a:r>
            <a:r>
              <a:rPr lang="en-US" dirty="0" err="1"/>
              <a:t>Pydantic</a:t>
            </a:r>
            <a:r>
              <a:rPr lang="en-US" dirty="0"/>
              <a:t>, it will use the same model to use the automatic data validation and conversion from the JSON request to an object instance that has actual instance of HERO class.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SQLModel</a:t>
            </a:r>
            <a:r>
              <a:rPr lang="en-US" dirty="0"/>
              <a:t> object is not only a </a:t>
            </a:r>
            <a:r>
              <a:rPr lang="en-US" dirty="0" err="1"/>
              <a:t>Pydantic</a:t>
            </a:r>
            <a:r>
              <a:rPr lang="en-US" dirty="0"/>
              <a:t> model instance but also </a:t>
            </a:r>
            <a:r>
              <a:rPr lang="en-US" dirty="0" err="1"/>
              <a:t>SQLAlchemy</a:t>
            </a:r>
            <a:r>
              <a:rPr lang="en-US" dirty="0"/>
              <a:t> model instance which we can use directly in a session to create new row in database.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use intuitive standard Python type </a:t>
            </a:r>
            <a:r>
              <a:rPr lang="en-US" dirty="0" err="1"/>
              <a:t>annonation</a:t>
            </a:r>
            <a:r>
              <a:rPr lang="en-US" dirty="0"/>
              <a:t> and we don’t have the duplicates code for the database models and the API data models. </a:t>
            </a:r>
          </a:p>
        </p:txBody>
      </p:sp>
    </p:spTree>
    <p:extLst>
      <p:ext uri="{BB962C8B-B14F-4D97-AF65-F5344CB8AC3E}">
        <p14:creationId xmlns:p14="http://schemas.microsoft.com/office/powerpoint/2010/main" val="3113130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E0B84-FC26-CFB0-E94D-C269F5F1F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3709-DC96-E7D2-DD8B-2E6013451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Query Parameters are request parameters which have been attached after a ”?”</a:t>
            </a:r>
          </a:p>
          <a:p>
            <a:endParaRPr lang="en-US" dirty="0"/>
          </a:p>
          <a:p>
            <a:r>
              <a:rPr lang="en-US" dirty="0"/>
              <a:t>Query Parameters have name=value pairs</a:t>
            </a:r>
          </a:p>
          <a:p>
            <a:endParaRPr lang="en-US" dirty="0"/>
          </a:p>
          <a:p>
            <a:r>
              <a:rPr lang="en-US" dirty="0"/>
              <a:t>Example – 127.0.0.1/books/?category=math</a:t>
            </a:r>
          </a:p>
        </p:txBody>
      </p:sp>
    </p:spTree>
    <p:extLst>
      <p:ext uri="{BB962C8B-B14F-4D97-AF65-F5344CB8AC3E}">
        <p14:creationId xmlns:p14="http://schemas.microsoft.com/office/powerpoint/2010/main" val="1752577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AD81F-A730-0210-68F9-AA2E62EBB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Parameter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BD811-BF48-4C6B-3302-1C5316F44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Request </a:t>
            </a:r>
          </a:p>
          <a:p>
            <a:r>
              <a:rPr lang="en-US" dirty="0"/>
              <a:t>URL: 127.0.0.1:8000/books/?category=science</a:t>
            </a:r>
          </a:p>
          <a:p>
            <a:endParaRPr lang="en-US" dirty="0"/>
          </a:p>
          <a:p>
            <a:r>
              <a:rPr lang="en-US" dirty="0"/>
              <a:t>@app.get("/books/")</a:t>
            </a:r>
          </a:p>
          <a:p>
            <a:r>
              <a:rPr lang="en-US" dirty="0"/>
              <a:t>async def </a:t>
            </a:r>
            <a:r>
              <a:rPr lang="en-US" dirty="0" err="1"/>
              <a:t>read_category_by_query</a:t>
            </a:r>
            <a:r>
              <a:rPr lang="en-US" dirty="0"/>
              <a:t>(category: str):</a:t>
            </a:r>
          </a:p>
          <a:p>
            <a:r>
              <a:rPr lang="en-US" dirty="0"/>
              <a:t>    </a:t>
            </a:r>
            <a:r>
              <a:rPr lang="en-US" dirty="0" err="1"/>
              <a:t>books_to_return</a:t>
            </a:r>
            <a:r>
              <a:rPr lang="en-US" dirty="0"/>
              <a:t> = []</a:t>
            </a:r>
          </a:p>
          <a:p>
            <a:r>
              <a:rPr lang="en-US" dirty="0"/>
              <a:t>    for book in BOOKS:</a:t>
            </a:r>
          </a:p>
          <a:p>
            <a:r>
              <a:rPr lang="en-US" dirty="0"/>
              <a:t>        if </a:t>
            </a:r>
            <a:r>
              <a:rPr lang="en-US" dirty="0" err="1"/>
              <a:t>book.get</a:t>
            </a:r>
            <a:r>
              <a:rPr lang="en-US" dirty="0"/>
              <a:t>('category').</a:t>
            </a:r>
            <a:r>
              <a:rPr lang="en-US" dirty="0" err="1"/>
              <a:t>casefold</a:t>
            </a:r>
            <a:r>
              <a:rPr lang="en-US" dirty="0"/>
              <a:t>() == </a:t>
            </a:r>
            <a:r>
              <a:rPr lang="en-US" dirty="0" err="1"/>
              <a:t>category.casefold</a:t>
            </a:r>
            <a:r>
              <a:rPr lang="en-US" dirty="0"/>
              <a:t>():</a:t>
            </a:r>
          </a:p>
          <a:p>
            <a:r>
              <a:rPr lang="en-US" dirty="0"/>
              <a:t>            </a:t>
            </a:r>
            <a:r>
              <a:rPr lang="en-US" dirty="0" err="1"/>
              <a:t>books_to_return.append</a:t>
            </a:r>
            <a:r>
              <a:rPr lang="en-US" dirty="0"/>
              <a:t>(book)</a:t>
            </a:r>
          </a:p>
          <a:p>
            <a:r>
              <a:rPr lang="en-US" dirty="0"/>
              <a:t>    return </a:t>
            </a:r>
            <a:r>
              <a:rPr lang="en-US" dirty="0" err="1"/>
              <a:t>books_to_return</a:t>
            </a:r>
            <a:endParaRPr lang="en-US" dirty="0"/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614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9E883-329F-97A2-162C-2CD23D701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Request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D8B25-53D8-243E-438D-7D814BAC4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 create data</a:t>
            </a:r>
          </a:p>
          <a:p>
            <a:endParaRPr lang="en-US" dirty="0"/>
          </a:p>
          <a:p>
            <a:r>
              <a:rPr lang="en-US" dirty="0"/>
              <a:t>POST can have a body that has additional information which GET does not have </a:t>
            </a:r>
          </a:p>
          <a:p>
            <a:endParaRPr lang="en-US" dirty="0"/>
          </a:p>
          <a:p>
            <a:r>
              <a:rPr lang="en-US" dirty="0"/>
              <a:t>Body structure: </a:t>
            </a:r>
          </a:p>
          <a:p>
            <a:r>
              <a:rPr lang="en-US" dirty="0"/>
              <a:t>{“title”: “Title Seven”, “author”: “Author one”, “category”:</a:t>
            </a:r>
          </a:p>
        </p:txBody>
      </p:sp>
    </p:spTree>
    <p:extLst>
      <p:ext uri="{BB962C8B-B14F-4D97-AF65-F5344CB8AC3E}">
        <p14:creationId xmlns:p14="http://schemas.microsoft.com/office/powerpoint/2010/main" val="3898159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00704-4A3D-DFD5-B62B-AC7092AF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Request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13941-65B4-6AD4-FCF7-F64F851B6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Request: </a:t>
            </a:r>
          </a:p>
          <a:p>
            <a:r>
              <a:rPr lang="en-US" dirty="0"/>
              <a:t>URL: 127.0.0.1/books/</a:t>
            </a:r>
            <a:r>
              <a:rPr lang="en-US" dirty="0" err="1"/>
              <a:t>create_book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@app.post("/books/create_book")</a:t>
            </a:r>
          </a:p>
          <a:p>
            <a:r>
              <a:rPr lang="en-US" dirty="0"/>
              <a:t>async def </a:t>
            </a:r>
            <a:r>
              <a:rPr lang="en-US" dirty="0" err="1"/>
              <a:t>create_book</a:t>
            </a:r>
            <a:r>
              <a:rPr lang="en-US" dirty="0"/>
              <a:t>(</a:t>
            </a:r>
            <a:r>
              <a:rPr lang="en-US" dirty="0" err="1"/>
              <a:t>new_book</a:t>
            </a:r>
            <a:r>
              <a:rPr lang="en-US" dirty="0"/>
              <a:t>=Body()):</a:t>
            </a:r>
          </a:p>
          <a:p>
            <a:r>
              <a:rPr lang="en-US" dirty="0"/>
              <a:t>    </a:t>
            </a:r>
            <a:r>
              <a:rPr lang="en-US" dirty="0" err="1"/>
              <a:t>BOOKS.append</a:t>
            </a:r>
            <a:r>
              <a:rPr lang="en-US" dirty="0"/>
              <a:t>(</a:t>
            </a:r>
            <a:r>
              <a:rPr lang="en-US" dirty="0" err="1"/>
              <a:t>new_book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64FBEA-53C7-47A1-0F51-C050B4373C25}"/>
              </a:ext>
            </a:extLst>
          </p:cNvPr>
          <p:cNvSpPr/>
          <p:nvPr/>
        </p:nvSpPr>
        <p:spPr>
          <a:xfrm>
            <a:off x="6925733" y="2160589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7E72B0-95CE-1CD0-1FEA-4DECF8CF957C}"/>
              </a:ext>
            </a:extLst>
          </p:cNvPr>
          <p:cNvSpPr/>
          <p:nvPr/>
        </p:nvSpPr>
        <p:spPr>
          <a:xfrm>
            <a:off x="6925733" y="4100975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715757-94AD-6209-8204-7886DE11FBFA}"/>
              </a:ext>
            </a:extLst>
          </p:cNvPr>
          <p:cNvCxnSpPr>
            <a:cxnSpLocks/>
          </p:cNvCxnSpPr>
          <p:nvPr/>
        </p:nvCxnSpPr>
        <p:spPr>
          <a:xfrm>
            <a:off x="7831666" y="2990323"/>
            <a:ext cx="0" cy="968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191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55856-F008-8BD6-ACA1-BA380906F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Request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E7521-30AD-9947-32DD-89E2B931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 update data </a:t>
            </a:r>
          </a:p>
          <a:p>
            <a:endParaRPr lang="en-US" dirty="0"/>
          </a:p>
          <a:p>
            <a:r>
              <a:rPr lang="en-US" dirty="0"/>
              <a:t>PUT has a body which can have additional information like POST which GET can’t have </a:t>
            </a:r>
          </a:p>
          <a:p>
            <a:endParaRPr lang="en-US" dirty="0"/>
          </a:p>
          <a:p>
            <a:r>
              <a:rPr lang="en-US" dirty="0"/>
              <a:t>Example Structure: </a:t>
            </a:r>
          </a:p>
          <a:p>
            <a:endParaRPr lang="en-US" dirty="0"/>
          </a:p>
          <a:p>
            <a:r>
              <a:rPr lang="en-US" dirty="0"/>
              <a:t>{“title”: “Title Six”, “author”: “Author Two”, “category”: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0026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334F-D5D4-F738-C9A1-E1364774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 Request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C1C42-CEE3-B419-890C-D72FE50FD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Request: </a:t>
            </a:r>
          </a:p>
          <a:p>
            <a:r>
              <a:rPr lang="en-US" dirty="0"/>
              <a:t>URL: 127.0.0.1:8000/books/</a:t>
            </a:r>
            <a:r>
              <a:rPr lang="en-US" dirty="0" err="1"/>
              <a:t>update_book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EF4AFD-6EEC-CA42-1366-2D4E4495A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22" y="3915832"/>
            <a:ext cx="9297242" cy="1824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ED6A3AF-DAA9-36B7-904A-80CF04D0F594}"/>
              </a:ext>
            </a:extLst>
          </p:cNvPr>
          <p:cNvSpPr/>
          <p:nvPr/>
        </p:nvSpPr>
        <p:spPr>
          <a:xfrm>
            <a:off x="8128000" y="1029892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54309E-3C89-8551-6E1C-1DA1E3388009}"/>
              </a:ext>
            </a:extLst>
          </p:cNvPr>
          <p:cNvSpPr/>
          <p:nvPr/>
        </p:nvSpPr>
        <p:spPr>
          <a:xfrm>
            <a:off x="8128000" y="2599266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993D22-D5FD-A18D-84DE-C7AF44AE9DC0}"/>
              </a:ext>
            </a:extLst>
          </p:cNvPr>
          <p:cNvCxnSpPr>
            <a:endCxn id="7" idx="0"/>
          </p:cNvCxnSpPr>
          <p:nvPr/>
        </p:nvCxnSpPr>
        <p:spPr>
          <a:xfrm>
            <a:off x="9033933" y="1930400"/>
            <a:ext cx="1" cy="6688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168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84466-2041-EDC4-9938-F26F6CBAE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HTTP Request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A23D2-9EE5-7F69-6570-7F799421A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 delete data </a:t>
            </a:r>
          </a:p>
          <a:p>
            <a:endParaRPr lang="en-US" dirty="0"/>
          </a:p>
          <a:p>
            <a:r>
              <a:rPr lang="en-US" dirty="0"/>
              <a:t>Request: </a:t>
            </a:r>
          </a:p>
          <a:p>
            <a:r>
              <a:rPr lang="en-US" dirty="0"/>
              <a:t>URL: 127.0.0.1:8000/books/</a:t>
            </a:r>
            <a:r>
              <a:rPr lang="en-US" dirty="0" err="1"/>
              <a:t>delete_book</a:t>
            </a:r>
            <a:r>
              <a:rPr lang="en-US" dirty="0"/>
              <a:t>/{</a:t>
            </a:r>
            <a:r>
              <a:rPr lang="en-US" dirty="0" err="1"/>
              <a:t>book_title</a:t>
            </a:r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765FB3-F653-DB4C-C70E-CA45C2B70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420" y="4361787"/>
            <a:ext cx="6135066" cy="15310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7EE9867-B123-8979-A19A-2023F9AF5125}"/>
              </a:ext>
            </a:extLst>
          </p:cNvPr>
          <p:cNvSpPr/>
          <p:nvPr/>
        </p:nvSpPr>
        <p:spPr>
          <a:xfrm>
            <a:off x="8128000" y="1029892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043585-D001-30E0-0CED-1C589DF9E107}"/>
              </a:ext>
            </a:extLst>
          </p:cNvPr>
          <p:cNvSpPr/>
          <p:nvPr/>
        </p:nvSpPr>
        <p:spPr>
          <a:xfrm>
            <a:off x="8195734" y="2858692"/>
            <a:ext cx="1811867" cy="82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994089F-61DE-260A-B6DE-5CAD0AA490D4}"/>
              </a:ext>
            </a:extLst>
          </p:cNvPr>
          <p:cNvCxnSpPr>
            <a:stCxn id="6" idx="2"/>
          </p:cNvCxnSpPr>
          <p:nvPr/>
        </p:nvCxnSpPr>
        <p:spPr>
          <a:xfrm flipH="1">
            <a:off x="9033933" y="1859626"/>
            <a:ext cx="1" cy="999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23672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357</TotalTime>
  <Words>1255</Words>
  <Application>Microsoft Office PowerPoint</Application>
  <PresentationFormat>Widescreen</PresentationFormat>
  <Paragraphs>186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Trebuchet MS</vt:lpstr>
      <vt:lpstr>Wingdings 3</vt:lpstr>
      <vt:lpstr>Facet</vt:lpstr>
      <vt:lpstr>FASTAPI Development using Python on Cloud</vt:lpstr>
      <vt:lpstr>Overview of Pydantics</vt:lpstr>
      <vt:lpstr>Pydantic Benefits</vt:lpstr>
      <vt:lpstr>HTTP Status Codes</vt:lpstr>
      <vt:lpstr>Status Codes</vt:lpstr>
      <vt:lpstr>2xx Successful Status Codes:  </vt:lpstr>
      <vt:lpstr>4xx Client Errors Status Codes:  </vt:lpstr>
      <vt:lpstr>HTTP 5xx Server Error Status Codes</vt:lpstr>
      <vt:lpstr>Setting Up SQL database</vt:lpstr>
      <vt:lpstr>SQL Details</vt:lpstr>
      <vt:lpstr>Alembic &amp; SQLAlchemy</vt:lpstr>
      <vt:lpstr>Running Your SQLModel</vt:lpstr>
      <vt:lpstr>Install SQLModel</vt:lpstr>
      <vt:lpstr>Create SQL Table with SQLModel</vt:lpstr>
      <vt:lpstr>Create Model </vt:lpstr>
      <vt:lpstr>Session Dependency</vt:lpstr>
      <vt:lpstr>The SQLModel Advantage</vt:lpstr>
      <vt:lpstr>Query Parameters</vt:lpstr>
      <vt:lpstr>Query Parameter</vt:lpstr>
      <vt:lpstr>HTTP POST Request Method</vt:lpstr>
      <vt:lpstr>Post Request Method</vt:lpstr>
      <vt:lpstr>HTTP PUT Request Method</vt:lpstr>
      <vt:lpstr>PUT Request Method</vt:lpstr>
      <vt:lpstr>Delete HTTP Request 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32</cp:revision>
  <dcterms:created xsi:type="dcterms:W3CDTF">2026-02-07T01:49:08Z</dcterms:created>
  <dcterms:modified xsi:type="dcterms:W3CDTF">2026-02-07T18:49:39Z</dcterms:modified>
</cp:coreProperties>
</file>
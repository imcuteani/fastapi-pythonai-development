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923" r:id="rId1"/>
  </p:sldMasterIdLst>
  <p:sldIdLst>
    <p:sldId id="256" r:id="rId2"/>
    <p:sldId id="257" r:id="rId3"/>
    <p:sldId id="258" r:id="rId4"/>
    <p:sldId id="259" r:id="rId5"/>
    <p:sldId id="260" r:id="rId6"/>
    <p:sldId id="261" r:id="rId7"/>
    <p:sldId id="278" r:id="rId8"/>
    <p:sldId id="263" r:id="rId9"/>
    <p:sldId id="262" r:id="rId10"/>
    <p:sldId id="264" r:id="rId11"/>
    <p:sldId id="265" r:id="rId12"/>
    <p:sldId id="266" r:id="rId13"/>
    <p:sldId id="267" r:id="rId14"/>
    <p:sldId id="279" r:id="rId15"/>
    <p:sldId id="268" r:id="rId16"/>
    <p:sldId id="269" r:id="rId17"/>
    <p:sldId id="270" r:id="rId18"/>
    <p:sldId id="271" r:id="rId19"/>
    <p:sldId id="272" r:id="rId20"/>
    <p:sldId id="273" r:id="rId21"/>
    <p:sldId id="274" r:id="rId22"/>
    <p:sldId id="275" r:id="rId23"/>
    <p:sldId id="276" r:id="rId24"/>
    <p:sldId id="277" r:id="rId25"/>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000" autoAdjust="0"/>
    <p:restoredTop sz="94660"/>
  </p:normalViewPr>
  <p:slideViewPr>
    <p:cSldViewPr snapToGrid="0">
      <p:cViewPr varScale="1">
        <p:scale>
          <a:sx n="53" d="100"/>
          <a:sy n="53" d="100"/>
        </p:scale>
        <p:origin x="1416" y="27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viewProps" Target="viewProps.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9F0DF7D1-1A6A-47BF-AE6E-87394BAACE36}" type="doc">
      <dgm:prSet loTypeId="urn:microsoft.com/office/officeart/2024/3/layout/hArchList1" loCatId="List" qsTypeId="urn:microsoft.com/office/officeart/2005/8/quickstyle/simple1" qsCatId="simple" csTypeId="urn:microsoft.com/office/officeart/2005/8/colors/accent1_2" csCatId="accent1" phldr="1"/>
      <dgm:spPr/>
      <dgm:t>
        <a:bodyPr/>
        <a:lstStyle/>
        <a:p>
          <a:endParaRPr lang="en-US"/>
        </a:p>
      </dgm:t>
    </dgm:pt>
    <dgm:pt modelId="{96932C57-5D08-4988-BE30-1BF682F2631F}">
      <dgm:prSet/>
      <dgm:spPr/>
      <dgm:t>
        <a:bodyPr/>
        <a:lstStyle/>
        <a:p>
          <a:pPr>
            <a:lnSpc>
              <a:spcPct val="100000"/>
            </a:lnSpc>
            <a:defRPr b="1"/>
          </a:pPr>
          <a:r>
            <a:rPr lang="en-US" dirty="0"/>
            <a:t>​Web Page</a:t>
          </a:r>
        </a:p>
      </dgm:t>
    </dgm:pt>
    <dgm:pt modelId="{D721166B-9CE9-4EB5-B741-B8B26E462BBE}" type="parTrans" cxnId="{0ACC7C23-E5C4-416B-AC34-082A4A2163AF}">
      <dgm:prSet/>
      <dgm:spPr/>
      <dgm:t>
        <a:bodyPr/>
        <a:lstStyle/>
        <a:p>
          <a:endParaRPr lang="en-US"/>
        </a:p>
      </dgm:t>
    </dgm:pt>
    <dgm:pt modelId="{9C509CED-20A1-4D46-8B2A-B9B2968BCA87}" type="sibTrans" cxnId="{0ACC7C23-E5C4-416B-AC34-082A4A2163AF}">
      <dgm:prSet/>
      <dgm:spPr/>
      <dgm:t>
        <a:bodyPr/>
        <a:lstStyle/>
        <a:p>
          <a:pPr>
            <a:lnSpc>
              <a:spcPct val="100000"/>
            </a:lnSpc>
            <a:defRPr b="1"/>
          </a:pPr>
          <a:endParaRPr lang="en-US"/>
        </a:p>
      </dgm:t>
    </dgm:pt>
    <dgm:pt modelId="{B601D75B-1F2B-4FB1-BAA6-A58AFEEAE23A}">
      <dgm:prSet/>
      <dgm:spPr/>
      <dgm:t>
        <a:bodyPr/>
        <a:lstStyle/>
        <a:p>
          <a:pPr>
            <a:lnSpc>
              <a:spcPct val="100000"/>
            </a:lnSpc>
            <a:defRPr b="1"/>
          </a:pPr>
          <a:r>
            <a:rPr lang="en-US" dirty="0"/>
            <a:t>Full Stack Application</a:t>
          </a:r>
        </a:p>
      </dgm:t>
    </dgm:pt>
    <dgm:pt modelId="{EC7027C9-55A1-4339-90D4-876E1BA209BC}" type="parTrans" cxnId="{76D10B22-8FDA-415F-A9B0-E4795370F511}">
      <dgm:prSet/>
      <dgm:spPr/>
      <dgm:t>
        <a:bodyPr/>
        <a:lstStyle/>
        <a:p>
          <a:endParaRPr lang="en-US"/>
        </a:p>
      </dgm:t>
    </dgm:pt>
    <dgm:pt modelId="{3A489B89-BD26-49B4-B47E-6EC1738AE0C6}" type="sibTrans" cxnId="{76D10B22-8FDA-415F-A9B0-E4795370F511}">
      <dgm:prSet/>
      <dgm:spPr/>
      <dgm:t>
        <a:bodyPr/>
        <a:lstStyle/>
        <a:p>
          <a:pPr>
            <a:lnSpc>
              <a:spcPct val="100000"/>
            </a:lnSpc>
            <a:defRPr b="1"/>
          </a:pPr>
          <a:endParaRPr lang="en-US"/>
        </a:p>
      </dgm:t>
    </dgm:pt>
    <dgm:pt modelId="{1702A6A6-9B56-4224-9C3C-E3EC2224F4C5}">
      <dgm:prSet/>
      <dgm:spPr/>
      <dgm:t>
        <a:bodyPr/>
        <a:lstStyle/>
        <a:p>
          <a:pPr>
            <a:lnSpc>
              <a:spcPct val="100000"/>
            </a:lnSpc>
            <a:defRPr b="1"/>
          </a:pPr>
          <a:r>
            <a:rPr lang="en-US" dirty="0"/>
            <a:t>Server </a:t>
          </a:r>
        </a:p>
      </dgm:t>
    </dgm:pt>
    <dgm:pt modelId="{16DA9F8C-4B84-4523-A33D-2A4A8FEFED51}" type="parTrans" cxnId="{A2EC2A05-1086-4442-A4C1-183C8C29C472}">
      <dgm:prSet/>
      <dgm:spPr/>
      <dgm:t>
        <a:bodyPr/>
        <a:lstStyle/>
        <a:p>
          <a:endParaRPr lang="en-US"/>
        </a:p>
      </dgm:t>
    </dgm:pt>
    <dgm:pt modelId="{DDD3F83F-2D77-46D1-BF40-969C0D74C84F}" type="sibTrans" cxnId="{A2EC2A05-1086-4442-A4C1-183C8C29C472}">
      <dgm:prSet/>
      <dgm:spPr/>
      <dgm:t>
        <a:bodyPr/>
        <a:lstStyle/>
        <a:p>
          <a:endParaRPr lang="en-US"/>
        </a:p>
      </dgm:t>
    </dgm:pt>
    <dgm:pt modelId="{DA6A452F-9F1F-41A5-834E-450C20F08B6F}" type="pres">
      <dgm:prSet presAssocID="{9F0DF7D1-1A6A-47BF-AE6E-87394BAACE36}" presName="Name0" presStyleCnt="0">
        <dgm:presLayoutVars>
          <dgm:dir/>
          <dgm:resizeHandles val="exact"/>
        </dgm:presLayoutVars>
      </dgm:prSet>
      <dgm:spPr/>
    </dgm:pt>
    <dgm:pt modelId="{5AE96DE3-F777-4D59-ACD9-FE7BF8F098B2}" type="pres">
      <dgm:prSet presAssocID="{96932C57-5D08-4988-BE30-1BF682F2631F}" presName="compNode" presStyleCnt="0"/>
      <dgm:spPr/>
    </dgm:pt>
    <dgm:pt modelId="{F7B6A8FE-8866-4DA0-8D2C-E5C8768ED40E}" type="pres">
      <dgm:prSet presAssocID="{96932C57-5D08-4988-BE30-1BF682F2631F}" presName="pictRect" presStyleLbl="revTx" presStyleIdx="0" presStyleCnt="6">
        <dgm:presLayoutVars>
          <dgm:chMax val="0"/>
          <dgm:bulletEnabled/>
        </dgm:presLayoutVars>
      </dgm:prSet>
      <dgm:spPr/>
    </dgm:pt>
    <dgm:pt modelId="{5FD791FD-19B4-4156-9FA1-102913D6DD4F}" type="pres">
      <dgm:prSet presAssocID="{96932C57-5D08-4988-BE30-1BF682F2631F}" presName="textRect" presStyleLbl="revTx" presStyleIdx="1" presStyleCnt="6">
        <dgm:presLayoutVars>
          <dgm:bulletEnabled/>
        </dgm:presLayoutVars>
      </dgm:prSet>
      <dgm:spPr/>
    </dgm:pt>
    <dgm:pt modelId="{A43E97FD-BA45-4A70-9852-1C850AA99845}" type="pres">
      <dgm:prSet presAssocID="{9C509CED-20A1-4D46-8B2A-B9B2968BCA87}" presName="sibTrans" presStyleLbl="sibTrans2D1" presStyleIdx="0" presStyleCnt="0"/>
      <dgm:spPr/>
    </dgm:pt>
    <dgm:pt modelId="{DB45F48C-154F-421B-BDA2-C568F5FB5CE7}" type="pres">
      <dgm:prSet presAssocID="{B601D75B-1F2B-4FB1-BAA6-A58AFEEAE23A}" presName="compNode" presStyleCnt="0"/>
      <dgm:spPr/>
    </dgm:pt>
    <dgm:pt modelId="{2C06BDB5-05C1-4CA7-AB79-7783FA0BFEC3}" type="pres">
      <dgm:prSet presAssocID="{B601D75B-1F2B-4FB1-BAA6-A58AFEEAE23A}" presName="pictRect" presStyleLbl="revTx" presStyleIdx="2" presStyleCnt="6" custLinFactNeighborX="-30442">
        <dgm:presLayoutVars>
          <dgm:chMax val="0"/>
          <dgm:bulletEnabled/>
        </dgm:presLayoutVars>
      </dgm:prSet>
      <dgm:spPr/>
    </dgm:pt>
    <dgm:pt modelId="{6511B011-CB5D-46E3-9374-420002468170}" type="pres">
      <dgm:prSet presAssocID="{B601D75B-1F2B-4FB1-BAA6-A58AFEEAE23A}" presName="textRect" presStyleLbl="revTx" presStyleIdx="3" presStyleCnt="6">
        <dgm:presLayoutVars>
          <dgm:bulletEnabled/>
        </dgm:presLayoutVars>
      </dgm:prSet>
      <dgm:spPr/>
    </dgm:pt>
    <dgm:pt modelId="{A13773A1-7D57-419B-9E55-43D6647B107E}" type="pres">
      <dgm:prSet presAssocID="{3A489B89-BD26-49B4-B47E-6EC1738AE0C6}" presName="sibTrans" presStyleLbl="sibTrans2D1" presStyleIdx="0" presStyleCnt="0"/>
      <dgm:spPr/>
    </dgm:pt>
    <dgm:pt modelId="{B7B8378C-E0B7-4968-9952-C8A54C441CBE}" type="pres">
      <dgm:prSet presAssocID="{1702A6A6-9B56-4224-9C3C-E3EC2224F4C5}" presName="compNode" presStyleCnt="0"/>
      <dgm:spPr/>
    </dgm:pt>
    <dgm:pt modelId="{EAC6FD34-2338-4C79-88F0-71976ED77786}" type="pres">
      <dgm:prSet presAssocID="{1702A6A6-9B56-4224-9C3C-E3EC2224F4C5}" presName="pictRect" presStyleLbl="revTx" presStyleIdx="4" presStyleCnt="6">
        <dgm:presLayoutVars>
          <dgm:chMax val="0"/>
          <dgm:bulletEnabled/>
        </dgm:presLayoutVars>
      </dgm:prSet>
      <dgm:spPr/>
    </dgm:pt>
    <dgm:pt modelId="{CE79DC4C-FC39-4F3E-9DE4-A5EF8964293E}" type="pres">
      <dgm:prSet presAssocID="{1702A6A6-9B56-4224-9C3C-E3EC2224F4C5}" presName="textRect" presStyleLbl="revTx" presStyleIdx="5" presStyleCnt="6">
        <dgm:presLayoutVars>
          <dgm:bulletEnabled/>
        </dgm:presLayoutVars>
      </dgm:prSet>
      <dgm:spPr/>
    </dgm:pt>
  </dgm:ptLst>
  <dgm:cxnLst>
    <dgm:cxn modelId="{A2EC2A05-1086-4442-A4C1-183C8C29C472}" srcId="{9F0DF7D1-1A6A-47BF-AE6E-87394BAACE36}" destId="{1702A6A6-9B56-4224-9C3C-E3EC2224F4C5}" srcOrd="2" destOrd="0" parTransId="{16DA9F8C-4B84-4523-A33D-2A4A8FEFED51}" sibTransId="{DDD3F83F-2D77-46D1-BF40-969C0D74C84F}"/>
    <dgm:cxn modelId="{10181516-2820-4103-B926-7C18D282DAE6}" type="presOf" srcId="{96932C57-5D08-4988-BE30-1BF682F2631F}" destId="{F7B6A8FE-8866-4DA0-8D2C-E5C8768ED40E}" srcOrd="0" destOrd="0" presId="urn:microsoft.com/office/officeart/2024/3/layout/hArchList1"/>
    <dgm:cxn modelId="{76D10B22-8FDA-415F-A9B0-E4795370F511}" srcId="{9F0DF7D1-1A6A-47BF-AE6E-87394BAACE36}" destId="{B601D75B-1F2B-4FB1-BAA6-A58AFEEAE23A}" srcOrd="1" destOrd="0" parTransId="{EC7027C9-55A1-4339-90D4-876E1BA209BC}" sibTransId="{3A489B89-BD26-49B4-B47E-6EC1738AE0C6}"/>
    <dgm:cxn modelId="{0ACC7C23-E5C4-416B-AC34-082A4A2163AF}" srcId="{9F0DF7D1-1A6A-47BF-AE6E-87394BAACE36}" destId="{96932C57-5D08-4988-BE30-1BF682F2631F}" srcOrd="0" destOrd="0" parTransId="{D721166B-9CE9-4EB5-B741-B8B26E462BBE}" sibTransId="{9C509CED-20A1-4D46-8B2A-B9B2968BCA87}"/>
    <dgm:cxn modelId="{182DDA2C-A010-4C21-A3D7-1A81B210F587}" type="presOf" srcId="{3A489B89-BD26-49B4-B47E-6EC1738AE0C6}" destId="{A13773A1-7D57-419B-9E55-43D6647B107E}" srcOrd="0" destOrd="0" presId="urn:microsoft.com/office/officeart/2024/3/layout/hArchList1"/>
    <dgm:cxn modelId="{4AC90F60-F8EB-4C26-976B-02A572809A19}" type="presOf" srcId="{1702A6A6-9B56-4224-9C3C-E3EC2224F4C5}" destId="{EAC6FD34-2338-4C79-88F0-71976ED77786}" srcOrd="0" destOrd="0" presId="urn:microsoft.com/office/officeart/2024/3/layout/hArchList1"/>
    <dgm:cxn modelId="{020DD874-9481-42B4-97A8-52419BC42695}" type="presOf" srcId="{B601D75B-1F2B-4FB1-BAA6-A58AFEEAE23A}" destId="{2C06BDB5-05C1-4CA7-AB79-7783FA0BFEC3}" srcOrd="0" destOrd="0" presId="urn:microsoft.com/office/officeart/2024/3/layout/hArchList1"/>
    <dgm:cxn modelId="{21F79CDC-BADE-4219-B94D-2DE61854BF4C}" type="presOf" srcId="{9F0DF7D1-1A6A-47BF-AE6E-87394BAACE36}" destId="{DA6A452F-9F1F-41A5-834E-450C20F08B6F}" srcOrd="0" destOrd="0" presId="urn:microsoft.com/office/officeart/2024/3/layout/hArchList1"/>
    <dgm:cxn modelId="{C89103E1-A7D6-41D1-84A1-72BA372A538F}" type="presOf" srcId="{9C509CED-20A1-4D46-8B2A-B9B2968BCA87}" destId="{A43E97FD-BA45-4A70-9852-1C850AA99845}" srcOrd="0" destOrd="0" presId="urn:microsoft.com/office/officeart/2024/3/layout/hArchList1"/>
    <dgm:cxn modelId="{18627E33-9CEB-4F99-846B-90BF410C5E8E}" type="presParOf" srcId="{DA6A452F-9F1F-41A5-834E-450C20F08B6F}" destId="{5AE96DE3-F777-4D59-ACD9-FE7BF8F098B2}" srcOrd="0" destOrd="0" presId="urn:microsoft.com/office/officeart/2024/3/layout/hArchList1"/>
    <dgm:cxn modelId="{55C2B0B3-B9FC-4D47-9009-BAB4F56AC7FB}" type="presParOf" srcId="{5AE96DE3-F777-4D59-ACD9-FE7BF8F098B2}" destId="{F7B6A8FE-8866-4DA0-8D2C-E5C8768ED40E}" srcOrd="0" destOrd="0" presId="urn:microsoft.com/office/officeart/2024/3/layout/hArchList1"/>
    <dgm:cxn modelId="{92D04728-4264-4153-B40E-4472DCD4FC7C}" type="presParOf" srcId="{5AE96DE3-F777-4D59-ACD9-FE7BF8F098B2}" destId="{5FD791FD-19B4-4156-9FA1-102913D6DD4F}" srcOrd="1" destOrd="0" presId="urn:microsoft.com/office/officeart/2024/3/layout/hArchList1"/>
    <dgm:cxn modelId="{C8470ED3-5126-45B1-8560-E5DC04F04990}" type="presParOf" srcId="{DA6A452F-9F1F-41A5-834E-450C20F08B6F}" destId="{A43E97FD-BA45-4A70-9852-1C850AA99845}" srcOrd="1" destOrd="0" presId="urn:microsoft.com/office/officeart/2024/3/layout/hArchList1"/>
    <dgm:cxn modelId="{73A6235F-0972-42D8-8102-6121535F4DDA}" type="presParOf" srcId="{DA6A452F-9F1F-41A5-834E-450C20F08B6F}" destId="{DB45F48C-154F-421B-BDA2-C568F5FB5CE7}" srcOrd="2" destOrd="0" presId="urn:microsoft.com/office/officeart/2024/3/layout/hArchList1"/>
    <dgm:cxn modelId="{648FF8A5-FED4-43F4-81C0-95BA32D95DF4}" type="presParOf" srcId="{DB45F48C-154F-421B-BDA2-C568F5FB5CE7}" destId="{2C06BDB5-05C1-4CA7-AB79-7783FA0BFEC3}" srcOrd="0" destOrd="0" presId="urn:microsoft.com/office/officeart/2024/3/layout/hArchList1"/>
    <dgm:cxn modelId="{CBA74A4C-6942-4B19-866A-A5EC97F40E68}" type="presParOf" srcId="{DB45F48C-154F-421B-BDA2-C568F5FB5CE7}" destId="{6511B011-CB5D-46E3-9374-420002468170}" srcOrd="1" destOrd="0" presId="urn:microsoft.com/office/officeart/2024/3/layout/hArchList1"/>
    <dgm:cxn modelId="{1AE972F5-D630-491F-8E20-632ABA6D2B19}" type="presParOf" srcId="{DA6A452F-9F1F-41A5-834E-450C20F08B6F}" destId="{A13773A1-7D57-419B-9E55-43D6647B107E}" srcOrd="3" destOrd="0" presId="urn:microsoft.com/office/officeart/2024/3/layout/hArchList1"/>
    <dgm:cxn modelId="{E577271D-791D-4BA1-9155-A9A90C6F8AD2}" type="presParOf" srcId="{DA6A452F-9F1F-41A5-834E-450C20F08B6F}" destId="{B7B8378C-E0B7-4968-9952-C8A54C441CBE}" srcOrd="4" destOrd="0" presId="urn:microsoft.com/office/officeart/2024/3/layout/hArchList1"/>
    <dgm:cxn modelId="{A6B64221-C7AE-4E34-B9E0-26F8467B88C4}" type="presParOf" srcId="{B7B8378C-E0B7-4968-9952-C8A54C441CBE}" destId="{EAC6FD34-2338-4C79-88F0-71976ED77786}" srcOrd="0" destOrd="0" presId="urn:microsoft.com/office/officeart/2024/3/layout/hArchList1"/>
    <dgm:cxn modelId="{BD3B5DAE-B6D0-4DDB-B05F-B1DEA4F0E9B1}" type="presParOf" srcId="{B7B8378C-E0B7-4968-9952-C8A54C441CBE}" destId="{CE79DC4C-FC39-4F3E-9DE4-A5EF8964293E}" srcOrd="1" destOrd="0" presId="urn:microsoft.com/office/officeart/2024/3/layout/hArchList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7B6A8FE-8866-4DA0-8D2C-E5C8768ED40E}">
      <dsp:nvSpPr>
        <dsp:cNvPr id="0" name=""/>
        <dsp:cNvSpPr/>
      </dsp:nvSpPr>
      <dsp:spPr>
        <a:xfrm>
          <a:off x="0" y="0"/>
          <a:ext cx="2686458" cy="33825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7160" tIns="22860" rIns="22860" bIns="22860" numCol="1" spcCol="1270" anchor="t" anchorCtr="0">
          <a:noAutofit/>
        </a:bodyPr>
        <a:lstStyle/>
        <a:p>
          <a:pPr marL="0" lvl="0" indent="0" algn="l" defTabSz="800100">
            <a:lnSpc>
              <a:spcPct val="100000"/>
            </a:lnSpc>
            <a:spcBef>
              <a:spcPct val="0"/>
            </a:spcBef>
            <a:spcAft>
              <a:spcPct val="35000"/>
            </a:spcAft>
            <a:buNone/>
            <a:defRPr b="1"/>
          </a:pPr>
          <a:r>
            <a:rPr lang="en-US" sz="1800" kern="1200" dirty="0"/>
            <a:t>​Web Page</a:t>
          </a:r>
        </a:p>
      </dsp:txBody>
      <dsp:txXfrm>
        <a:off x="0" y="0"/>
        <a:ext cx="2686458" cy="338252"/>
      </dsp:txXfrm>
    </dsp:sp>
    <dsp:sp modelId="{5FD791FD-19B4-4156-9FA1-102913D6DD4F}">
      <dsp:nvSpPr>
        <dsp:cNvPr id="0" name=""/>
        <dsp:cNvSpPr/>
      </dsp:nvSpPr>
      <dsp:spPr>
        <a:xfrm>
          <a:off x="0" y="338252"/>
          <a:ext cx="2686458" cy="982058"/>
        </a:xfrm>
        <a:prstGeom prst="rect">
          <a:avLst/>
        </a:prstGeom>
        <a:noFill/>
        <a:ln>
          <a:noFill/>
        </a:ln>
        <a:effectLst/>
      </dsp:spPr>
      <dsp:style>
        <a:lnRef idx="0">
          <a:scrgbClr r="0" g="0" b="0"/>
        </a:lnRef>
        <a:fillRef idx="0">
          <a:scrgbClr r="0" g="0" b="0"/>
        </a:fillRef>
        <a:effectRef idx="0">
          <a:scrgbClr r="0" g="0" b="0"/>
        </a:effectRef>
        <a:fontRef idx="minor"/>
      </dsp:style>
    </dsp:sp>
    <dsp:sp modelId="{2C06BDB5-05C1-4CA7-AB79-7783FA0BFEC3}">
      <dsp:nvSpPr>
        <dsp:cNvPr id="0" name=""/>
        <dsp:cNvSpPr/>
      </dsp:nvSpPr>
      <dsp:spPr>
        <a:xfrm>
          <a:off x="2137292" y="0"/>
          <a:ext cx="2686458" cy="33825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7160" tIns="22860" rIns="22860" bIns="22860" numCol="1" spcCol="1270" anchor="t" anchorCtr="0">
          <a:noAutofit/>
        </a:bodyPr>
        <a:lstStyle/>
        <a:p>
          <a:pPr marL="0" lvl="0" indent="0" algn="l" defTabSz="800100">
            <a:lnSpc>
              <a:spcPct val="100000"/>
            </a:lnSpc>
            <a:spcBef>
              <a:spcPct val="0"/>
            </a:spcBef>
            <a:spcAft>
              <a:spcPct val="35000"/>
            </a:spcAft>
            <a:buNone/>
            <a:defRPr b="1"/>
          </a:pPr>
          <a:r>
            <a:rPr lang="en-US" sz="1800" kern="1200" dirty="0"/>
            <a:t>Full Stack Application</a:t>
          </a:r>
        </a:p>
      </dsp:txBody>
      <dsp:txXfrm>
        <a:off x="2137292" y="0"/>
        <a:ext cx="2686458" cy="338252"/>
      </dsp:txXfrm>
    </dsp:sp>
    <dsp:sp modelId="{6511B011-CB5D-46E3-9374-420002468170}">
      <dsp:nvSpPr>
        <dsp:cNvPr id="0" name=""/>
        <dsp:cNvSpPr/>
      </dsp:nvSpPr>
      <dsp:spPr>
        <a:xfrm>
          <a:off x="2955104" y="338252"/>
          <a:ext cx="2686458" cy="982058"/>
        </a:xfrm>
        <a:prstGeom prst="rect">
          <a:avLst/>
        </a:prstGeom>
        <a:noFill/>
        <a:ln>
          <a:noFill/>
        </a:ln>
        <a:effectLst/>
      </dsp:spPr>
      <dsp:style>
        <a:lnRef idx="0">
          <a:scrgbClr r="0" g="0" b="0"/>
        </a:lnRef>
        <a:fillRef idx="0">
          <a:scrgbClr r="0" g="0" b="0"/>
        </a:fillRef>
        <a:effectRef idx="0">
          <a:scrgbClr r="0" g="0" b="0"/>
        </a:effectRef>
        <a:fontRef idx="minor"/>
      </dsp:style>
    </dsp:sp>
    <dsp:sp modelId="{EAC6FD34-2338-4C79-88F0-71976ED77786}">
      <dsp:nvSpPr>
        <dsp:cNvPr id="0" name=""/>
        <dsp:cNvSpPr/>
      </dsp:nvSpPr>
      <dsp:spPr>
        <a:xfrm>
          <a:off x="5910209" y="0"/>
          <a:ext cx="2686458" cy="33825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7160" tIns="22860" rIns="22860" bIns="22860" numCol="1" spcCol="1270" anchor="t" anchorCtr="0">
          <a:noAutofit/>
        </a:bodyPr>
        <a:lstStyle/>
        <a:p>
          <a:pPr marL="0" lvl="0" indent="0" algn="l" defTabSz="800100">
            <a:lnSpc>
              <a:spcPct val="100000"/>
            </a:lnSpc>
            <a:spcBef>
              <a:spcPct val="0"/>
            </a:spcBef>
            <a:spcAft>
              <a:spcPct val="35000"/>
            </a:spcAft>
            <a:buNone/>
            <a:defRPr b="1"/>
          </a:pPr>
          <a:r>
            <a:rPr lang="en-US" sz="1800" kern="1200" dirty="0"/>
            <a:t>Server </a:t>
          </a:r>
        </a:p>
      </dsp:txBody>
      <dsp:txXfrm>
        <a:off x="5910209" y="0"/>
        <a:ext cx="2686458" cy="338252"/>
      </dsp:txXfrm>
    </dsp:sp>
    <dsp:sp modelId="{CE79DC4C-FC39-4F3E-9DE4-A5EF8964293E}">
      <dsp:nvSpPr>
        <dsp:cNvPr id="0" name=""/>
        <dsp:cNvSpPr/>
      </dsp:nvSpPr>
      <dsp:spPr>
        <a:xfrm>
          <a:off x="5910209" y="338252"/>
          <a:ext cx="2686458" cy="982058"/>
        </a:xfrm>
        <a:prstGeom prst="rect">
          <a:avLst/>
        </a:prstGeom>
        <a:noFill/>
        <a:ln>
          <a:noFill/>
        </a:ln>
        <a:effectLst/>
      </dsp:spPr>
      <dsp:style>
        <a:lnRef idx="0">
          <a:scrgbClr r="0" g="0" b="0"/>
        </a:lnRef>
        <a:fillRef idx="0">
          <a:scrgbClr r="0" g="0" b="0"/>
        </a:fillRef>
        <a:effectRef idx="0">
          <a:scrgbClr r="0" g="0" b="0"/>
        </a:effectRef>
        <a:fontRef idx="minor"/>
      </dsp:style>
    </dsp:sp>
  </dsp:spTree>
</dsp:drawing>
</file>

<file path=ppt/diagrams/layout1.xml><?xml version="1.0" encoding="utf-8"?>
<dgm:layoutDef xmlns:dgm="http://schemas.openxmlformats.org/drawingml/2006/diagram" xmlns:a="http://schemas.openxmlformats.org/drawingml/2006/main" uniqueId="urn:microsoft.com/office/officeart/2024/3/layout/hArchList1">
  <dgm:title val="Horizontal Text Blocks"/>
  <dgm:desc val="Short bits of text with formatted headers. Use as an easier-to-read alternative to a bulleted list."/>
  <dgm:catLst>
    <dgm:cat type="list" pri="100"/>
    <dgm:cat type="timeline" pri="500"/>
    <dgm:cat type="process" pri="600"/>
  </dgm:catLst>
  <dgm:sampData>
    <dgm:dataModel>
      <dgm:ptLst>
        <dgm:pt modelId="0" type="doc"/>
        <dgm:pt modelId="1">
          <dgm:prSet phldr="1"/>
        </dgm:pt>
        <dgm:pt modelId="2">
          <dgm:prSet phldr="1"/>
        </dgm:pt>
        <dgm:pt modelId="3">
          <dgm:prSet phldr="1"/>
        </dgm:pt>
        <dgm:pt modelId="4">
          <dgm:prSet phldr="1"/>
        </dgm:pt>
      </dgm:ptLst>
      <dgm:cxnLst>
        <dgm:cxn modelId="7" srcId="0" destId="1" srcOrd="0" destOrd="0"/>
        <dgm:cxn modelId="8" srcId="0" destId="2" srcOrd="1" destOrd="0"/>
        <dgm:cxn modelId="9" srcId="0" destId="3" srcOrd="2" destOrd="0"/>
        <dgm:cxn modelId="10" srcId="0" destId="4" srcOrd="3"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param type="vertAlign" val="t"/>
          <dgm:param type="horzAlign" val="l"/>
        </dgm:alg>
      </dgm:if>
      <dgm:else name="Name3">
        <dgm:alg type="lin">
          <dgm:param type="vertAlign" val="t"/>
          <dgm:param type="horzAlign" val="r"/>
        </dgm:alg>
      </dgm:else>
    </dgm:choose>
    <dgm:presOf/>
    <dgm:constrLst>
      <dgm:constr type="primFontSz" for="des" forName="pictRect" op="equ" val="18"/>
      <dgm:constr type="primFontSz" for="des" forName="textRect" refType="primFontSz" refFor="des" refForName="pictRect" op="equ" fact="0.77"/>
      <dgm:constr type="w" for="ch" forName="compNode" refType="w"/>
      <dgm:constr type="h" for="ch" forName="compNode" refType="h"/>
      <dgm:constr type="h" for="des" forName="pictRect" op="equ"/>
      <dgm:constr type="h" for="des" forName="pictRect" refType="primFontSz" refFor="des" refForName="pictRect" fact="3"/>
      <dgm:constr type="w" for="ch" ptType="sibTrans" refType="w" refFor="ch" refForName="compNode" op="equ" fact="0.1"/>
      <dgm:constr type="sp" refType="w" refFor="ch" refForName="compNode" op="equ" fact="0.1"/>
    </dgm:constrLst>
    <dgm:ruleLst/>
    <dgm:forEach name="Name4" axis="ch" ptType="node" cnt="20">
      <dgm:layoutNode name="compNode">
        <dgm:alg type="composite"/>
        <dgm:shape xmlns:r="http://schemas.openxmlformats.org/officeDocument/2006/relationships" r:blip="">
          <dgm:adjLst/>
        </dgm:shape>
        <dgm:presOf axis="self"/>
        <dgm:constrLst>
          <dgm:constr type="h" for="ch" forName="pictRect" refType="h" fact="0.1"/>
          <dgm:constr type="l" for="ch" forName="pictRect"/>
          <dgm:constr type="t" for="ch" forName="pictRect"/>
          <dgm:constr type="l" for="ch" forName="textRect"/>
          <dgm:constr type="t" for="ch" forName="textRect" refType="b" refFor="ch" refForName="pictRect"/>
        </dgm:constrLst>
        <dgm:ruleLst/>
        <dgm:layoutNode name="pictRect" styleLbl="revTx">
          <dgm:varLst>
            <dgm:chMax val="0"/>
            <dgm:bulletEnabled/>
          </dgm:varLst>
          <dgm:alg type="tx">
            <dgm:param type="parTxLTRAlign" val="l"/>
            <dgm:param type="parTxRTLAlign" val="r"/>
            <dgm:param type="txAnchorVert" val="t"/>
          </dgm:alg>
          <dgm:shape xmlns:r="http://schemas.openxmlformats.org/officeDocument/2006/relationships" type="rect" r:blip="">
            <dgm:adjLst/>
          </dgm:shape>
          <dgm:presOf axis="self"/>
          <dgm:choose name="choosePictRectConstraints">
            <dgm:if name="ifPictRectConstraints" func="var" arg="dir" op="equ" val="norm">
              <dgm:constrLst>
                <dgm:constr type="h" refType="w" op="lte" fact="0.4"/>
                <dgm:constr type="lMarg" val="10.8"/>
                <dgm:constr type="rMarg" refType="primFontSz" fact="0.1"/>
                <dgm:constr type="tMarg" refType="primFontSz" fact="0.1"/>
                <dgm:constr type="bMarg" refType="primFontSz" fact="0.1"/>
              </dgm:constrLst>
            </dgm:if>
            <dgm:else name="elsePictRectConstraints">
              <dgm:constrLst>
                <dgm:constr type="lMarg" refType="primFontSz" fact="0.1"/>
                <dgm:constr type="rMarg" val="10.8"/>
                <dgm:constr type="tMarg" refType="primFontSz" fact="0.1"/>
                <dgm:constr type="bMarg" refType="primFontSz" fact="0.1"/>
              </dgm:constrLst>
            </dgm:else>
          </dgm:choose>
          <dgm:ruleLst>
            <dgm:rule type="h" val="INF" fact="NaN" max="NaN"/>
            <dgm:rule type="primFontSz" val="5" fact="NaN" max="NaN"/>
          </dgm:ruleLst>
        </dgm:layoutNode>
        <dgm:layoutNode name="textRect" styleLbl="revTx">
          <dgm:varLst>
            <dgm:bulletEnabled/>
          </dgm:varLst>
          <dgm:alg type="tx">
            <dgm:param type="parTxLTRAlign" val="l"/>
            <dgm:param type="parTxRTLAlign" val="r"/>
            <dgm:param type="txAnchorVert" val="t"/>
          </dgm:alg>
          <dgm:shape xmlns:r="http://schemas.openxmlformats.org/officeDocument/2006/relationships" type="rect" r:blip="">
            <dgm:adjLst/>
          </dgm:shape>
          <dgm:presOf axis="des" ptType="node"/>
          <dgm:choose name="chooseTextRectConstraints">
            <dgm:if name="ifTextRectConstraints" func="var" arg="dir" op="equ" val="norm">
              <dgm:constrLst>
                <dgm:constr type="lMarg" val="10.8"/>
                <dgm:constr type="rMarg" refType="primFontSz" fact="0.1"/>
                <dgm:constr type="tMarg" refType="primFontSz" fact="0.1"/>
                <dgm:constr type="bMarg" refType="primFontSz" fact="0.1"/>
              </dgm:constrLst>
            </dgm:if>
            <dgm:else name="elseTextRectConstraints">
              <dgm:constrLst>
                <dgm:constr type="lMarg" refType="primFontSz" fact="0.1"/>
                <dgm:constr type="rMarg" val="10.8"/>
                <dgm:constr type="tMarg" refType="primFontSz" fact="0.1"/>
                <dgm:constr type="bMarg" refType="primFontSz" fact="0.1"/>
              </dgm:constrLst>
            </dgm:else>
          </dgm:choose>
          <dgm:ruleLst>
            <dgm:rule type="primFontSz" val="5" fact="NaN" max="NaN"/>
          </dgm:ruleLst>
        </dgm:layoutNode>
      </dgm:layoutNode>
      <dgm:forEach name="Name5" axis="followSib" ptType="sibTrans" cnt="1">
        <dgm:layoutNode name="sibTrans">
          <dgm:alg type="sp"/>
          <dgm:shape xmlns:r="http://schemas.openxmlformats.org/officeDocument/2006/relationships" type="rect" r:blip="" hideGeom="1">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defRPr b="1"/>
        </a:lvl1pPr>
        <a:lvl2pPr>
          <a:lnSpc>
            <a:spcPct val="100000"/>
          </a:lnSpc>
        </a:lvl2pPr>
      </dgm1612:lstStyle>
    </a:ext>
  </dgm:extLst>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16" name="Group 15"/>
          <p:cNvGrpSpPr/>
          <p:nvPr/>
        </p:nvGrpSpPr>
        <p:grpSpPr>
          <a:xfrm>
            <a:off x="0" y="-8467"/>
            <a:ext cx="12192000" cy="6866467"/>
            <a:chOff x="0" y="-8467"/>
            <a:chExt cx="12192000" cy="6866467"/>
          </a:xfrm>
        </p:grpSpPr>
        <p:sp>
          <p:nvSpPr>
            <p:cNvPr id="15" name="Freeform 14"/>
            <p:cNvSpPr/>
            <p:nvPr/>
          </p:nvSpPr>
          <p:spPr>
            <a:xfrm>
              <a:off x="0" y="-7862"/>
              <a:ext cx="863600" cy="5698067"/>
            </a:xfrm>
            <a:custGeom>
              <a:avLst/>
              <a:gdLst/>
              <a:ahLst/>
              <a:cxnLst/>
              <a:rect l="l" t="t" r="r" b="b"/>
              <a:pathLst>
                <a:path w="863600" h="5698067">
                  <a:moveTo>
                    <a:pt x="0" y="8467"/>
                  </a:moveTo>
                  <a:lnTo>
                    <a:pt x="863600" y="0"/>
                  </a:lnTo>
                  <a:lnTo>
                    <a:pt x="863600" y="16934"/>
                  </a:lnTo>
                  <a:lnTo>
                    <a:pt x="0" y="5698067"/>
                  </a:lnTo>
                  <a:lnTo>
                    <a:pt x="0" y="8467"/>
                  </a:lnTo>
                  <a:close/>
                </a:path>
              </a:pathLst>
            </a:cu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cxnSp>
          <p:nvCxnSpPr>
            <p:cNvPr id="19" name="Straight Connector 18"/>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1"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2"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3" name="Isosceles Triangle 22"/>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4"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5"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6"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7" name="Isosceles Triangle 26"/>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FD1C4689-B28D-4D3C-8B05-9ABB967E2A3E}" type="datetime1">
              <a:rPr lang="en-US" smtClean="0"/>
              <a:t>2/8/2026</a:t>
            </a:fld>
            <a:endParaRPr lang="en-US" dirty="0"/>
          </a:p>
        </p:txBody>
      </p:sp>
      <p:sp>
        <p:nvSpPr>
          <p:cNvPr id="5" name="Footer Placeholder 4"/>
          <p:cNvSpPr>
            <a:spLocks noGrp="1"/>
          </p:cNvSpPr>
          <p:nvPr>
            <p:ph type="ftr" sz="quarter" idx="11"/>
          </p:nvPr>
        </p:nvSpPr>
        <p:spPr/>
        <p:txBody>
          <a:bodyPr/>
          <a:lstStyle/>
          <a:p>
            <a:r>
              <a:rPr lang="en-US"/>
              <a:t>Sample Footer Text</a:t>
            </a:r>
            <a:endParaRPr lang="en-US" dirty="0"/>
          </a:p>
        </p:txBody>
      </p:sp>
      <p:sp>
        <p:nvSpPr>
          <p:cNvPr id="6" name="Slide Number Placeholder 5"/>
          <p:cNvSpPr>
            <a:spLocks noGrp="1"/>
          </p:cNvSpPr>
          <p:nvPr>
            <p:ph type="sldNum" sz="quarter" idx="12"/>
          </p:nvPr>
        </p:nvSpPr>
        <p:spPr/>
        <p:txBody>
          <a:bodyPr/>
          <a:lstStyle/>
          <a:p>
            <a:fld id="{CC057153-B650-4DEB-B370-79DDCFDCE934}" type="slidenum">
              <a:rPr lang="en-US" smtClean="0"/>
              <a:pPr/>
              <a:t>‹#›</a:t>
            </a:fld>
            <a:endParaRPr lang="en-US" dirty="0"/>
          </a:p>
        </p:txBody>
      </p:sp>
    </p:spTree>
    <p:extLst>
      <p:ext uri="{BB962C8B-B14F-4D97-AF65-F5344CB8AC3E}">
        <p14:creationId xmlns:p14="http://schemas.microsoft.com/office/powerpoint/2010/main" val="2089553864"/>
      </p:ext>
    </p:extLst>
  </p:cSld>
  <p:clrMapOvr>
    <a:masterClrMapping/>
  </p:clrMapOvr>
  <p:hf sldNum="0"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FD1C4689-B28D-4D3C-8B05-9ABB967E2A3E}" type="datetime1">
              <a:rPr lang="en-US" smtClean="0"/>
              <a:t>2/8/2026</a:t>
            </a:fld>
            <a:endParaRPr lang="en-US" dirty="0"/>
          </a:p>
        </p:txBody>
      </p:sp>
      <p:sp>
        <p:nvSpPr>
          <p:cNvPr id="5" name="Footer Placeholder 4"/>
          <p:cNvSpPr>
            <a:spLocks noGrp="1"/>
          </p:cNvSpPr>
          <p:nvPr>
            <p:ph type="ftr" sz="quarter" idx="11"/>
          </p:nvPr>
        </p:nvSpPr>
        <p:spPr/>
        <p:txBody>
          <a:bodyPr/>
          <a:lstStyle/>
          <a:p>
            <a:r>
              <a:rPr lang="en-US"/>
              <a:t>Sample Footer Text</a:t>
            </a:r>
            <a:endParaRPr lang="en-US" dirty="0"/>
          </a:p>
        </p:txBody>
      </p:sp>
      <p:sp>
        <p:nvSpPr>
          <p:cNvPr id="6" name="Slide Number Placeholder 5"/>
          <p:cNvSpPr>
            <a:spLocks noGrp="1"/>
          </p:cNvSpPr>
          <p:nvPr>
            <p:ph type="sldNum" sz="quarter" idx="12"/>
          </p:nvPr>
        </p:nvSpPr>
        <p:spPr/>
        <p:txBody>
          <a:bodyPr/>
          <a:lstStyle/>
          <a:p>
            <a:fld id="{CC057153-B650-4DEB-B370-79DDCFDCE934}" type="slidenum">
              <a:rPr lang="en-US" smtClean="0"/>
              <a:pPr/>
              <a:t>‹#›</a:t>
            </a:fld>
            <a:endParaRPr lang="en-US" dirty="0"/>
          </a:p>
        </p:txBody>
      </p:sp>
    </p:spTree>
    <p:extLst>
      <p:ext uri="{BB962C8B-B14F-4D97-AF65-F5344CB8AC3E}">
        <p14:creationId xmlns:p14="http://schemas.microsoft.com/office/powerpoint/2010/main" val="607183929"/>
      </p:ext>
    </p:extLst>
  </p:cSld>
  <p:clrMapOvr>
    <a:masterClrMapping/>
  </p:clrMapOvr>
  <p:hf sldNum="0"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FD1C4689-B28D-4D3C-8B05-9ABB967E2A3E}" type="datetime1">
              <a:rPr lang="en-US" smtClean="0"/>
              <a:t>2/8/2026</a:t>
            </a:fld>
            <a:endParaRPr lang="en-US" dirty="0"/>
          </a:p>
        </p:txBody>
      </p:sp>
      <p:sp>
        <p:nvSpPr>
          <p:cNvPr id="5" name="Footer Placeholder 4"/>
          <p:cNvSpPr>
            <a:spLocks noGrp="1"/>
          </p:cNvSpPr>
          <p:nvPr>
            <p:ph type="ftr" sz="quarter" idx="11"/>
          </p:nvPr>
        </p:nvSpPr>
        <p:spPr/>
        <p:txBody>
          <a:bodyPr/>
          <a:lstStyle/>
          <a:p>
            <a:r>
              <a:rPr lang="en-US"/>
              <a:t>Sample Footer Text</a:t>
            </a:r>
            <a:endParaRPr lang="en-US" dirty="0"/>
          </a:p>
        </p:txBody>
      </p:sp>
      <p:sp>
        <p:nvSpPr>
          <p:cNvPr id="6" name="Slide Number Placeholder 5"/>
          <p:cNvSpPr>
            <a:spLocks noGrp="1"/>
          </p:cNvSpPr>
          <p:nvPr>
            <p:ph type="sldNum" sz="quarter" idx="12"/>
          </p:nvPr>
        </p:nvSpPr>
        <p:spPr/>
        <p:txBody>
          <a:bodyPr/>
          <a:lstStyle/>
          <a:p>
            <a:fld id="{CC057153-B650-4DEB-B370-79DDCFDCE934}" type="slidenum">
              <a:rPr lang="en-US" smtClean="0"/>
              <a:pPr/>
              <a:t>‹#›</a:t>
            </a:fld>
            <a:endParaRPr lang="en-US" dirty="0"/>
          </a:p>
        </p:txBody>
      </p:sp>
    </p:spTree>
    <p:extLst>
      <p:ext uri="{BB962C8B-B14F-4D97-AF65-F5344CB8AC3E}">
        <p14:creationId xmlns:p14="http://schemas.microsoft.com/office/powerpoint/2010/main" val="2550881455"/>
      </p:ext>
    </p:extLst>
  </p:cSld>
  <p:clrMapOvr>
    <a:masterClrMapping/>
  </p:clrMapOvr>
  <p:hf sldNum="0"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FD1C4689-B28D-4D3C-8B05-9ABB967E2A3E}" type="datetime1">
              <a:rPr lang="en-US" smtClean="0"/>
              <a:t>2/8/2026</a:t>
            </a:fld>
            <a:endParaRPr lang="en-US" dirty="0"/>
          </a:p>
        </p:txBody>
      </p:sp>
      <p:sp>
        <p:nvSpPr>
          <p:cNvPr id="6" name="Footer Placeholder 5"/>
          <p:cNvSpPr>
            <a:spLocks noGrp="1"/>
          </p:cNvSpPr>
          <p:nvPr>
            <p:ph type="ftr" sz="quarter" idx="11"/>
          </p:nvPr>
        </p:nvSpPr>
        <p:spPr/>
        <p:txBody>
          <a:bodyPr/>
          <a:lstStyle/>
          <a:p>
            <a:r>
              <a:rPr lang="en-US"/>
              <a:t>Sample Footer Text</a:t>
            </a:r>
            <a:endParaRPr lang="en-US" dirty="0"/>
          </a:p>
        </p:txBody>
      </p:sp>
      <p:sp>
        <p:nvSpPr>
          <p:cNvPr id="7" name="Slide Number Placeholder 6"/>
          <p:cNvSpPr>
            <a:spLocks noGrp="1"/>
          </p:cNvSpPr>
          <p:nvPr>
            <p:ph type="sldNum" sz="quarter" idx="12"/>
          </p:nvPr>
        </p:nvSpPr>
        <p:spPr/>
        <p:txBody>
          <a:bodyPr/>
          <a:lstStyle/>
          <a:p>
            <a:fld id="{CC057153-B650-4DEB-B370-79DDCFDCE934}" type="slidenum">
              <a:rPr lang="en-US" smtClean="0"/>
              <a:pPr/>
              <a:t>‹#›</a:t>
            </a:fld>
            <a:endParaRPr lang="en-US" dirty="0"/>
          </a:p>
        </p:txBody>
      </p:sp>
    </p:spTree>
    <p:extLst>
      <p:ext uri="{BB962C8B-B14F-4D97-AF65-F5344CB8AC3E}">
        <p14:creationId xmlns:p14="http://schemas.microsoft.com/office/powerpoint/2010/main" val="3503614806"/>
      </p:ext>
    </p:extLst>
  </p:cSld>
  <p:clrMapOvr>
    <a:masterClrMapping/>
  </p:clrMapOvr>
  <p:hf sldNum="0"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FD1C4689-B28D-4D3C-8B05-9ABB967E2A3E}" type="datetime1">
              <a:rPr lang="en-US" smtClean="0"/>
              <a:t>2/8/2026</a:t>
            </a:fld>
            <a:endParaRPr lang="en-US" dirty="0"/>
          </a:p>
        </p:txBody>
      </p:sp>
      <p:sp>
        <p:nvSpPr>
          <p:cNvPr id="8" name="Footer Placeholder 7"/>
          <p:cNvSpPr>
            <a:spLocks noGrp="1"/>
          </p:cNvSpPr>
          <p:nvPr>
            <p:ph type="ftr" sz="quarter" idx="11"/>
          </p:nvPr>
        </p:nvSpPr>
        <p:spPr/>
        <p:txBody>
          <a:bodyPr/>
          <a:lstStyle/>
          <a:p>
            <a:r>
              <a:rPr lang="en-US"/>
              <a:t>Sample Footer Text</a:t>
            </a:r>
            <a:endParaRPr lang="en-US" dirty="0"/>
          </a:p>
        </p:txBody>
      </p:sp>
      <p:sp>
        <p:nvSpPr>
          <p:cNvPr id="9" name="Slide Number Placeholder 8"/>
          <p:cNvSpPr>
            <a:spLocks noGrp="1"/>
          </p:cNvSpPr>
          <p:nvPr>
            <p:ph type="sldNum" sz="quarter" idx="12"/>
          </p:nvPr>
        </p:nvSpPr>
        <p:spPr/>
        <p:txBody>
          <a:bodyPr/>
          <a:lstStyle/>
          <a:p>
            <a:fld id="{CC057153-B650-4DEB-B370-79DDCFDCE934}" type="slidenum">
              <a:rPr lang="en-US" smtClean="0"/>
              <a:pPr/>
              <a:t>‹#›</a:t>
            </a:fld>
            <a:endParaRPr lang="en-US" dirty="0"/>
          </a:p>
        </p:txBody>
      </p:sp>
    </p:spTree>
    <p:extLst>
      <p:ext uri="{BB962C8B-B14F-4D97-AF65-F5344CB8AC3E}">
        <p14:creationId xmlns:p14="http://schemas.microsoft.com/office/powerpoint/2010/main" val="664892282"/>
      </p:ext>
    </p:extLst>
  </p:cSld>
  <p:clrMapOvr>
    <a:masterClrMapping/>
  </p:clrMapOvr>
  <p:hf sldNum="0"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7C72CE4D-D83F-44D4-ACB0-A88A6B9DB4F7}" type="datetime1">
              <a:rPr lang="en-US" smtClean="0"/>
              <a:t>2/8/2026</a:t>
            </a:fld>
            <a:endParaRPr lang="en-US"/>
          </a:p>
        </p:txBody>
      </p:sp>
      <p:sp>
        <p:nvSpPr>
          <p:cNvPr id="4" name="Footer Placeholder 3"/>
          <p:cNvSpPr>
            <a:spLocks noGrp="1"/>
          </p:cNvSpPr>
          <p:nvPr>
            <p:ph type="ftr" sz="quarter" idx="11"/>
          </p:nvPr>
        </p:nvSpPr>
        <p:spPr/>
        <p:txBody>
          <a:bodyPr/>
          <a:lstStyle/>
          <a:p>
            <a:r>
              <a:rPr lang="en-US"/>
              <a:t>Sample Footer Text</a:t>
            </a:r>
          </a:p>
        </p:txBody>
      </p:sp>
      <p:sp>
        <p:nvSpPr>
          <p:cNvPr id="5" name="Slide Number Placeholder 4"/>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31647922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9A62F981-1EE1-49F5-B605-4EA23F0307AC}" type="datetime1">
              <a:rPr lang="en-US" smtClean="0"/>
              <a:t>2/8/2026</a:t>
            </a:fld>
            <a:endParaRPr lang="en-US"/>
          </a:p>
        </p:txBody>
      </p:sp>
      <p:sp>
        <p:nvSpPr>
          <p:cNvPr id="3" name="Footer Placeholder 2"/>
          <p:cNvSpPr>
            <a:spLocks noGrp="1"/>
          </p:cNvSpPr>
          <p:nvPr>
            <p:ph type="ftr" sz="quarter" idx="11"/>
          </p:nvPr>
        </p:nvSpPr>
        <p:spPr/>
        <p:txBody>
          <a:bodyPr/>
          <a:lstStyle/>
          <a:p>
            <a:r>
              <a:rPr lang="en-US"/>
              <a:t>Sample Footer Text</a:t>
            </a:r>
          </a:p>
        </p:txBody>
      </p:sp>
      <p:sp>
        <p:nvSpPr>
          <p:cNvPr id="4" name="Slide Number Placeholder 3"/>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337364289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n-US"/>
              <a:t>Click to edit Master title style</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B0B6493B-A447-4205-AC2D-AE2DEDAE4E3B}" type="datetime1">
              <a:rPr lang="en-US" smtClean="0"/>
              <a:t>2/8/2026</a:t>
            </a:fld>
            <a:endParaRPr lang="en-US"/>
          </a:p>
        </p:txBody>
      </p:sp>
      <p:sp>
        <p:nvSpPr>
          <p:cNvPr id="6" name="Footer Placeholder 5"/>
          <p:cNvSpPr>
            <a:spLocks noGrp="1"/>
          </p:cNvSpPr>
          <p:nvPr>
            <p:ph type="ftr" sz="quarter" idx="11"/>
          </p:nvPr>
        </p:nvSpPr>
        <p:spPr/>
        <p:txBody>
          <a:bodyPr/>
          <a:lstStyle/>
          <a:p>
            <a:r>
              <a:rPr lang="en-US"/>
              <a:t>Sample Footer Text</a:t>
            </a:r>
          </a:p>
        </p:txBody>
      </p:sp>
      <p:sp>
        <p:nvSpPr>
          <p:cNvPr id="7" name="Slide Number Placeholder 6"/>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336116538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6" name="Footer Placeholder 5"/>
          <p:cNvSpPr>
            <a:spLocks noGrp="1"/>
          </p:cNvSpPr>
          <p:nvPr>
            <p:ph type="ftr" sz="quarter" idx="11"/>
          </p:nvPr>
        </p:nvSpPr>
        <p:spPr/>
        <p:txBody>
          <a:bodyPr/>
          <a:lstStyle/>
          <a:p>
            <a:r>
              <a:rPr lang="en-US"/>
              <a:t>Sample Footer Text</a:t>
            </a:r>
            <a:endParaRPr lang="en-US" dirty="0"/>
          </a:p>
        </p:txBody>
      </p:sp>
      <p:sp>
        <p:nvSpPr>
          <p:cNvPr id="7" name="Slide Number Placeholder 6"/>
          <p:cNvSpPr>
            <a:spLocks noGrp="1"/>
          </p:cNvSpPr>
          <p:nvPr>
            <p:ph type="sldNum" sz="quarter" idx="12"/>
          </p:nvPr>
        </p:nvSpPr>
        <p:spPr/>
        <p:txBody>
          <a:bodyPr/>
          <a:lstStyle/>
          <a:p>
            <a:fld id="{CC057153-B650-4DEB-B370-79DDCFDCE934}" type="slidenum">
              <a:rPr lang="en-US" smtClean="0"/>
              <a:pPr/>
              <a:t>‹#›</a:t>
            </a:fld>
            <a:endParaRPr lang="en-US" dirty="0"/>
          </a:p>
        </p:txBody>
      </p:sp>
      <p:sp>
        <p:nvSpPr>
          <p:cNvPr id="5" name="Date Placeholder 4"/>
          <p:cNvSpPr>
            <a:spLocks noGrp="1"/>
          </p:cNvSpPr>
          <p:nvPr>
            <p:ph type="dt" sz="half" idx="10"/>
          </p:nvPr>
        </p:nvSpPr>
        <p:spPr/>
        <p:txBody>
          <a:bodyPr/>
          <a:lstStyle/>
          <a:p>
            <a:fld id="{FD1C4689-B28D-4D3C-8B05-9ABB967E2A3E}" type="datetime1">
              <a:rPr lang="en-US" smtClean="0"/>
              <a:t>2/8/2026</a:t>
            </a:fld>
            <a:endParaRPr lang="en-US" dirty="0"/>
          </a:p>
        </p:txBody>
      </p:sp>
    </p:spTree>
    <p:extLst>
      <p:ext uri="{BB962C8B-B14F-4D97-AF65-F5344CB8AC3E}">
        <p14:creationId xmlns:p14="http://schemas.microsoft.com/office/powerpoint/2010/main" val="2523617420"/>
      </p:ext>
    </p:extLst>
  </p:cSld>
  <p:clrMapOvr>
    <a:masterClrMapping/>
  </p:clrMapOvr>
  <p:hf sldNum="0"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FD1C4689-B28D-4D3C-8B05-9ABB967E2A3E}" type="datetime1">
              <a:rPr lang="en-US" smtClean="0"/>
              <a:t>2/8/2026</a:t>
            </a:fld>
            <a:endParaRPr lang="en-US" dirty="0"/>
          </a:p>
        </p:txBody>
      </p:sp>
      <p:sp>
        <p:nvSpPr>
          <p:cNvPr id="5" name="Footer Placeholder 4"/>
          <p:cNvSpPr>
            <a:spLocks noGrp="1"/>
          </p:cNvSpPr>
          <p:nvPr>
            <p:ph type="ftr" sz="quarter" idx="11"/>
          </p:nvPr>
        </p:nvSpPr>
        <p:spPr/>
        <p:txBody>
          <a:bodyPr/>
          <a:lstStyle/>
          <a:p>
            <a:r>
              <a:rPr lang="en-US"/>
              <a:t>Sample Footer Text</a:t>
            </a:r>
            <a:endParaRPr lang="en-US" dirty="0"/>
          </a:p>
        </p:txBody>
      </p:sp>
      <p:sp>
        <p:nvSpPr>
          <p:cNvPr id="6" name="Slide Number Placeholder 5"/>
          <p:cNvSpPr>
            <a:spLocks noGrp="1"/>
          </p:cNvSpPr>
          <p:nvPr>
            <p:ph type="sldNum" sz="quarter" idx="12"/>
          </p:nvPr>
        </p:nvSpPr>
        <p:spPr/>
        <p:txBody>
          <a:bodyPr/>
          <a:lstStyle/>
          <a:p>
            <a:fld id="{CC057153-B650-4DEB-B370-79DDCFDCE934}" type="slidenum">
              <a:rPr lang="en-US" smtClean="0"/>
              <a:pPr/>
              <a:t>‹#›</a:t>
            </a:fld>
            <a:endParaRPr lang="en-US" dirty="0"/>
          </a:p>
        </p:txBody>
      </p:sp>
    </p:spTree>
    <p:extLst>
      <p:ext uri="{BB962C8B-B14F-4D97-AF65-F5344CB8AC3E}">
        <p14:creationId xmlns:p14="http://schemas.microsoft.com/office/powerpoint/2010/main" val="918761235"/>
      </p:ext>
    </p:extLst>
  </p:cSld>
  <p:clrMapOvr>
    <a:masterClrMapping/>
  </p:clrMapOvr>
  <p:hf sldNum="0"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FD1C4689-B28D-4D3C-8B05-9ABB967E2A3E}" type="datetime1">
              <a:rPr lang="en-US" smtClean="0"/>
              <a:t>2/8/2026</a:t>
            </a:fld>
            <a:endParaRPr lang="en-US" dirty="0"/>
          </a:p>
        </p:txBody>
      </p:sp>
      <p:sp>
        <p:nvSpPr>
          <p:cNvPr id="5" name="Footer Placeholder 4"/>
          <p:cNvSpPr>
            <a:spLocks noGrp="1"/>
          </p:cNvSpPr>
          <p:nvPr>
            <p:ph type="ftr" sz="quarter" idx="11"/>
          </p:nvPr>
        </p:nvSpPr>
        <p:spPr/>
        <p:txBody>
          <a:bodyPr/>
          <a:lstStyle/>
          <a:p>
            <a:r>
              <a:rPr lang="en-US"/>
              <a:t>Sample Footer Text</a:t>
            </a:r>
            <a:endParaRPr lang="en-US" dirty="0"/>
          </a:p>
        </p:txBody>
      </p:sp>
      <p:sp>
        <p:nvSpPr>
          <p:cNvPr id="6" name="Slide Number Placeholder 5"/>
          <p:cNvSpPr>
            <a:spLocks noGrp="1"/>
          </p:cNvSpPr>
          <p:nvPr>
            <p:ph type="sldNum" sz="quarter" idx="12"/>
          </p:nvPr>
        </p:nvSpPr>
        <p:spPr/>
        <p:txBody>
          <a:bodyPr/>
          <a:lstStyle/>
          <a:p>
            <a:fld id="{CC057153-B650-4DEB-B370-79DDCFDCE934}" type="slidenum">
              <a:rPr lang="en-US" smtClean="0"/>
              <a:pPr/>
              <a:t>‹#›</a:t>
            </a:fld>
            <a:endParaRPr lang="en-US"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3601367264"/>
      </p:ext>
    </p:extLst>
  </p:cSld>
  <p:clrMapOvr>
    <a:masterClrMapping/>
  </p:clrMapOvr>
  <p:hf sldNum="0"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FD1C4689-B28D-4D3C-8B05-9ABB967E2A3E}" type="datetime1">
              <a:rPr lang="en-US" smtClean="0"/>
              <a:t>2/8/2026</a:t>
            </a:fld>
            <a:endParaRPr lang="en-US" dirty="0"/>
          </a:p>
        </p:txBody>
      </p:sp>
      <p:sp>
        <p:nvSpPr>
          <p:cNvPr id="5" name="Footer Placeholder 4"/>
          <p:cNvSpPr>
            <a:spLocks noGrp="1"/>
          </p:cNvSpPr>
          <p:nvPr>
            <p:ph type="ftr" sz="quarter" idx="11"/>
          </p:nvPr>
        </p:nvSpPr>
        <p:spPr/>
        <p:txBody>
          <a:bodyPr/>
          <a:lstStyle/>
          <a:p>
            <a:r>
              <a:rPr lang="en-US"/>
              <a:t>Sample Footer Text</a:t>
            </a:r>
            <a:endParaRPr lang="en-US" dirty="0"/>
          </a:p>
        </p:txBody>
      </p:sp>
      <p:sp>
        <p:nvSpPr>
          <p:cNvPr id="6" name="Slide Number Placeholder 5"/>
          <p:cNvSpPr>
            <a:spLocks noGrp="1"/>
          </p:cNvSpPr>
          <p:nvPr>
            <p:ph type="sldNum" sz="quarter" idx="12"/>
          </p:nvPr>
        </p:nvSpPr>
        <p:spPr/>
        <p:txBody>
          <a:bodyPr/>
          <a:lstStyle/>
          <a:p>
            <a:fld id="{CC057153-B650-4DEB-B370-79DDCFDCE934}" type="slidenum">
              <a:rPr lang="en-US" smtClean="0"/>
              <a:pPr/>
              <a:t>‹#›</a:t>
            </a:fld>
            <a:endParaRPr lang="en-US" dirty="0"/>
          </a:p>
        </p:txBody>
      </p:sp>
    </p:spTree>
    <p:extLst>
      <p:ext uri="{BB962C8B-B14F-4D97-AF65-F5344CB8AC3E}">
        <p14:creationId xmlns:p14="http://schemas.microsoft.com/office/powerpoint/2010/main" val="2506573549"/>
      </p:ext>
    </p:extLst>
  </p:cSld>
  <p:clrMapOvr>
    <a:masterClrMapping/>
  </p:clrMapOvr>
  <p:hf sldNum="0" hdr="0" ftr="0" dt="0"/>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FD1C4689-B28D-4D3C-8B05-9ABB967E2A3E}" type="datetime1">
              <a:rPr lang="en-US" smtClean="0"/>
              <a:t>2/8/2026</a:t>
            </a:fld>
            <a:endParaRPr lang="en-US" dirty="0"/>
          </a:p>
        </p:txBody>
      </p:sp>
      <p:sp>
        <p:nvSpPr>
          <p:cNvPr id="5" name="Footer Placeholder 4"/>
          <p:cNvSpPr>
            <a:spLocks noGrp="1"/>
          </p:cNvSpPr>
          <p:nvPr>
            <p:ph type="ftr" sz="quarter" idx="11"/>
          </p:nvPr>
        </p:nvSpPr>
        <p:spPr/>
        <p:txBody>
          <a:bodyPr/>
          <a:lstStyle/>
          <a:p>
            <a:r>
              <a:rPr lang="en-US"/>
              <a:t>Sample Footer Text</a:t>
            </a:r>
            <a:endParaRPr lang="en-US" dirty="0"/>
          </a:p>
        </p:txBody>
      </p:sp>
      <p:sp>
        <p:nvSpPr>
          <p:cNvPr id="6" name="Slide Number Placeholder 5"/>
          <p:cNvSpPr>
            <a:spLocks noGrp="1"/>
          </p:cNvSpPr>
          <p:nvPr>
            <p:ph type="sldNum" sz="quarter" idx="12"/>
          </p:nvPr>
        </p:nvSpPr>
        <p:spPr/>
        <p:txBody>
          <a:bodyPr/>
          <a:lstStyle/>
          <a:p>
            <a:fld id="{CC057153-B650-4DEB-B370-79DDCFDCE934}" type="slidenum">
              <a:rPr lang="en-US" smtClean="0"/>
              <a:pPr/>
              <a:t>‹#›</a:t>
            </a:fld>
            <a:endParaRPr lang="en-US"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1948456885"/>
      </p:ext>
    </p:extLst>
  </p:cSld>
  <p:clrMapOvr>
    <a:masterClrMapping/>
  </p:clrMapOvr>
  <p:hf sldNum="0" hdr="0" ftr="0" dt="0"/>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FD1C4689-B28D-4D3C-8B05-9ABB967E2A3E}" type="datetime1">
              <a:rPr lang="en-US" smtClean="0"/>
              <a:t>2/8/2026</a:t>
            </a:fld>
            <a:endParaRPr lang="en-US" dirty="0"/>
          </a:p>
        </p:txBody>
      </p:sp>
      <p:sp>
        <p:nvSpPr>
          <p:cNvPr id="5" name="Footer Placeholder 4"/>
          <p:cNvSpPr>
            <a:spLocks noGrp="1"/>
          </p:cNvSpPr>
          <p:nvPr>
            <p:ph type="ftr" sz="quarter" idx="11"/>
          </p:nvPr>
        </p:nvSpPr>
        <p:spPr/>
        <p:txBody>
          <a:bodyPr/>
          <a:lstStyle/>
          <a:p>
            <a:r>
              <a:rPr lang="en-US"/>
              <a:t>Sample Footer Text</a:t>
            </a:r>
            <a:endParaRPr lang="en-US" dirty="0"/>
          </a:p>
        </p:txBody>
      </p:sp>
      <p:sp>
        <p:nvSpPr>
          <p:cNvPr id="6" name="Slide Number Placeholder 5"/>
          <p:cNvSpPr>
            <a:spLocks noGrp="1"/>
          </p:cNvSpPr>
          <p:nvPr>
            <p:ph type="sldNum" sz="quarter" idx="12"/>
          </p:nvPr>
        </p:nvSpPr>
        <p:spPr/>
        <p:txBody>
          <a:bodyPr/>
          <a:lstStyle/>
          <a:p>
            <a:fld id="{CC057153-B650-4DEB-B370-79DDCFDCE934}" type="slidenum">
              <a:rPr lang="en-US" smtClean="0"/>
              <a:pPr/>
              <a:t>‹#›</a:t>
            </a:fld>
            <a:endParaRPr lang="en-US" dirty="0"/>
          </a:p>
        </p:txBody>
      </p:sp>
    </p:spTree>
    <p:extLst>
      <p:ext uri="{BB962C8B-B14F-4D97-AF65-F5344CB8AC3E}">
        <p14:creationId xmlns:p14="http://schemas.microsoft.com/office/powerpoint/2010/main" val="744719058"/>
      </p:ext>
    </p:extLst>
  </p:cSld>
  <p:clrMapOvr>
    <a:masterClrMapping/>
  </p:clrMapOvr>
  <p:hf sldNum="0" hdr="0" ftr="0" dt="0"/>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FD1C4689-B28D-4D3C-8B05-9ABB967E2A3E}" type="datetime1">
              <a:rPr lang="en-US" smtClean="0"/>
              <a:t>2/8/2026</a:t>
            </a:fld>
            <a:endParaRPr lang="en-US" dirty="0"/>
          </a:p>
        </p:txBody>
      </p:sp>
      <p:sp>
        <p:nvSpPr>
          <p:cNvPr id="5" name="Footer Placeholder 4"/>
          <p:cNvSpPr>
            <a:spLocks noGrp="1"/>
          </p:cNvSpPr>
          <p:nvPr>
            <p:ph type="ftr" sz="quarter" idx="11"/>
          </p:nvPr>
        </p:nvSpPr>
        <p:spPr/>
        <p:txBody>
          <a:bodyPr/>
          <a:lstStyle/>
          <a:p>
            <a:r>
              <a:rPr lang="en-US"/>
              <a:t>Sample Footer Text</a:t>
            </a:r>
            <a:endParaRPr lang="en-US" dirty="0"/>
          </a:p>
        </p:txBody>
      </p:sp>
      <p:sp>
        <p:nvSpPr>
          <p:cNvPr id="6" name="Slide Number Placeholder 5"/>
          <p:cNvSpPr>
            <a:spLocks noGrp="1"/>
          </p:cNvSpPr>
          <p:nvPr>
            <p:ph type="sldNum" sz="quarter" idx="12"/>
          </p:nvPr>
        </p:nvSpPr>
        <p:spPr/>
        <p:txBody>
          <a:bodyPr/>
          <a:lstStyle/>
          <a:p>
            <a:fld id="{CC057153-B650-4DEB-B370-79DDCFDCE934}" type="slidenum">
              <a:rPr lang="en-US" smtClean="0"/>
              <a:pPr/>
              <a:t>‹#›</a:t>
            </a:fld>
            <a:endParaRPr lang="en-US" dirty="0"/>
          </a:p>
        </p:txBody>
      </p:sp>
    </p:spTree>
    <p:extLst>
      <p:ext uri="{BB962C8B-B14F-4D97-AF65-F5344CB8AC3E}">
        <p14:creationId xmlns:p14="http://schemas.microsoft.com/office/powerpoint/2010/main" val="2747662676"/>
      </p:ext>
    </p:extLst>
  </p:cSld>
  <p:clrMapOvr>
    <a:masterClrMapping/>
  </p:clrMapOvr>
  <p:hf sldNum="0" hdr="0" ftr="0" dt="0"/>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FD1C4689-B28D-4D3C-8B05-9ABB967E2A3E}" type="datetime1">
              <a:rPr lang="en-US" smtClean="0"/>
              <a:t>2/8/2026</a:t>
            </a:fld>
            <a:endParaRPr lang="en-US" dirty="0"/>
          </a:p>
        </p:txBody>
      </p:sp>
      <p:sp>
        <p:nvSpPr>
          <p:cNvPr id="5" name="Footer Placeholder 4"/>
          <p:cNvSpPr>
            <a:spLocks noGrp="1"/>
          </p:cNvSpPr>
          <p:nvPr>
            <p:ph type="ftr" sz="quarter" idx="11"/>
          </p:nvPr>
        </p:nvSpPr>
        <p:spPr/>
        <p:txBody>
          <a:bodyPr/>
          <a:lstStyle/>
          <a:p>
            <a:r>
              <a:rPr lang="en-US"/>
              <a:t>Sample Footer Text</a:t>
            </a:r>
            <a:endParaRPr lang="en-US" dirty="0"/>
          </a:p>
        </p:txBody>
      </p:sp>
      <p:sp>
        <p:nvSpPr>
          <p:cNvPr id="6" name="Slide Number Placeholder 5"/>
          <p:cNvSpPr>
            <a:spLocks noGrp="1"/>
          </p:cNvSpPr>
          <p:nvPr>
            <p:ph type="sldNum" sz="quarter" idx="12"/>
          </p:nvPr>
        </p:nvSpPr>
        <p:spPr/>
        <p:txBody>
          <a:bodyPr/>
          <a:lstStyle/>
          <a:p>
            <a:fld id="{CC057153-B650-4DEB-B370-79DDCFDCE934}" type="slidenum">
              <a:rPr lang="en-US" smtClean="0"/>
              <a:pPr/>
              <a:t>‹#›</a:t>
            </a:fld>
            <a:endParaRPr lang="en-US" dirty="0"/>
          </a:p>
        </p:txBody>
      </p:sp>
    </p:spTree>
    <p:extLst>
      <p:ext uri="{BB962C8B-B14F-4D97-AF65-F5344CB8AC3E}">
        <p14:creationId xmlns:p14="http://schemas.microsoft.com/office/powerpoint/2010/main" val="1866276432"/>
      </p:ext>
    </p:extLst>
  </p:cSld>
  <p:clrMapOvr>
    <a:masterClrMapping/>
  </p:clrMapOvr>
  <p:hf sldNum="0" hdr="0" ftr="0" dt="0"/>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44" name="Group 43"/>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4" name="Isosceles Triangle 23"/>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8" name="Isosceles Triangle 27"/>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9" name="Isosceles Triangle 18"/>
            <p:cNvSpPr/>
            <p:nvPr/>
          </p:nvSpPr>
          <p:spPr>
            <a:xfrm>
              <a:off x="0" y="4013200"/>
              <a:ext cx="448733" cy="2844800"/>
            </a:xfrm>
            <a:prstGeom prst="triangle">
              <a:avLst>
                <a:gd name="adj" fmla="val 0"/>
              </a:avLst>
            </a:pr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FD1C4689-B28D-4D3C-8B05-9ABB967E2A3E}" type="datetime1">
              <a:rPr lang="en-US" smtClean="0"/>
              <a:t>2/8/2026</a:t>
            </a:fld>
            <a:endParaRPr lang="en-US" dirty="0"/>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r>
              <a:rPr lang="en-US"/>
              <a:t>Sample Footer Text</a:t>
            </a:r>
            <a:endParaRPr lang="en-US" dirty="0"/>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CC057153-B650-4DEB-B370-79DDCFDCE934}" type="slidenum">
              <a:rPr lang="en-US" smtClean="0"/>
              <a:pPr/>
              <a:t>‹#›</a:t>
            </a:fld>
            <a:endParaRPr lang="en-US" dirty="0"/>
          </a:p>
        </p:txBody>
      </p:sp>
    </p:spTree>
    <p:extLst>
      <p:ext uri="{BB962C8B-B14F-4D97-AF65-F5344CB8AC3E}">
        <p14:creationId xmlns:p14="http://schemas.microsoft.com/office/powerpoint/2010/main" val="3457623945"/>
      </p:ext>
    </p:extLst>
  </p:cSld>
  <p:clrMap bg1="lt1" tx1="dk1" bg2="lt2" tx2="dk2" accent1="accent1" accent2="accent2" accent3="accent3" accent4="accent4" accent5="accent5" accent6="accent6" hlink="hlink" folHlink="folHlink"/>
  <p:sldLayoutIdLst>
    <p:sldLayoutId id="2147483924" r:id="rId1"/>
    <p:sldLayoutId id="2147483925" r:id="rId2"/>
    <p:sldLayoutId id="2147483926" r:id="rId3"/>
    <p:sldLayoutId id="2147483927" r:id="rId4"/>
    <p:sldLayoutId id="2147483928" r:id="rId5"/>
    <p:sldLayoutId id="2147483929" r:id="rId6"/>
    <p:sldLayoutId id="2147483930" r:id="rId7"/>
    <p:sldLayoutId id="2147483931" r:id="rId8"/>
    <p:sldLayoutId id="2147483932" r:id="rId9"/>
    <p:sldLayoutId id="2147483933" r:id="rId10"/>
    <p:sldLayoutId id="2147483934" r:id="rId11"/>
    <p:sldLayoutId id="2147483935" r:id="rId12"/>
    <p:sldLayoutId id="2147483936" r:id="rId13"/>
    <p:sldLayoutId id="2147483937" r:id="rId14"/>
    <p:sldLayoutId id="2147483938" r:id="rId15"/>
    <p:sldLayoutId id="2147483939" r:id="rId16"/>
  </p:sldLayoutIdLst>
  <p:hf sldNum="0" hdr="0" ftr="0" dt="0"/>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4.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hyperlink" Target="https://www.sqlalchemy.org/" TargetMode="Externa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hyperlink" Target="https://fastapi.tiangolo.com/virtual-environments/" TargetMode="Externa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hyperlink" Target="https://docs.sqlalchemy.org/en/14/core/pooling.html" TargetMode="External"/><Relationship Id="rId2" Type="http://schemas.openxmlformats.org/officeDocument/2006/relationships/hyperlink" Target="https://docs.sqlalchemy.org/en/14/core/future.html#sqlalchemy.future.Engine" TargetMode="Externa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hyperlink" Target="https://docs.sqlalchemy.org/en/14/core/future.html#sqlalchemy.future.Connection" TargetMode="External"/><Relationship Id="rId2" Type="http://schemas.openxmlformats.org/officeDocument/2006/relationships/hyperlink" Target="https://docs.sqlalchemy.org/en/14/core/future.html#sqlalchemy.future.Engine" TargetMode="External"/><Relationship Id="rId1" Type="http://schemas.openxmlformats.org/officeDocument/2006/relationships/slideLayout" Target="../slideLayouts/slideLayout2.xml"/><Relationship Id="rId5" Type="http://schemas.openxmlformats.org/officeDocument/2006/relationships/image" Target="../media/image5.png"/><Relationship Id="rId4" Type="http://schemas.openxmlformats.org/officeDocument/2006/relationships/hyperlink" Target="https://docs.python.org/3/reference/compound_stmts.html#with" TargetMode="External"/></Relationships>
</file>

<file path=ppt/slides/_rels/slide22.xml.rels><?xml version="1.0" encoding="UTF-8" standalone="yes"?>
<Relationships xmlns="http://schemas.openxmlformats.org/package/2006/relationships"><Relationship Id="rId3" Type="http://schemas.openxmlformats.org/officeDocument/2006/relationships/hyperlink" Target="https://docs.sqlalchemy.org/en/14/tutorial/orm_data_manipulation.html#tutorial-orm-data-manipulation" TargetMode="External"/><Relationship Id="rId7" Type="http://schemas.openxmlformats.org/officeDocument/2006/relationships/hyperlink" Target="https://docs.sqlalchemy.org/en/14/core/dml.html#sqlalchemy.sql.expression.insert" TargetMode="External"/><Relationship Id="rId2" Type="http://schemas.openxmlformats.org/officeDocument/2006/relationships/hyperlink" Target="https://docs.sqlalchemy.org/en/14/tutorial/data_insert.html#tutorial-core-insert" TargetMode="External"/><Relationship Id="rId1" Type="http://schemas.openxmlformats.org/officeDocument/2006/relationships/slideLayout" Target="../slideLayouts/slideLayout2.xml"/><Relationship Id="rId6" Type="http://schemas.openxmlformats.org/officeDocument/2006/relationships/hyperlink" Target="https://docs.sqlalchemy.org/en/14/core/dml.html#sqlalchemy.sql.expression.Update" TargetMode="External"/><Relationship Id="rId5" Type="http://schemas.openxmlformats.org/officeDocument/2006/relationships/hyperlink" Target="https://docs.sqlalchemy.org/en/14/core/dml.html#sqlalchemy.sql.expression.update" TargetMode="External"/><Relationship Id="rId4" Type="http://schemas.openxmlformats.org/officeDocument/2006/relationships/hyperlink" Target="https://docs.sqlalchemy.org/en/14/tutorial/data_select.html#tutorial-selecting-data" TargetMode="Externa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BF658F-8D2B-6D3F-1510-352DFF3B938D}"/>
              </a:ext>
            </a:extLst>
          </p:cNvPr>
          <p:cNvSpPr>
            <a:spLocks noGrp="1"/>
          </p:cNvSpPr>
          <p:nvPr>
            <p:ph type="ctrTitle"/>
          </p:nvPr>
        </p:nvSpPr>
        <p:spPr/>
        <p:txBody>
          <a:bodyPr anchor="b">
            <a:normAutofit fontScale="90000"/>
          </a:bodyPr>
          <a:lstStyle/>
          <a:p>
            <a:r>
              <a:rPr lang="en-US" dirty="0"/>
              <a:t>FASTAPI Development using Python on Cloud</a:t>
            </a:r>
          </a:p>
        </p:txBody>
      </p:sp>
      <p:sp>
        <p:nvSpPr>
          <p:cNvPr id="3" name="Subtitle 2">
            <a:extLst>
              <a:ext uri="{FF2B5EF4-FFF2-40B4-BE49-F238E27FC236}">
                <a16:creationId xmlns:a16="http://schemas.microsoft.com/office/drawing/2014/main" id="{97A1C9E5-7ED4-7426-203C-4C5CA8872D71}"/>
              </a:ext>
            </a:extLst>
          </p:cNvPr>
          <p:cNvSpPr>
            <a:spLocks noGrp="1"/>
          </p:cNvSpPr>
          <p:nvPr>
            <p:ph type="subTitle" idx="1"/>
          </p:nvPr>
        </p:nvSpPr>
        <p:spPr/>
        <p:txBody>
          <a:bodyPr anchor="t">
            <a:normAutofit/>
          </a:bodyPr>
          <a:lstStyle/>
          <a:p>
            <a:r>
              <a:rPr lang="en-US" dirty="0"/>
              <a:t>FastAPI with Agentic AI on Cloud</a:t>
            </a:r>
          </a:p>
        </p:txBody>
      </p:sp>
    </p:spTree>
    <p:extLst>
      <p:ext uri="{BB962C8B-B14F-4D97-AF65-F5344CB8AC3E}">
        <p14:creationId xmlns:p14="http://schemas.microsoft.com/office/powerpoint/2010/main" val="56856815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C8148847-CC2F-95E7-48C0-CAC990A549A2}"/>
              </a:ext>
            </a:extLst>
          </p:cNvPr>
          <p:cNvSpPr>
            <a:spLocks noGrp="1"/>
          </p:cNvSpPr>
          <p:nvPr>
            <p:ph type="title"/>
          </p:nvPr>
        </p:nvSpPr>
        <p:spPr/>
        <p:txBody>
          <a:bodyPr/>
          <a:lstStyle/>
          <a:p>
            <a:r>
              <a:rPr lang="en-US" dirty="0"/>
              <a:t>Overview of </a:t>
            </a:r>
            <a:r>
              <a:rPr lang="en-US" dirty="0" err="1"/>
              <a:t>Pydantics</a:t>
            </a:r>
            <a:endParaRPr lang="en-US" dirty="0"/>
          </a:p>
        </p:txBody>
      </p:sp>
      <p:sp>
        <p:nvSpPr>
          <p:cNvPr id="5" name="Content Placeholder 4">
            <a:extLst>
              <a:ext uri="{FF2B5EF4-FFF2-40B4-BE49-F238E27FC236}">
                <a16:creationId xmlns:a16="http://schemas.microsoft.com/office/drawing/2014/main" id="{0CA17889-A9F4-5B15-8846-E72483C5F312}"/>
              </a:ext>
            </a:extLst>
          </p:cNvPr>
          <p:cNvSpPr>
            <a:spLocks noGrp="1"/>
          </p:cNvSpPr>
          <p:nvPr>
            <p:ph sz="half" idx="1"/>
          </p:nvPr>
        </p:nvSpPr>
        <p:spPr>
          <a:xfrm>
            <a:off x="677334" y="2160589"/>
            <a:ext cx="8771466" cy="3880772"/>
          </a:xfrm>
        </p:spPr>
        <p:txBody>
          <a:bodyPr/>
          <a:lstStyle/>
          <a:p>
            <a:r>
              <a:rPr lang="en-US" dirty="0"/>
              <a:t>Python library used for data modelling , data parsing and has efficient error handling. </a:t>
            </a:r>
          </a:p>
          <a:p>
            <a:endParaRPr lang="en-US" dirty="0"/>
          </a:p>
          <a:p>
            <a:r>
              <a:rPr lang="en-US" dirty="0" err="1"/>
              <a:t>Pydantics</a:t>
            </a:r>
            <a:r>
              <a:rPr lang="en-US" dirty="0"/>
              <a:t> commonly used as a resource for data validation and how to handle data coming to </a:t>
            </a:r>
            <a:r>
              <a:rPr lang="en-US" dirty="0" err="1"/>
              <a:t>FastAPI</a:t>
            </a:r>
            <a:r>
              <a:rPr lang="en-US" dirty="0"/>
              <a:t> application. </a:t>
            </a:r>
          </a:p>
        </p:txBody>
      </p:sp>
    </p:spTree>
    <p:extLst>
      <p:ext uri="{BB962C8B-B14F-4D97-AF65-F5344CB8AC3E}">
        <p14:creationId xmlns:p14="http://schemas.microsoft.com/office/powerpoint/2010/main" val="189395296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62FD47-CAE6-C096-D8D3-EB919B13F2CB}"/>
              </a:ext>
            </a:extLst>
          </p:cNvPr>
          <p:cNvSpPr>
            <a:spLocks noGrp="1"/>
          </p:cNvSpPr>
          <p:nvPr>
            <p:ph type="title"/>
          </p:nvPr>
        </p:nvSpPr>
        <p:spPr/>
        <p:txBody>
          <a:bodyPr/>
          <a:lstStyle/>
          <a:p>
            <a:r>
              <a:rPr lang="en-US" dirty="0" err="1"/>
              <a:t>Pydantic</a:t>
            </a:r>
            <a:r>
              <a:rPr lang="en-US" dirty="0"/>
              <a:t> Benefits</a:t>
            </a:r>
          </a:p>
        </p:txBody>
      </p:sp>
      <p:sp>
        <p:nvSpPr>
          <p:cNvPr id="3" name="Content Placeholder 2">
            <a:extLst>
              <a:ext uri="{FF2B5EF4-FFF2-40B4-BE49-F238E27FC236}">
                <a16:creationId xmlns:a16="http://schemas.microsoft.com/office/drawing/2014/main" id="{A1F87560-C935-8368-2D2D-9782F3FA8385}"/>
              </a:ext>
            </a:extLst>
          </p:cNvPr>
          <p:cNvSpPr>
            <a:spLocks noGrp="1"/>
          </p:cNvSpPr>
          <p:nvPr>
            <p:ph sz="half" idx="1"/>
          </p:nvPr>
        </p:nvSpPr>
        <p:spPr>
          <a:xfrm>
            <a:off x="677334" y="2160589"/>
            <a:ext cx="10143066" cy="3880772"/>
          </a:xfrm>
        </p:spPr>
        <p:txBody>
          <a:bodyPr/>
          <a:lstStyle/>
          <a:p>
            <a:r>
              <a:rPr lang="en-US" dirty="0"/>
              <a:t>Powered by type hints – with </a:t>
            </a:r>
            <a:r>
              <a:rPr lang="en-US" dirty="0" err="1"/>
              <a:t>Pydantics</a:t>
            </a:r>
            <a:r>
              <a:rPr lang="en-US" dirty="0"/>
              <a:t>, schema validation, serialization are controlled by type annotations. </a:t>
            </a:r>
          </a:p>
          <a:p>
            <a:r>
              <a:rPr lang="en-US" b="1" dirty="0"/>
              <a:t>Fast –</a:t>
            </a:r>
            <a:r>
              <a:rPr lang="en-US" b="1" dirty="0" err="1"/>
              <a:t>Pydantics</a:t>
            </a:r>
            <a:r>
              <a:rPr lang="en-US" b="1" dirty="0"/>
              <a:t> core validation is written in Rust. </a:t>
            </a:r>
            <a:r>
              <a:rPr lang="en-US" dirty="0"/>
              <a:t>One of the fastest data validation library in Python. </a:t>
            </a:r>
          </a:p>
          <a:p>
            <a:r>
              <a:rPr lang="en-US" b="1" dirty="0"/>
              <a:t>Json Schema-</a:t>
            </a:r>
            <a:r>
              <a:rPr lang="en-US" dirty="0"/>
              <a:t> </a:t>
            </a:r>
            <a:r>
              <a:rPr lang="en-US" dirty="0" err="1"/>
              <a:t>Pydantic</a:t>
            </a:r>
            <a:r>
              <a:rPr lang="en-US" dirty="0"/>
              <a:t> model emits JSON schema allowing for easy integration</a:t>
            </a:r>
          </a:p>
          <a:p>
            <a:r>
              <a:rPr lang="en-US" b="1" dirty="0" err="1"/>
              <a:t>DataClasses</a:t>
            </a:r>
            <a:r>
              <a:rPr lang="en-US" b="1" dirty="0"/>
              <a:t> – </a:t>
            </a:r>
            <a:r>
              <a:rPr lang="en-US" dirty="0" err="1"/>
              <a:t>Pydantic</a:t>
            </a:r>
            <a:r>
              <a:rPr lang="en-US" dirty="0"/>
              <a:t> supports validation of many standard libraries like </a:t>
            </a:r>
            <a:r>
              <a:rPr lang="en-US" dirty="0" err="1"/>
              <a:t>dataclass</a:t>
            </a:r>
            <a:r>
              <a:rPr lang="en-US" dirty="0"/>
              <a:t> and </a:t>
            </a:r>
            <a:r>
              <a:rPr lang="en-US" dirty="0" err="1"/>
              <a:t>typedDict</a:t>
            </a:r>
            <a:endParaRPr lang="en-US" dirty="0"/>
          </a:p>
          <a:p>
            <a:r>
              <a:rPr lang="en-US" b="1" dirty="0"/>
              <a:t>Customization </a:t>
            </a:r>
            <a:r>
              <a:rPr lang="en-US" dirty="0"/>
              <a:t>– Allows custom validators and serializers to alter how data is processed. </a:t>
            </a:r>
          </a:p>
          <a:p>
            <a:r>
              <a:rPr lang="en-US" b="1" dirty="0"/>
              <a:t>Ecosystem</a:t>
            </a:r>
            <a:r>
              <a:rPr lang="en-US" dirty="0"/>
              <a:t> –Around 8000 packages on </a:t>
            </a:r>
            <a:r>
              <a:rPr lang="en-US" dirty="0" err="1"/>
              <a:t>PyPI</a:t>
            </a:r>
            <a:r>
              <a:rPr lang="en-US" dirty="0"/>
              <a:t> uses </a:t>
            </a:r>
            <a:r>
              <a:rPr lang="en-US" dirty="0" err="1"/>
              <a:t>Pydantic</a:t>
            </a:r>
            <a:r>
              <a:rPr lang="en-US" dirty="0"/>
              <a:t> &amp; massively popular over </a:t>
            </a:r>
            <a:r>
              <a:rPr lang="en-US" dirty="0" err="1"/>
              <a:t>Langchain</a:t>
            </a:r>
            <a:r>
              <a:rPr lang="en-US" dirty="0"/>
              <a:t>, </a:t>
            </a:r>
            <a:r>
              <a:rPr lang="en-US" dirty="0" err="1"/>
              <a:t>Huggingface</a:t>
            </a:r>
            <a:r>
              <a:rPr lang="en-US" dirty="0"/>
              <a:t>, </a:t>
            </a:r>
            <a:r>
              <a:rPr lang="en-US" dirty="0" err="1"/>
              <a:t>FastAPI</a:t>
            </a:r>
            <a:r>
              <a:rPr lang="en-US" dirty="0"/>
              <a:t>, SQLModel etc. </a:t>
            </a:r>
          </a:p>
          <a:p>
            <a:endParaRPr lang="en-US" dirty="0"/>
          </a:p>
          <a:p>
            <a:endParaRPr lang="en-US" dirty="0"/>
          </a:p>
        </p:txBody>
      </p:sp>
    </p:spTree>
    <p:extLst>
      <p:ext uri="{BB962C8B-B14F-4D97-AF65-F5344CB8AC3E}">
        <p14:creationId xmlns:p14="http://schemas.microsoft.com/office/powerpoint/2010/main" val="45984902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grpSp>
        <p:nvGrpSpPr>
          <p:cNvPr id="9" name="Group 8">
            <a:extLst>
              <a:ext uri="{FF2B5EF4-FFF2-40B4-BE49-F238E27FC236}">
                <a16:creationId xmlns:a16="http://schemas.microsoft.com/office/drawing/2014/main" id="{2A83B46E-4B9D-41E7-AEA4-D49D0E7D87A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8467"/>
            <a:ext cx="12192000" cy="6866467"/>
            <a:chOff x="0" y="-8467"/>
            <a:chExt cx="12192000" cy="6866467"/>
          </a:xfrm>
        </p:grpSpPr>
        <p:cxnSp>
          <p:nvCxnSpPr>
            <p:cNvPr id="10" name="Straight Connector 9">
              <a:extLst>
                <a:ext uri="{FF2B5EF4-FFF2-40B4-BE49-F238E27FC236}">
                  <a16:creationId xmlns:a16="http://schemas.microsoft.com/office/drawing/2014/main" id="{396A8005-E9F4-4EB9-8920-B40570B4AAB0}"/>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11" name="Straight Connector 10">
              <a:extLst>
                <a:ext uri="{FF2B5EF4-FFF2-40B4-BE49-F238E27FC236}">
                  <a16:creationId xmlns:a16="http://schemas.microsoft.com/office/drawing/2014/main" id="{90635935-0E19-45AE-833C-28B82B087FE0}"/>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12" name="Rectangle 23">
              <a:extLst>
                <a:ext uri="{FF2B5EF4-FFF2-40B4-BE49-F238E27FC236}">
                  <a16:creationId xmlns:a16="http://schemas.microsoft.com/office/drawing/2014/main" id="{3F51BFFB-86E2-4C0F-A3E6-9EB854CA433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3" name="Rectangle 25">
              <a:extLst>
                <a:ext uri="{FF2B5EF4-FFF2-40B4-BE49-F238E27FC236}">
                  <a16:creationId xmlns:a16="http://schemas.microsoft.com/office/drawing/2014/main" id="{BC377650-A34B-4F5C-9CF6-357C1AE1AAF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4" name="Isosceles Triangle 13">
              <a:extLst>
                <a:ext uri="{FF2B5EF4-FFF2-40B4-BE49-F238E27FC236}">
                  <a16:creationId xmlns:a16="http://schemas.microsoft.com/office/drawing/2014/main" id="{8EDFD6E0-0A92-4B6A-8B1C-6DD83E6294E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5" name="Rectangle 27">
              <a:extLst>
                <a:ext uri="{FF2B5EF4-FFF2-40B4-BE49-F238E27FC236}">
                  <a16:creationId xmlns:a16="http://schemas.microsoft.com/office/drawing/2014/main" id="{A1D08E0A-48F2-475F-933A-7D65C5B04F8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6" name="Rectangle 28">
              <a:extLst>
                <a:ext uri="{FF2B5EF4-FFF2-40B4-BE49-F238E27FC236}">
                  <a16:creationId xmlns:a16="http://schemas.microsoft.com/office/drawing/2014/main" id="{43F7D684-BFDD-4685-8195-32F1ABE315C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7" name="Rectangle 29">
              <a:extLst>
                <a:ext uri="{FF2B5EF4-FFF2-40B4-BE49-F238E27FC236}">
                  <a16:creationId xmlns:a16="http://schemas.microsoft.com/office/drawing/2014/main" id="{4A0E8712-3D59-4F13-9FD3-F8889E3C544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8" name="Isosceles Triangle 17">
              <a:extLst>
                <a:ext uri="{FF2B5EF4-FFF2-40B4-BE49-F238E27FC236}">
                  <a16:creationId xmlns:a16="http://schemas.microsoft.com/office/drawing/2014/main" id="{D99F7967-C64D-482A-A1B6-896D7EC2274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9" name="Isosceles Triangle 18">
              <a:extLst>
                <a:ext uri="{FF2B5EF4-FFF2-40B4-BE49-F238E27FC236}">
                  <a16:creationId xmlns:a16="http://schemas.microsoft.com/office/drawing/2014/main" id="{7CE53433-52BD-4F44-80A5-B57F4B53A9B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4013200"/>
              <a:ext cx="448733" cy="2844800"/>
            </a:xfrm>
            <a:prstGeom prst="triangle">
              <a:avLst>
                <a:gd name="adj" fmla="val 0"/>
              </a:avLst>
            </a:pr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grpSp>
      <p:sp useBgFill="1">
        <p:nvSpPr>
          <p:cNvPr id="21" name="Rectangle 20">
            <a:extLst>
              <a:ext uri="{FF2B5EF4-FFF2-40B4-BE49-F238E27FC236}">
                <a16:creationId xmlns:a16="http://schemas.microsoft.com/office/drawing/2014/main" id="{86C16C40-7C29-4ACC-B851-7E08E459B59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23" name="Group 22">
            <a:extLst>
              <a:ext uri="{FF2B5EF4-FFF2-40B4-BE49-F238E27FC236}">
                <a16:creationId xmlns:a16="http://schemas.microsoft.com/office/drawing/2014/main" id="{648049AD-9827-49E8-8BF5-32E175C8EA8A}"/>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8467"/>
            <a:ext cx="12192000" cy="6866467"/>
            <a:chOff x="0" y="-8467"/>
            <a:chExt cx="12192000" cy="6866467"/>
          </a:xfrm>
        </p:grpSpPr>
        <p:cxnSp>
          <p:nvCxnSpPr>
            <p:cNvPr id="24" name="Straight Connector 23">
              <a:extLst>
                <a:ext uri="{FF2B5EF4-FFF2-40B4-BE49-F238E27FC236}">
                  <a16:creationId xmlns:a16="http://schemas.microsoft.com/office/drawing/2014/main" id="{3AA99CFD-13BA-4D43-8274-E720ACDBED4B}"/>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5" name="Straight Connector 24">
              <a:extLst>
                <a:ext uri="{FF2B5EF4-FFF2-40B4-BE49-F238E27FC236}">
                  <a16:creationId xmlns:a16="http://schemas.microsoft.com/office/drawing/2014/main" id="{946D58D6-64B0-4752-8159-24114F47A5FF}"/>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6" name="Rectangle 23">
              <a:extLst>
                <a:ext uri="{FF2B5EF4-FFF2-40B4-BE49-F238E27FC236}">
                  <a16:creationId xmlns:a16="http://schemas.microsoft.com/office/drawing/2014/main" id="{C16801F7-F15E-4355-8767-26487BA8B6C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7" name="Rectangle 25">
              <a:extLst>
                <a:ext uri="{FF2B5EF4-FFF2-40B4-BE49-F238E27FC236}">
                  <a16:creationId xmlns:a16="http://schemas.microsoft.com/office/drawing/2014/main" id="{14FF0578-E224-4225-8396-B99D4881FF8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8" name="Isosceles Triangle 27">
              <a:extLst>
                <a:ext uri="{FF2B5EF4-FFF2-40B4-BE49-F238E27FC236}">
                  <a16:creationId xmlns:a16="http://schemas.microsoft.com/office/drawing/2014/main" id="{4642C0E0-9644-41F1-8CF3-33779AA8A3F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9" name="Rectangle 27">
              <a:extLst>
                <a:ext uri="{FF2B5EF4-FFF2-40B4-BE49-F238E27FC236}">
                  <a16:creationId xmlns:a16="http://schemas.microsoft.com/office/drawing/2014/main" id="{5F77D9D3-628A-4607-B307-91AAA560345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30" name="Rectangle 28">
              <a:extLst>
                <a:ext uri="{FF2B5EF4-FFF2-40B4-BE49-F238E27FC236}">
                  <a16:creationId xmlns:a16="http://schemas.microsoft.com/office/drawing/2014/main" id="{0600759E-C22E-4F3D-8569-0DE8F1D4934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31" name="Rectangle 29">
              <a:extLst>
                <a:ext uri="{FF2B5EF4-FFF2-40B4-BE49-F238E27FC236}">
                  <a16:creationId xmlns:a16="http://schemas.microsoft.com/office/drawing/2014/main" id="{9A4E951D-EAB0-4F6B-84AE-B5B25684FD6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32" name="Isosceles Triangle 31">
              <a:extLst>
                <a:ext uri="{FF2B5EF4-FFF2-40B4-BE49-F238E27FC236}">
                  <a16:creationId xmlns:a16="http://schemas.microsoft.com/office/drawing/2014/main" id="{B953BEA8-1B45-419E-BACD-49DB8888B1D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33" name="Isosceles Triangle 32">
              <a:extLst>
                <a:ext uri="{FF2B5EF4-FFF2-40B4-BE49-F238E27FC236}">
                  <a16:creationId xmlns:a16="http://schemas.microsoft.com/office/drawing/2014/main" id="{72B7FA08-1FF3-4AED-B4E9-587D81D6B1B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4013200"/>
              <a:ext cx="448733" cy="2844800"/>
            </a:xfrm>
            <a:prstGeom prst="triangle">
              <a:avLst>
                <a:gd name="adj" fmla="val 0"/>
              </a:avLst>
            </a:pr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grpSp>
      <p:sp>
        <p:nvSpPr>
          <p:cNvPr id="2" name="Title 1">
            <a:extLst>
              <a:ext uri="{FF2B5EF4-FFF2-40B4-BE49-F238E27FC236}">
                <a16:creationId xmlns:a16="http://schemas.microsoft.com/office/drawing/2014/main" id="{E75FBFB4-B885-D5A7-67F3-033797202AF5}"/>
              </a:ext>
            </a:extLst>
          </p:cNvPr>
          <p:cNvSpPr>
            <a:spLocks noGrp="1"/>
          </p:cNvSpPr>
          <p:nvPr>
            <p:ph type="title"/>
          </p:nvPr>
        </p:nvSpPr>
        <p:spPr>
          <a:xfrm>
            <a:off x="677333" y="609600"/>
            <a:ext cx="10634133" cy="1320800"/>
          </a:xfrm>
        </p:spPr>
        <p:txBody>
          <a:bodyPr vert="horz" lIns="91440" tIns="45720" rIns="91440" bIns="45720" rtlCol="0" anchor="t">
            <a:normAutofit/>
          </a:bodyPr>
          <a:lstStyle/>
          <a:p>
            <a:r>
              <a:rPr lang="en-US" dirty="0"/>
              <a:t>HTTP Status Codes</a:t>
            </a:r>
          </a:p>
        </p:txBody>
      </p:sp>
      <p:graphicFrame>
        <p:nvGraphicFramePr>
          <p:cNvPr id="34" name="Content Placeholder 2">
            <a:extLst>
              <a:ext uri="{FF2B5EF4-FFF2-40B4-BE49-F238E27FC236}">
                <a16:creationId xmlns:a16="http://schemas.microsoft.com/office/drawing/2014/main" id="{EBF7483E-8BF3-6993-9CD9-DEB40DB355EF}"/>
              </a:ext>
            </a:extLst>
          </p:cNvPr>
          <p:cNvGraphicFramePr>
            <a:graphicFrameLocks noGrp="1"/>
          </p:cNvGraphicFramePr>
          <p:nvPr>
            <p:ph sz="half" idx="1"/>
            <p:extLst>
              <p:ext uri="{D42A27DB-BD31-4B8C-83A1-F6EECF244321}">
                <p14:modId xmlns:p14="http://schemas.microsoft.com/office/powerpoint/2010/main" val="2839225190"/>
              </p:ext>
              <p:ext uri="{E7BDC344-281C-4309-B0C6-D0EE65EED2A8}">
                <p202:designPr xmlns:p202="http://schemas.microsoft.com/office/powerpoint/2020/02/main">
                  <p202:designTagLst>
                    <p202:designTag name="ARCH:1:CLS" val="InformationBlock"/>
                    <p202:designTag name="ARCH:1:VSVAR" val="TitledTextBox"/>
                  </p202:designTagLst>
                </p202:designPr>
              </p:ext>
            </p:extLst>
          </p:nvPr>
        </p:nvGraphicFramePr>
        <p:xfrm>
          <a:off x="2009658" y="2367628"/>
          <a:ext cx="8596668" cy="13208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5" name="Rectangle 4">
            <a:extLst>
              <a:ext uri="{FF2B5EF4-FFF2-40B4-BE49-F238E27FC236}">
                <a16:creationId xmlns:a16="http://schemas.microsoft.com/office/drawing/2014/main" id="{B2C6C7CA-77E5-916D-83DA-212AD00170EE}"/>
              </a:ext>
            </a:extLst>
          </p:cNvPr>
          <p:cNvSpPr/>
          <p:nvPr/>
        </p:nvSpPr>
        <p:spPr>
          <a:xfrm>
            <a:off x="7806267" y="1676400"/>
            <a:ext cx="1372035" cy="491067"/>
          </a:xfrm>
          <a:prstGeom prst="rect">
            <a:avLst/>
          </a:prstGeom>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en-US" dirty="0"/>
              <a:t>FastAPI</a:t>
            </a:r>
          </a:p>
        </p:txBody>
      </p:sp>
      <p:cxnSp>
        <p:nvCxnSpPr>
          <p:cNvPr id="7" name="Straight Arrow Connector 6">
            <a:extLst>
              <a:ext uri="{FF2B5EF4-FFF2-40B4-BE49-F238E27FC236}">
                <a16:creationId xmlns:a16="http://schemas.microsoft.com/office/drawing/2014/main" id="{1AD03236-97E5-FF39-EDB3-3986CFE31A7B}"/>
              </a:ext>
            </a:extLst>
          </p:cNvPr>
          <p:cNvCxnSpPr/>
          <p:nvPr/>
        </p:nvCxnSpPr>
        <p:spPr>
          <a:xfrm>
            <a:off x="3454400" y="2590800"/>
            <a:ext cx="762000" cy="0"/>
          </a:xfrm>
          <a:prstGeom prst="straightConnector1">
            <a:avLst/>
          </a:prstGeom>
          <a:ln>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20" name="Straight Arrow Connector 19">
            <a:extLst>
              <a:ext uri="{FF2B5EF4-FFF2-40B4-BE49-F238E27FC236}">
                <a16:creationId xmlns:a16="http://schemas.microsoft.com/office/drawing/2014/main" id="{39F1FB80-9A2F-ECFD-D9CF-512D1043A743}"/>
              </a:ext>
            </a:extLst>
          </p:cNvPr>
          <p:cNvCxnSpPr/>
          <p:nvPr/>
        </p:nvCxnSpPr>
        <p:spPr>
          <a:xfrm>
            <a:off x="6824133" y="2590800"/>
            <a:ext cx="1134534" cy="0"/>
          </a:xfrm>
          <a:prstGeom prst="straightConnector1">
            <a:avLst/>
          </a:prstGeom>
          <a:ln>
            <a:headEnd type="triangle"/>
            <a:tailEnd type="triangle"/>
          </a:ln>
        </p:spPr>
        <p:style>
          <a:lnRef idx="1">
            <a:schemeClr val="accent1"/>
          </a:lnRef>
          <a:fillRef idx="0">
            <a:schemeClr val="accent1"/>
          </a:fillRef>
          <a:effectRef idx="0">
            <a:schemeClr val="accent1"/>
          </a:effectRef>
          <a:fontRef idx="minor">
            <a:schemeClr val="tx1"/>
          </a:fontRef>
        </p:style>
      </p:cxnSp>
      <p:sp>
        <p:nvSpPr>
          <p:cNvPr id="22" name="TextBox 21">
            <a:extLst>
              <a:ext uri="{FF2B5EF4-FFF2-40B4-BE49-F238E27FC236}">
                <a16:creationId xmlns:a16="http://schemas.microsoft.com/office/drawing/2014/main" id="{A07829DC-6149-954E-1702-CFBDEA863943}"/>
              </a:ext>
            </a:extLst>
          </p:cNvPr>
          <p:cNvSpPr txBox="1"/>
          <p:nvPr/>
        </p:nvSpPr>
        <p:spPr>
          <a:xfrm>
            <a:off x="1522268" y="3350749"/>
            <a:ext cx="9789198" cy="2031325"/>
          </a:xfrm>
          <a:prstGeom prst="rect">
            <a:avLst/>
          </a:prstGeom>
          <a:noFill/>
        </p:spPr>
        <p:txBody>
          <a:bodyPr wrap="square" rtlCol="0">
            <a:spAutoFit/>
          </a:bodyPr>
          <a:lstStyle/>
          <a:p>
            <a:pPr marL="285750" indent="-285750">
              <a:buFont typeface="Arial" panose="020B0604020202020204" pitchFamily="34" charset="0"/>
              <a:buChar char="•"/>
            </a:pPr>
            <a:r>
              <a:rPr lang="en-US" dirty="0"/>
              <a:t>An HTTP Status Code is used to help the Client to understand what happened on the Server side application</a:t>
            </a:r>
          </a:p>
          <a:p>
            <a:endParaRPr lang="en-US" dirty="0"/>
          </a:p>
          <a:p>
            <a:pPr marL="285750" indent="-285750">
              <a:buFont typeface="Arial" panose="020B0604020202020204" pitchFamily="34" charset="0"/>
              <a:buChar char="•"/>
            </a:pPr>
            <a:r>
              <a:rPr lang="en-US" dirty="0"/>
              <a:t>Status Codes are international standards on how a Client/Server should handle the result of a request. </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n-US" dirty="0"/>
              <a:t>It allows everyone who sends a request to know if their submission is successful or not. </a:t>
            </a:r>
          </a:p>
        </p:txBody>
      </p:sp>
    </p:spTree>
    <p:extLst>
      <p:ext uri="{BB962C8B-B14F-4D97-AF65-F5344CB8AC3E}">
        <p14:creationId xmlns:p14="http://schemas.microsoft.com/office/powerpoint/2010/main" val="1564788362"/>
      </p:ext>
    </p:extLst>
  </p:cSld>
  <p:clrMapOvr>
    <a:overrideClrMapping bg1="dk1" tx1="lt1" bg2="dk2" tx2="lt2" accent1="accent1" accent2="accent2" accent3="accent3" accent4="accent4" accent5="accent5" accent6="accent6" hlink="hlink" folHlink="folHlink"/>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98F66557-E426-2E4D-B4E0-0F6385CB63C5}"/>
              </a:ext>
            </a:extLst>
          </p:cNvPr>
          <p:cNvSpPr>
            <a:spLocks noGrp="1"/>
          </p:cNvSpPr>
          <p:nvPr>
            <p:ph type="title"/>
          </p:nvPr>
        </p:nvSpPr>
        <p:spPr>
          <a:xfrm>
            <a:off x="677334" y="626534"/>
            <a:ext cx="8596668" cy="1320800"/>
          </a:xfrm>
        </p:spPr>
        <p:txBody>
          <a:bodyPr/>
          <a:lstStyle/>
          <a:p>
            <a:r>
              <a:rPr lang="en-US" dirty="0"/>
              <a:t>Status Codes</a:t>
            </a:r>
          </a:p>
        </p:txBody>
      </p:sp>
      <p:sp>
        <p:nvSpPr>
          <p:cNvPr id="4" name="Rectangle 3">
            <a:extLst>
              <a:ext uri="{FF2B5EF4-FFF2-40B4-BE49-F238E27FC236}">
                <a16:creationId xmlns:a16="http://schemas.microsoft.com/office/drawing/2014/main" id="{65B2736C-B7D6-5590-1260-2C7DCC194B66}"/>
              </a:ext>
            </a:extLst>
          </p:cNvPr>
          <p:cNvSpPr/>
          <p:nvPr/>
        </p:nvSpPr>
        <p:spPr>
          <a:xfrm>
            <a:off x="812800" y="1456268"/>
            <a:ext cx="1727200" cy="795866"/>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1xx</a:t>
            </a:r>
          </a:p>
        </p:txBody>
      </p:sp>
      <p:sp>
        <p:nvSpPr>
          <p:cNvPr id="6" name="TextBox 5">
            <a:extLst>
              <a:ext uri="{FF2B5EF4-FFF2-40B4-BE49-F238E27FC236}">
                <a16:creationId xmlns:a16="http://schemas.microsoft.com/office/drawing/2014/main" id="{B0A5DFC6-FA39-9620-EEDF-D447B442FB7F}"/>
              </a:ext>
            </a:extLst>
          </p:cNvPr>
          <p:cNvSpPr txBox="1"/>
          <p:nvPr/>
        </p:nvSpPr>
        <p:spPr>
          <a:xfrm>
            <a:off x="3776131" y="1613472"/>
            <a:ext cx="6282267" cy="369332"/>
          </a:xfrm>
          <a:prstGeom prst="rect">
            <a:avLst/>
          </a:prstGeom>
          <a:noFill/>
        </p:spPr>
        <p:txBody>
          <a:bodyPr wrap="square" rtlCol="0">
            <a:spAutoFit/>
          </a:bodyPr>
          <a:lstStyle/>
          <a:p>
            <a:r>
              <a:rPr lang="en-US" dirty="0"/>
              <a:t>Information Response: Request Processing. </a:t>
            </a:r>
          </a:p>
        </p:txBody>
      </p:sp>
      <p:sp>
        <p:nvSpPr>
          <p:cNvPr id="7" name="Rectangle 6">
            <a:extLst>
              <a:ext uri="{FF2B5EF4-FFF2-40B4-BE49-F238E27FC236}">
                <a16:creationId xmlns:a16="http://schemas.microsoft.com/office/drawing/2014/main" id="{49F09033-F71A-1B58-0A8D-174C20A6283D}"/>
              </a:ext>
            </a:extLst>
          </p:cNvPr>
          <p:cNvSpPr/>
          <p:nvPr/>
        </p:nvSpPr>
        <p:spPr>
          <a:xfrm>
            <a:off x="812800" y="2556933"/>
            <a:ext cx="1727200" cy="795866"/>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2xx</a:t>
            </a:r>
          </a:p>
        </p:txBody>
      </p:sp>
      <p:sp>
        <p:nvSpPr>
          <p:cNvPr id="8" name="Rectangle 7">
            <a:extLst>
              <a:ext uri="{FF2B5EF4-FFF2-40B4-BE49-F238E27FC236}">
                <a16:creationId xmlns:a16="http://schemas.microsoft.com/office/drawing/2014/main" id="{6BCFE40B-CCB4-B6D4-DE25-7B6F9C78E2D0}"/>
              </a:ext>
            </a:extLst>
          </p:cNvPr>
          <p:cNvSpPr/>
          <p:nvPr/>
        </p:nvSpPr>
        <p:spPr>
          <a:xfrm>
            <a:off x="812800" y="3708402"/>
            <a:ext cx="1727200" cy="795866"/>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3xx</a:t>
            </a:r>
          </a:p>
        </p:txBody>
      </p:sp>
      <p:sp>
        <p:nvSpPr>
          <p:cNvPr id="9" name="Rectangle 8">
            <a:extLst>
              <a:ext uri="{FF2B5EF4-FFF2-40B4-BE49-F238E27FC236}">
                <a16:creationId xmlns:a16="http://schemas.microsoft.com/office/drawing/2014/main" id="{082435DB-2C49-E88F-63FA-8FF3340A0081}"/>
              </a:ext>
            </a:extLst>
          </p:cNvPr>
          <p:cNvSpPr/>
          <p:nvPr/>
        </p:nvSpPr>
        <p:spPr>
          <a:xfrm>
            <a:off x="812800" y="4724400"/>
            <a:ext cx="1727200" cy="795866"/>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4xx</a:t>
            </a:r>
          </a:p>
        </p:txBody>
      </p:sp>
      <p:sp>
        <p:nvSpPr>
          <p:cNvPr id="10" name="Rectangle 9">
            <a:extLst>
              <a:ext uri="{FF2B5EF4-FFF2-40B4-BE49-F238E27FC236}">
                <a16:creationId xmlns:a16="http://schemas.microsoft.com/office/drawing/2014/main" id="{0BF6156D-D18F-9D0B-0109-B4953E979428}"/>
              </a:ext>
            </a:extLst>
          </p:cNvPr>
          <p:cNvSpPr/>
          <p:nvPr/>
        </p:nvSpPr>
        <p:spPr>
          <a:xfrm>
            <a:off x="812800" y="5833533"/>
            <a:ext cx="1727200" cy="795866"/>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5xx</a:t>
            </a:r>
          </a:p>
        </p:txBody>
      </p:sp>
      <p:sp>
        <p:nvSpPr>
          <p:cNvPr id="11" name="TextBox 10">
            <a:extLst>
              <a:ext uri="{FF2B5EF4-FFF2-40B4-BE49-F238E27FC236}">
                <a16:creationId xmlns:a16="http://schemas.microsoft.com/office/drawing/2014/main" id="{6C1C074E-5F08-03D3-0FBE-2D22C7B8B405}"/>
              </a:ext>
            </a:extLst>
          </p:cNvPr>
          <p:cNvSpPr txBox="1"/>
          <p:nvPr/>
        </p:nvSpPr>
        <p:spPr>
          <a:xfrm>
            <a:off x="3776133" y="2675467"/>
            <a:ext cx="4995334" cy="369332"/>
          </a:xfrm>
          <a:prstGeom prst="rect">
            <a:avLst/>
          </a:prstGeom>
          <a:noFill/>
        </p:spPr>
        <p:txBody>
          <a:bodyPr wrap="square" rtlCol="0">
            <a:spAutoFit/>
          </a:bodyPr>
          <a:lstStyle/>
          <a:p>
            <a:r>
              <a:rPr lang="en-US" dirty="0"/>
              <a:t>Success: Request Successfully complete</a:t>
            </a:r>
          </a:p>
        </p:txBody>
      </p:sp>
      <p:sp>
        <p:nvSpPr>
          <p:cNvPr id="12" name="TextBox 11">
            <a:extLst>
              <a:ext uri="{FF2B5EF4-FFF2-40B4-BE49-F238E27FC236}">
                <a16:creationId xmlns:a16="http://schemas.microsoft.com/office/drawing/2014/main" id="{5A5DEC54-8CD9-D55B-7913-E263127222B2}"/>
              </a:ext>
            </a:extLst>
          </p:cNvPr>
          <p:cNvSpPr txBox="1"/>
          <p:nvPr/>
        </p:nvSpPr>
        <p:spPr>
          <a:xfrm>
            <a:off x="3776131" y="3896268"/>
            <a:ext cx="6282267" cy="369332"/>
          </a:xfrm>
          <a:prstGeom prst="rect">
            <a:avLst/>
          </a:prstGeom>
          <a:noFill/>
        </p:spPr>
        <p:txBody>
          <a:bodyPr wrap="square" rtlCol="0">
            <a:spAutoFit/>
          </a:bodyPr>
          <a:lstStyle/>
          <a:p>
            <a:r>
              <a:rPr lang="en-US" dirty="0"/>
              <a:t>Redirection: Further action must be complete </a:t>
            </a:r>
          </a:p>
        </p:txBody>
      </p:sp>
      <p:sp>
        <p:nvSpPr>
          <p:cNvPr id="13" name="TextBox 12">
            <a:extLst>
              <a:ext uri="{FF2B5EF4-FFF2-40B4-BE49-F238E27FC236}">
                <a16:creationId xmlns:a16="http://schemas.microsoft.com/office/drawing/2014/main" id="{48D9D4C6-2911-7A61-7783-539C70A8CD88}"/>
              </a:ext>
            </a:extLst>
          </p:cNvPr>
          <p:cNvSpPr txBox="1"/>
          <p:nvPr/>
        </p:nvSpPr>
        <p:spPr>
          <a:xfrm>
            <a:off x="3666066" y="4932403"/>
            <a:ext cx="5215468" cy="369332"/>
          </a:xfrm>
          <a:prstGeom prst="rect">
            <a:avLst/>
          </a:prstGeom>
          <a:noFill/>
        </p:spPr>
        <p:txBody>
          <a:bodyPr wrap="square" rtlCol="0">
            <a:spAutoFit/>
          </a:bodyPr>
          <a:lstStyle/>
          <a:p>
            <a:r>
              <a:rPr lang="en-US" dirty="0"/>
              <a:t>Client Errors: An Error was caused by the Client</a:t>
            </a:r>
          </a:p>
        </p:txBody>
      </p:sp>
      <p:sp>
        <p:nvSpPr>
          <p:cNvPr id="14" name="TextBox 13">
            <a:extLst>
              <a:ext uri="{FF2B5EF4-FFF2-40B4-BE49-F238E27FC236}">
                <a16:creationId xmlns:a16="http://schemas.microsoft.com/office/drawing/2014/main" id="{AA495217-33B4-AF44-9BDB-F711CDDE589E}"/>
              </a:ext>
            </a:extLst>
          </p:cNvPr>
          <p:cNvSpPr txBox="1"/>
          <p:nvPr/>
        </p:nvSpPr>
        <p:spPr>
          <a:xfrm>
            <a:off x="3776133" y="6011333"/>
            <a:ext cx="4995334" cy="369332"/>
          </a:xfrm>
          <a:prstGeom prst="rect">
            <a:avLst/>
          </a:prstGeom>
          <a:noFill/>
        </p:spPr>
        <p:txBody>
          <a:bodyPr wrap="square" rtlCol="0">
            <a:spAutoFit/>
          </a:bodyPr>
          <a:lstStyle/>
          <a:p>
            <a:r>
              <a:rPr lang="en-US" dirty="0"/>
              <a:t>Server Errors: An error occurred on the server</a:t>
            </a:r>
          </a:p>
        </p:txBody>
      </p:sp>
      <p:cxnSp>
        <p:nvCxnSpPr>
          <p:cNvPr id="16" name="Straight Arrow Connector 15">
            <a:extLst>
              <a:ext uri="{FF2B5EF4-FFF2-40B4-BE49-F238E27FC236}">
                <a16:creationId xmlns:a16="http://schemas.microsoft.com/office/drawing/2014/main" id="{EEF96B71-BB6B-3B87-7F31-7C9F0824708B}"/>
              </a:ext>
            </a:extLst>
          </p:cNvPr>
          <p:cNvCxnSpPr/>
          <p:nvPr/>
        </p:nvCxnSpPr>
        <p:spPr>
          <a:xfrm>
            <a:off x="2794000" y="1854201"/>
            <a:ext cx="829733"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7" name="Straight Arrow Connector 16">
            <a:extLst>
              <a:ext uri="{FF2B5EF4-FFF2-40B4-BE49-F238E27FC236}">
                <a16:creationId xmlns:a16="http://schemas.microsoft.com/office/drawing/2014/main" id="{5781A0A8-D840-55DA-7364-E6942EEE9904}"/>
              </a:ext>
            </a:extLst>
          </p:cNvPr>
          <p:cNvCxnSpPr/>
          <p:nvPr/>
        </p:nvCxnSpPr>
        <p:spPr>
          <a:xfrm>
            <a:off x="2717799" y="2868601"/>
            <a:ext cx="829733"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8" name="Straight Arrow Connector 17">
            <a:extLst>
              <a:ext uri="{FF2B5EF4-FFF2-40B4-BE49-F238E27FC236}">
                <a16:creationId xmlns:a16="http://schemas.microsoft.com/office/drawing/2014/main" id="{DFB80295-791E-3F86-5AD9-0450C8395689}"/>
              </a:ext>
            </a:extLst>
          </p:cNvPr>
          <p:cNvCxnSpPr/>
          <p:nvPr/>
        </p:nvCxnSpPr>
        <p:spPr>
          <a:xfrm>
            <a:off x="2650066" y="4064003"/>
            <a:ext cx="829733"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9" name="Straight Arrow Connector 18">
            <a:extLst>
              <a:ext uri="{FF2B5EF4-FFF2-40B4-BE49-F238E27FC236}">
                <a16:creationId xmlns:a16="http://schemas.microsoft.com/office/drawing/2014/main" id="{DD3B1A09-C02E-DD5E-458F-D8398B8805BF}"/>
              </a:ext>
            </a:extLst>
          </p:cNvPr>
          <p:cNvCxnSpPr/>
          <p:nvPr/>
        </p:nvCxnSpPr>
        <p:spPr>
          <a:xfrm>
            <a:off x="2675465" y="5122333"/>
            <a:ext cx="829733"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0" name="Straight Arrow Connector 19">
            <a:extLst>
              <a:ext uri="{FF2B5EF4-FFF2-40B4-BE49-F238E27FC236}">
                <a16:creationId xmlns:a16="http://schemas.microsoft.com/office/drawing/2014/main" id="{8F0B7035-9D93-C834-4A05-F9964B80C597}"/>
              </a:ext>
            </a:extLst>
          </p:cNvPr>
          <p:cNvCxnSpPr/>
          <p:nvPr/>
        </p:nvCxnSpPr>
        <p:spPr>
          <a:xfrm>
            <a:off x="2675465" y="6170600"/>
            <a:ext cx="829733"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12399186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27E7B4-33CE-1211-9B63-C642E7495B31}"/>
              </a:ext>
            </a:extLst>
          </p:cNvPr>
          <p:cNvSpPr>
            <a:spLocks noGrp="1"/>
          </p:cNvSpPr>
          <p:nvPr>
            <p:ph type="title"/>
          </p:nvPr>
        </p:nvSpPr>
        <p:spPr/>
        <p:txBody>
          <a:bodyPr/>
          <a:lstStyle/>
          <a:p>
            <a:r>
              <a:rPr lang="en-US" dirty="0"/>
              <a:t>2xx Successful Status Codes:  </a:t>
            </a:r>
          </a:p>
        </p:txBody>
      </p:sp>
      <p:sp>
        <p:nvSpPr>
          <p:cNvPr id="3" name="Rectangle 2">
            <a:extLst>
              <a:ext uri="{FF2B5EF4-FFF2-40B4-BE49-F238E27FC236}">
                <a16:creationId xmlns:a16="http://schemas.microsoft.com/office/drawing/2014/main" id="{DA434AB1-A15D-9A4D-E583-C1D86448EB9F}"/>
              </a:ext>
            </a:extLst>
          </p:cNvPr>
          <p:cNvSpPr/>
          <p:nvPr/>
        </p:nvSpPr>
        <p:spPr>
          <a:xfrm>
            <a:off x="914400" y="1794933"/>
            <a:ext cx="1778000" cy="948267"/>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200: OK</a:t>
            </a:r>
          </a:p>
        </p:txBody>
      </p:sp>
      <p:sp>
        <p:nvSpPr>
          <p:cNvPr id="4" name="Rectangle 3">
            <a:extLst>
              <a:ext uri="{FF2B5EF4-FFF2-40B4-BE49-F238E27FC236}">
                <a16:creationId xmlns:a16="http://schemas.microsoft.com/office/drawing/2014/main" id="{37F14FC9-8395-DB05-9712-7B53B73C89B5}"/>
              </a:ext>
            </a:extLst>
          </p:cNvPr>
          <p:cNvSpPr/>
          <p:nvPr/>
        </p:nvSpPr>
        <p:spPr>
          <a:xfrm>
            <a:off x="914400" y="3302000"/>
            <a:ext cx="1778000" cy="948267"/>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201</a:t>
            </a:r>
          </a:p>
        </p:txBody>
      </p:sp>
      <p:sp>
        <p:nvSpPr>
          <p:cNvPr id="6" name="Rectangle 5">
            <a:extLst>
              <a:ext uri="{FF2B5EF4-FFF2-40B4-BE49-F238E27FC236}">
                <a16:creationId xmlns:a16="http://schemas.microsoft.com/office/drawing/2014/main" id="{A80467C2-0C3A-D122-A1F4-743CB485A7DC}"/>
              </a:ext>
            </a:extLst>
          </p:cNvPr>
          <p:cNvSpPr/>
          <p:nvPr/>
        </p:nvSpPr>
        <p:spPr>
          <a:xfrm>
            <a:off x="914400" y="4809067"/>
            <a:ext cx="1778000" cy="948267"/>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204: No</a:t>
            </a:r>
          </a:p>
        </p:txBody>
      </p:sp>
      <p:sp>
        <p:nvSpPr>
          <p:cNvPr id="8" name="TextBox 7">
            <a:extLst>
              <a:ext uri="{FF2B5EF4-FFF2-40B4-BE49-F238E27FC236}">
                <a16:creationId xmlns:a16="http://schemas.microsoft.com/office/drawing/2014/main" id="{17CC0DD1-C47C-AC04-6215-BD97708E1B23}"/>
              </a:ext>
            </a:extLst>
          </p:cNvPr>
          <p:cNvSpPr txBox="1"/>
          <p:nvPr/>
        </p:nvSpPr>
        <p:spPr>
          <a:xfrm>
            <a:off x="3996266" y="1930400"/>
            <a:ext cx="6604000" cy="646331"/>
          </a:xfrm>
          <a:prstGeom prst="rect">
            <a:avLst/>
          </a:prstGeom>
          <a:noFill/>
        </p:spPr>
        <p:txBody>
          <a:bodyPr wrap="square" rtlCol="0">
            <a:spAutoFit/>
          </a:bodyPr>
          <a:lstStyle/>
          <a:p>
            <a:r>
              <a:rPr lang="en-US" dirty="0"/>
              <a:t>Standard response for a successful request. Commonly used for successful Get requests when data is being returned. </a:t>
            </a:r>
          </a:p>
        </p:txBody>
      </p:sp>
      <p:sp>
        <p:nvSpPr>
          <p:cNvPr id="10" name="TextBox 9">
            <a:extLst>
              <a:ext uri="{FF2B5EF4-FFF2-40B4-BE49-F238E27FC236}">
                <a16:creationId xmlns:a16="http://schemas.microsoft.com/office/drawing/2014/main" id="{E5A7E504-012C-FBC3-8851-4208528C79BE}"/>
              </a:ext>
            </a:extLst>
          </p:cNvPr>
          <p:cNvSpPr txBox="1"/>
          <p:nvPr/>
        </p:nvSpPr>
        <p:spPr>
          <a:xfrm>
            <a:off x="3996266" y="3302000"/>
            <a:ext cx="5943601" cy="646331"/>
          </a:xfrm>
          <a:prstGeom prst="rect">
            <a:avLst/>
          </a:prstGeom>
          <a:noFill/>
        </p:spPr>
        <p:txBody>
          <a:bodyPr wrap="square" rtlCol="0">
            <a:spAutoFit/>
          </a:bodyPr>
          <a:lstStyle/>
          <a:p>
            <a:r>
              <a:rPr lang="en-US" dirty="0"/>
              <a:t>The request has been successful. Creating a new resource. Used when a POST creates an entity.</a:t>
            </a:r>
          </a:p>
        </p:txBody>
      </p:sp>
      <p:sp>
        <p:nvSpPr>
          <p:cNvPr id="11" name="TextBox 10">
            <a:extLst>
              <a:ext uri="{FF2B5EF4-FFF2-40B4-BE49-F238E27FC236}">
                <a16:creationId xmlns:a16="http://schemas.microsoft.com/office/drawing/2014/main" id="{14762D1E-3366-EB4C-3389-63B8B68E9DBE}"/>
              </a:ext>
            </a:extLst>
          </p:cNvPr>
          <p:cNvSpPr txBox="1"/>
          <p:nvPr/>
        </p:nvSpPr>
        <p:spPr>
          <a:xfrm>
            <a:off x="3996266" y="4978400"/>
            <a:ext cx="6163734" cy="646331"/>
          </a:xfrm>
          <a:prstGeom prst="rect">
            <a:avLst/>
          </a:prstGeom>
          <a:noFill/>
        </p:spPr>
        <p:txBody>
          <a:bodyPr wrap="square" rtlCol="0">
            <a:spAutoFit/>
          </a:bodyPr>
          <a:lstStyle/>
          <a:p>
            <a:r>
              <a:rPr lang="en-US" dirty="0"/>
              <a:t>The request has been successful, did not create an entity nor return anything. Used mainly with PUT request. </a:t>
            </a:r>
          </a:p>
        </p:txBody>
      </p:sp>
      <p:cxnSp>
        <p:nvCxnSpPr>
          <p:cNvPr id="13" name="Straight Arrow Connector 12">
            <a:extLst>
              <a:ext uri="{FF2B5EF4-FFF2-40B4-BE49-F238E27FC236}">
                <a16:creationId xmlns:a16="http://schemas.microsoft.com/office/drawing/2014/main" id="{FFBF72F0-D9D7-6940-758F-6236280017AC}"/>
              </a:ext>
            </a:extLst>
          </p:cNvPr>
          <p:cNvCxnSpPr>
            <a:endCxn id="8" idx="1"/>
          </p:cNvCxnSpPr>
          <p:nvPr/>
        </p:nvCxnSpPr>
        <p:spPr>
          <a:xfrm>
            <a:off x="2827867" y="2235200"/>
            <a:ext cx="1049866"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4" name="Straight Arrow Connector 13">
            <a:extLst>
              <a:ext uri="{FF2B5EF4-FFF2-40B4-BE49-F238E27FC236}">
                <a16:creationId xmlns:a16="http://schemas.microsoft.com/office/drawing/2014/main" id="{FF860829-235D-A581-4D0A-5DD897089A5D}"/>
              </a:ext>
            </a:extLst>
          </p:cNvPr>
          <p:cNvCxnSpPr/>
          <p:nvPr/>
        </p:nvCxnSpPr>
        <p:spPr>
          <a:xfrm>
            <a:off x="2827867" y="3691467"/>
            <a:ext cx="1049866"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5" name="Straight Arrow Connector 14">
            <a:extLst>
              <a:ext uri="{FF2B5EF4-FFF2-40B4-BE49-F238E27FC236}">
                <a16:creationId xmlns:a16="http://schemas.microsoft.com/office/drawing/2014/main" id="{FCD55E19-1A0C-88B1-CAB9-B7A53B52578D}"/>
              </a:ext>
            </a:extLst>
          </p:cNvPr>
          <p:cNvCxnSpPr/>
          <p:nvPr/>
        </p:nvCxnSpPr>
        <p:spPr>
          <a:xfrm>
            <a:off x="2827867" y="5215467"/>
            <a:ext cx="1049866"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30126460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AB04DE3-87D9-2E43-BAEA-839BC927388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394CFCD-FA12-481E-BB68-075B25D47466}"/>
              </a:ext>
            </a:extLst>
          </p:cNvPr>
          <p:cNvSpPr>
            <a:spLocks noGrp="1"/>
          </p:cNvSpPr>
          <p:nvPr>
            <p:ph type="title"/>
          </p:nvPr>
        </p:nvSpPr>
        <p:spPr/>
        <p:txBody>
          <a:bodyPr/>
          <a:lstStyle/>
          <a:p>
            <a:r>
              <a:rPr lang="en-US" dirty="0"/>
              <a:t>4xx Client Errors Status Codes:  </a:t>
            </a:r>
          </a:p>
        </p:txBody>
      </p:sp>
      <p:sp>
        <p:nvSpPr>
          <p:cNvPr id="3" name="Rectangle 2">
            <a:extLst>
              <a:ext uri="{FF2B5EF4-FFF2-40B4-BE49-F238E27FC236}">
                <a16:creationId xmlns:a16="http://schemas.microsoft.com/office/drawing/2014/main" id="{50FCD781-1081-7E2F-9F0D-5CE5DFC63B0A}"/>
              </a:ext>
            </a:extLst>
          </p:cNvPr>
          <p:cNvSpPr/>
          <p:nvPr/>
        </p:nvSpPr>
        <p:spPr>
          <a:xfrm>
            <a:off x="914400" y="1794933"/>
            <a:ext cx="1778000" cy="948267"/>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400: Bad</a:t>
            </a:r>
          </a:p>
        </p:txBody>
      </p:sp>
      <p:sp>
        <p:nvSpPr>
          <p:cNvPr id="4" name="Rectangle 3">
            <a:extLst>
              <a:ext uri="{FF2B5EF4-FFF2-40B4-BE49-F238E27FC236}">
                <a16:creationId xmlns:a16="http://schemas.microsoft.com/office/drawing/2014/main" id="{BA6D965B-A784-31A7-90C8-CCC2CFA546D4}"/>
              </a:ext>
            </a:extLst>
          </p:cNvPr>
          <p:cNvSpPr/>
          <p:nvPr/>
        </p:nvSpPr>
        <p:spPr>
          <a:xfrm>
            <a:off x="914400" y="3302000"/>
            <a:ext cx="1778000" cy="948267"/>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401: Unauthorized</a:t>
            </a:r>
          </a:p>
        </p:txBody>
      </p:sp>
      <p:sp>
        <p:nvSpPr>
          <p:cNvPr id="6" name="Rectangle 5">
            <a:extLst>
              <a:ext uri="{FF2B5EF4-FFF2-40B4-BE49-F238E27FC236}">
                <a16:creationId xmlns:a16="http://schemas.microsoft.com/office/drawing/2014/main" id="{ADA30212-8D5D-DCA7-CA7B-3A324DBCEB91}"/>
              </a:ext>
            </a:extLst>
          </p:cNvPr>
          <p:cNvSpPr/>
          <p:nvPr/>
        </p:nvSpPr>
        <p:spPr>
          <a:xfrm>
            <a:off x="914400" y="4688932"/>
            <a:ext cx="1778000" cy="948267"/>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404: Not</a:t>
            </a:r>
          </a:p>
        </p:txBody>
      </p:sp>
      <p:sp>
        <p:nvSpPr>
          <p:cNvPr id="8" name="TextBox 7">
            <a:extLst>
              <a:ext uri="{FF2B5EF4-FFF2-40B4-BE49-F238E27FC236}">
                <a16:creationId xmlns:a16="http://schemas.microsoft.com/office/drawing/2014/main" id="{1EC44C5C-8AA3-46D3-BDCE-314BCC3DD4F1}"/>
              </a:ext>
            </a:extLst>
          </p:cNvPr>
          <p:cNvSpPr txBox="1"/>
          <p:nvPr/>
        </p:nvSpPr>
        <p:spPr>
          <a:xfrm>
            <a:off x="3996266" y="1930400"/>
            <a:ext cx="6604000" cy="646331"/>
          </a:xfrm>
          <a:prstGeom prst="rect">
            <a:avLst/>
          </a:prstGeom>
          <a:noFill/>
        </p:spPr>
        <p:txBody>
          <a:bodyPr wrap="square" rtlCol="0">
            <a:spAutoFit/>
          </a:bodyPr>
          <a:lstStyle/>
          <a:p>
            <a:r>
              <a:rPr lang="en-US" dirty="0"/>
              <a:t>Can’t process request due to client error. Commonly used for invalid request methods. </a:t>
            </a:r>
          </a:p>
        </p:txBody>
      </p:sp>
      <p:sp>
        <p:nvSpPr>
          <p:cNvPr id="10" name="TextBox 9">
            <a:extLst>
              <a:ext uri="{FF2B5EF4-FFF2-40B4-BE49-F238E27FC236}">
                <a16:creationId xmlns:a16="http://schemas.microsoft.com/office/drawing/2014/main" id="{A467218F-1D74-91D1-DF7A-72C49A842308}"/>
              </a:ext>
            </a:extLst>
          </p:cNvPr>
          <p:cNvSpPr txBox="1"/>
          <p:nvPr/>
        </p:nvSpPr>
        <p:spPr>
          <a:xfrm>
            <a:off x="3996266" y="3302000"/>
            <a:ext cx="5943601" cy="646331"/>
          </a:xfrm>
          <a:prstGeom prst="rect">
            <a:avLst/>
          </a:prstGeom>
          <a:noFill/>
        </p:spPr>
        <p:txBody>
          <a:bodyPr wrap="square" rtlCol="0">
            <a:spAutoFit/>
          </a:bodyPr>
          <a:lstStyle/>
          <a:p>
            <a:r>
              <a:rPr lang="en-US" dirty="0"/>
              <a:t>Client does not have valid authentication for target resource</a:t>
            </a:r>
          </a:p>
        </p:txBody>
      </p:sp>
      <p:sp>
        <p:nvSpPr>
          <p:cNvPr id="11" name="TextBox 10">
            <a:extLst>
              <a:ext uri="{FF2B5EF4-FFF2-40B4-BE49-F238E27FC236}">
                <a16:creationId xmlns:a16="http://schemas.microsoft.com/office/drawing/2014/main" id="{E3524FA1-DCC2-ED0E-87DC-968BF78316AB}"/>
              </a:ext>
            </a:extLst>
          </p:cNvPr>
          <p:cNvSpPr txBox="1"/>
          <p:nvPr/>
        </p:nvSpPr>
        <p:spPr>
          <a:xfrm>
            <a:off x="3996266" y="4978400"/>
            <a:ext cx="6163734" cy="369332"/>
          </a:xfrm>
          <a:prstGeom prst="rect">
            <a:avLst/>
          </a:prstGeom>
          <a:noFill/>
        </p:spPr>
        <p:txBody>
          <a:bodyPr wrap="square" rtlCol="0">
            <a:spAutoFit/>
          </a:bodyPr>
          <a:lstStyle/>
          <a:p>
            <a:r>
              <a:rPr lang="en-US" dirty="0"/>
              <a:t>The clients requested resource can’t be found</a:t>
            </a:r>
          </a:p>
        </p:txBody>
      </p:sp>
      <p:cxnSp>
        <p:nvCxnSpPr>
          <p:cNvPr id="13" name="Straight Arrow Connector 12">
            <a:extLst>
              <a:ext uri="{FF2B5EF4-FFF2-40B4-BE49-F238E27FC236}">
                <a16:creationId xmlns:a16="http://schemas.microsoft.com/office/drawing/2014/main" id="{7DAED37A-91A8-5186-14AC-DF7949224DBD}"/>
              </a:ext>
            </a:extLst>
          </p:cNvPr>
          <p:cNvCxnSpPr>
            <a:endCxn id="8" idx="1"/>
          </p:cNvCxnSpPr>
          <p:nvPr/>
        </p:nvCxnSpPr>
        <p:spPr>
          <a:xfrm>
            <a:off x="2827867" y="2235200"/>
            <a:ext cx="1168399" cy="1836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4" name="Straight Arrow Connector 13">
            <a:extLst>
              <a:ext uri="{FF2B5EF4-FFF2-40B4-BE49-F238E27FC236}">
                <a16:creationId xmlns:a16="http://schemas.microsoft.com/office/drawing/2014/main" id="{CE6B3634-FF44-E36F-DAF6-40998905CE12}"/>
              </a:ext>
            </a:extLst>
          </p:cNvPr>
          <p:cNvCxnSpPr/>
          <p:nvPr/>
        </p:nvCxnSpPr>
        <p:spPr>
          <a:xfrm>
            <a:off x="2827867" y="3691467"/>
            <a:ext cx="1049866"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5" name="Straight Arrow Connector 14">
            <a:extLst>
              <a:ext uri="{FF2B5EF4-FFF2-40B4-BE49-F238E27FC236}">
                <a16:creationId xmlns:a16="http://schemas.microsoft.com/office/drawing/2014/main" id="{4AED8B67-7D6A-CFE2-4B17-7A1F5199D645}"/>
              </a:ext>
            </a:extLst>
          </p:cNvPr>
          <p:cNvCxnSpPr/>
          <p:nvPr/>
        </p:nvCxnSpPr>
        <p:spPr>
          <a:xfrm>
            <a:off x="2827867" y="5215467"/>
            <a:ext cx="1049866"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5" name="Rectangle 4">
            <a:extLst>
              <a:ext uri="{FF2B5EF4-FFF2-40B4-BE49-F238E27FC236}">
                <a16:creationId xmlns:a16="http://schemas.microsoft.com/office/drawing/2014/main" id="{4F623687-3983-A47E-9D09-7D914CD5D6CB}"/>
              </a:ext>
            </a:extLst>
          </p:cNvPr>
          <p:cNvSpPr/>
          <p:nvPr/>
        </p:nvSpPr>
        <p:spPr>
          <a:xfrm>
            <a:off x="914400" y="5808133"/>
            <a:ext cx="1778000" cy="948267"/>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422: Unprocessable</a:t>
            </a:r>
          </a:p>
        </p:txBody>
      </p:sp>
      <p:sp>
        <p:nvSpPr>
          <p:cNvPr id="7" name="TextBox 6">
            <a:extLst>
              <a:ext uri="{FF2B5EF4-FFF2-40B4-BE49-F238E27FC236}">
                <a16:creationId xmlns:a16="http://schemas.microsoft.com/office/drawing/2014/main" id="{522638A5-955A-9D15-D1C3-1608B604EC84}"/>
              </a:ext>
            </a:extLst>
          </p:cNvPr>
          <p:cNvSpPr txBox="1"/>
          <p:nvPr/>
        </p:nvSpPr>
        <p:spPr>
          <a:xfrm>
            <a:off x="4182533" y="6062133"/>
            <a:ext cx="4758267" cy="369332"/>
          </a:xfrm>
          <a:prstGeom prst="rect">
            <a:avLst/>
          </a:prstGeom>
          <a:noFill/>
        </p:spPr>
        <p:txBody>
          <a:bodyPr wrap="square" rtlCol="0">
            <a:spAutoFit/>
          </a:bodyPr>
          <a:lstStyle/>
          <a:p>
            <a:r>
              <a:rPr lang="en-US" dirty="0"/>
              <a:t>Semantic Errors in Client Request</a:t>
            </a:r>
          </a:p>
        </p:txBody>
      </p:sp>
      <p:cxnSp>
        <p:nvCxnSpPr>
          <p:cNvPr id="9" name="Straight Arrow Connector 8">
            <a:extLst>
              <a:ext uri="{FF2B5EF4-FFF2-40B4-BE49-F238E27FC236}">
                <a16:creationId xmlns:a16="http://schemas.microsoft.com/office/drawing/2014/main" id="{3D0CFBF0-3C01-5D81-1362-B9906B3A5377}"/>
              </a:ext>
            </a:extLst>
          </p:cNvPr>
          <p:cNvCxnSpPr/>
          <p:nvPr/>
        </p:nvCxnSpPr>
        <p:spPr>
          <a:xfrm>
            <a:off x="2827867" y="6248400"/>
            <a:ext cx="1049866"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95873815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EFDB10-2400-E155-F149-BCB74B7B0416}"/>
              </a:ext>
            </a:extLst>
          </p:cNvPr>
          <p:cNvSpPr>
            <a:spLocks noGrp="1"/>
          </p:cNvSpPr>
          <p:nvPr>
            <p:ph type="title"/>
          </p:nvPr>
        </p:nvSpPr>
        <p:spPr/>
        <p:txBody>
          <a:bodyPr/>
          <a:lstStyle/>
          <a:p>
            <a:r>
              <a:rPr lang="en-US" dirty="0"/>
              <a:t>HTTP 5xx Server Error Status Codes</a:t>
            </a:r>
          </a:p>
        </p:txBody>
      </p:sp>
      <p:sp>
        <p:nvSpPr>
          <p:cNvPr id="3" name="Content Placeholder 2">
            <a:extLst>
              <a:ext uri="{FF2B5EF4-FFF2-40B4-BE49-F238E27FC236}">
                <a16:creationId xmlns:a16="http://schemas.microsoft.com/office/drawing/2014/main" id="{DE263B9C-FF62-E4A2-0B9D-6E0E83A9E743}"/>
              </a:ext>
            </a:extLst>
          </p:cNvPr>
          <p:cNvSpPr>
            <a:spLocks noGrp="1"/>
          </p:cNvSpPr>
          <p:nvPr>
            <p:ph idx="1"/>
          </p:nvPr>
        </p:nvSpPr>
        <p:spPr>
          <a:xfrm>
            <a:off x="677334" y="2160589"/>
            <a:ext cx="3200399" cy="3880773"/>
          </a:xfrm>
        </p:spPr>
        <p:txBody>
          <a:bodyPr/>
          <a:lstStyle/>
          <a:p>
            <a:endParaRPr lang="en-US" dirty="0"/>
          </a:p>
          <a:p>
            <a:endParaRPr lang="en-US" dirty="0"/>
          </a:p>
        </p:txBody>
      </p:sp>
      <p:sp>
        <p:nvSpPr>
          <p:cNvPr id="4" name="Rectangle 3">
            <a:extLst>
              <a:ext uri="{FF2B5EF4-FFF2-40B4-BE49-F238E27FC236}">
                <a16:creationId xmlns:a16="http://schemas.microsoft.com/office/drawing/2014/main" id="{C4995D74-1B95-6EB3-1650-5FEF18283D30}"/>
              </a:ext>
            </a:extLst>
          </p:cNvPr>
          <p:cNvSpPr/>
          <p:nvPr/>
        </p:nvSpPr>
        <p:spPr>
          <a:xfrm>
            <a:off x="948267" y="3183467"/>
            <a:ext cx="2302933" cy="1134533"/>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500: Internal Server Error</a:t>
            </a:r>
          </a:p>
        </p:txBody>
      </p:sp>
      <p:sp>
        <p:nvSpPr>
          <p:cNvPr id="6" name="TextBox 5">
            <a:extLst>
              <a:ext uri="{FF2B5EF4-FFF2-40B4-BE49-F238E27FC236}">
                <a16:creationId xmlns:a16="http://schemas.microsoft.com/office/drawing/2014/main" id="{60B7D01D-1784-15F4-2DEC-7EECF8EAF50C}"/>
              </a:ext>
            </a:extLst>
          </p:cNvPr>
          <p:cNvSpPr txBox="1"/>
          <p:nvPr/>
        </p:nvSpPr>
        <p:spPr>
          <a:xfrm>
            <a:off x="4826000" y="3183467"/>
            <a:ext cx="6688666" cy="646331"/>
          </a:xfrm>
          <a:prstGeom prst="rect">
            <a:avLst/>
          </a:prstGeom>
          <a:noFill/>
        </p:spPr>
        <p:txBody>
          <a:bodyPr wrap="square" rtlCol="0">
            <a:spAutoFit/>
          </a:bodyPr>
          <a:lstStyle/>
          <a:p>
            <a:r>
              <a:rPr lang="en-US" dirty="0"/>
              <a:t>Generic Error Message, when an expected issue on the server happened. </a:t>
            </a:r>
          </a:p>
        </p:txBody>
      </p:sp>
      <p:cxnSp>
        <p:nvCxnSpPr>
          <p:cNvPr id="8" name="Straight Arrow Connector 7">
            <a:extLst>
              <a:ext uri="{FF2B5EF4-FFF2-40B4-BE49-F238E27FC236}">
                <a16:creationId xmlns:a16="http://schemas.microsoft.com/office/drawing/2014/main" id="{C20B61DC-E48A-3F66-1D53-8647CD4E5E6E}"/>
              </a:ext>
            </a:extLst>
          </p:cNvPr>
          <p:cNvCxnSpPr>
            <a:cxnSpLocks/>
          </p:cNvCxnSpPr>
          <p:nvPr/>
        </p:nvCxnSpPr>
        <p:spPr>
          <a:xfrm>
            <a:off x="3454400" y="3572934"/>
            <a:ext cx="1320800"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11606373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92C704-41F4-7169-2E12-C38514DF4FA0}"/>
              </a:ext>
            </a:extLst>
          </p:cNvPr>
          <p:cNvSpPr>
            <a:spLocks noGrp="1"/>
          </p:cNvSpPr>
          <p:nvPr>
            <p:ph type="title"/>
          </p:nvPr>
        </p:nvSpPr>
        <p:spPr/>
        <p:txBody>
          <a:bodyPr/>
          <a:lstStyle/>
          <a:p>
            <a:r>
              <a:rPr lang="en-US" dirty="0"/>
              <a:t>Setting Up SQL database</a:t>
            </a:r>
          </a:p>
        </p:txBody>
      </p:sp>
      <p:sp>
        <p:nvSpPr>
          <p:cNvPr id="3" name="Content Placeholder 2">
            <a:extLst>
              <a:ext uri="{FF2B5EF4-FFF2-40B4-BE49-F238E27FC236}">
                <a16:creationId xmlns:a16="http://schemas.microsoft.com/office/drawing/2014/main" id="{9E4C9C9D-6799-DDA2-2AAE-B743ADCA9FA2}"/>
              </a:ext>
            </a:extLst>
          </p:cNvPr>
          <p:cNvSpPr>
            <a:spLocks noGrp="1"/>
          </p:cNvSpPr>
          <p:nvPr>
            <p:ph idx="1"/>
          </p:nvPr>
        </p:nvSpPr>
        <p:spPr>
          <a:xfrm>
            <a:off x="677333" y="2160589"/>
            <a:ext cx="11125199" cy="3880773"/>
          </a:xfrm>
        </p:spPr>
        <p:txBody>
          <a:bodyPr/>
          <a:lstStyle/>
          <a:p>
            <a:r>
              <a:rPr lang="en-US" dirty="0"/>
              <a:t>Organized collection of structural information of data, which’s stored in Cloud, container or server. </a:t>
            </a:r>
          </a:p>
          <a:p>
            <a:endParaRPr lang="en-US" dirty="0"/>
          </a:p>
          <a:p>
            <a:r>
              <a:rPr lang="en-US" dirty="0"/>
              <a:t>The data can easily retrieve. </a:t>
            </a:r>
          </a:p>
          <a:p>
            <a:endParaRPr lang="en-US" dirty="0"/>
          </a:p>
          <a:p>
            <a:r>
              <a:rPr lang="en-US" dirty="0"/>
              <a:t>The data can be modeled. </a:t>
            </a:r>
          </a:p>
          <a:p>
            <a:endParaRPr lang="en-US" dirty="0"/>
          </a:p>
          <a:p>
            <a:r>
              <a:rPr lang="en-US" dirty="0"/>
              <a:t>A database is collection of data. </a:t>
            </a:r>
          </a:p>
          <a:p>
            <a:endParaRPr lang="en-US" dirty="0"/>
          </a:p>
          <a:p>
            <a:r>
              <a:rPr lang="en-US" dirty="0"/>
              <a:t>Database are organized in how data can be retrieved, stored or modified. </a:t>
            </a:r>
          </a:p>
        </p:txBody>
      </p:sp>
    </p:spTree>
    <p:extLst>
      <p:ext uri="{BB962C8B-B14F-4D97-AF65-F5344CB8AC3E}">
        <p14:creationId xmlns:p14="http://schemas.microsoft.com/office/powerpoint/2010/main" val="80765645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8DDB91-4996-8BA0-48D5-2A5C6FB8D6AC}"/>
              </a:ext>
            </a:extLst>
          </p:cNvPr>
          <p:cNvSpPr>
            <a:spLocks noGrp="1"/>
          </p:cNvSpPr>
          <p:nvPr>
            <p:ph type="title"/>
          </p:nvPr>
        </p:nvSpPr>
        <p:spPr>
          <a:xfrm>
            <a:off x="677334" y="609600"/>
            <a:ext cx="8596668" cy="724933"/>
          </a:xfrm>
        </p:spPr>
        <p:txBody>
          <a:bodyPr/>
          <a:lstStyle/>
          <a:p>
            <a:r>
              <a:rPr lang="en-US" dirty="0"/>
              <a:t>SQL Details</a:t>
            </a:r>
          </a:p>
        </p:txBody>
      </p:sp>
      <p:sp>
        <p:nvSpPr>
          <p:cNvPr id="4" name="Rectangle 3">
            <a:extLst>
              <a:ext uri="{FF2B5EF4-FFF2-40B4-BE49-F238E27FC236}">
                <a16:creationId xmlns:a16="http://schemas.microsoft.com/office/drawing/2014/main" id="{5D8F71CE-2C05-41B1-B332-95EC3C38C502}"/>
              </a:ext>
            </a:extLst>
          </p:cNvPr>
          <p:cNvSpPr/>
          <p:nvPr/>
        </p:nvSpPr>
        <p:spPr>
          <a:xfrm>
            <a:off x="914400" y="1710267"/>
            <a:ext cx="9770533" cy="2353733"/>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endParaRPr lang="en-US"/>
          </a:p>
        </p:txBody>
      </p:sp>
      <p:sp>
        <p:nvSpPr>
          <p:cNvPr id="5" name="Flowchart: Alternate Process 4">
            <a:extLst>
              <a:ext uri="{FF2B5EF4-FFF2-40B4-BE49-F238E27FC236}">
                <a16:creationId xmlns:a16="http://schemas.microsoft.com/office/drawing/2014/main" id="{FF88367E-2CEF-FFA2-DA8C-34980A6980BE}"/>
              </a:ext>
            </a:extLst>
          </p:cNvPr>
          <p:cNvSpPr/>
          <p:nvPr/>
        </p:nvSpPr>
        <p:spPr>
          <a:xfrm>
            <a:off x="1371600" y="2472267"/>
            <a:ext cx="2421467" cy="956733"/>
          </a:xfrm>
          <a:prstGeom prst="flowChartAlternateProcess">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DBMS </a:t>
            </a:r>
          </a:p>
        </p:txBody>
      </p:sp>
      <p:sp>
        <p:nvSpPr>
          <p:cNvPr id="6" name="Rectangle: Diagonal Corners Rounded 5">
            <a:extLst>
              <a:ext uri="{FF2B5EF4-FFF2-40B4-BE49-F238E27FC236}">
                <a16:creationId xmlns:a16="http://schemas.microsoft.com/office/drawing/2014/main" id="{344A3D0D-8269-5CA6-9EF9-9EF6F91E4FF5}"/>
              </a:ext>
            </a:extLst>
          </p:cNvPr>
          <p:cNvSpPr/>
          <p:nvPr/>
        </p:nvSpPr>
        <p:spPr>
          <a:xfrm>
            <a:off x="7450667" y="2472267"/>
            <a:ext cx="2540000" cy="1168400"/>
          </a:xfrm>
          <a:prstGeom prst="round2Diag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Table</a:t>
            </a:r>
          </a:p>
        </p:txBody>
      </p:sp>
      <p:cxnSp>
        <p:nvCxnSpPr>
          <p:cNvPr id="8" name="Straight Arrow Connector 7">
            <a:extLst>
              <a:ext uri="{FF2B5EF4-FFF2-40B4-BE49-F238E27FC236}">
                <a16:creationId xmlns:a16="http://schemas.microsoft.com/office/drawing/2014/main" id="{24A8FC2A-C926-145A-CBE8-D197BD04031C}"/>
              </a:ext>
            </a:extLst>
          </p:cNvPr>
          <p:cNvCxnSpPr/>
          <p:nvPr/>
        </p:nvCxnSpPr>
        <p:spPr>
          <a:xfrm>
            <a:off x="4013200" y="2794000"/>
            <a:ext cx="3115733"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0" name="Straight Arrow Connector 9">
            <a:extLst>
              <a:ext uri="{FF2B5EF4-FFF2-40B4-BE49-F238E27FC236}">
                <a16:creationId xmlns:a16="http://schemas.microsoft.com/office/drawing/2014/main" id="{8C051017-C08E-0B73-FABD-AF17FE9FACA7}"/>
              </a:ext>
            </a:extLst>
          </p:cNvPr>
          <p:cNvCxnSpPr>
            <a:cxnSpLocks/>
          </p:cNvCxnSpPr>
          <p:nvPr/>
        </p:nvCxnSpPr>
        <p:spPr>
          <a:xfrm flipH="1">
            <a:off x="4013200" y="3429000"/>
            <a:ext cx="3115733"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1" name="TextBox 10">
            <a:extLst>
              <a:ext uri="{FF2B5EF4-FFF2-40B4-BE49-F238E27FC236}">
                <a16:creationId xmlns:a16="http://schemas.microsoft.com/office/drawing/2014/main" id="{45473517-78D3-1C74-2B6A-7375CA163D4E}"/>
              </a:ext>
            </a:extLst>
          </p:cNvPr>
          <p:cNvSpPr txBox="1"/>
          <p:nvPr/>
        </p:nvSpPr>
        <p:spPr>
          <a:xfrm>
            <a:off x="3970867" y="2235201"/>
            <a:ext cx="3335866" cy="369332"/>
          </a:xfrm>
          <a:prstGeom prst="rect">
            <a:avLst/>
          </a:prstGeom>
          <a:noFill/>
        </p:spPr>
        <p:txBody>
          <a:bodyPr wrap="square" rtlCol="0">
            <a:spAutoFit/>
          </a:bodyPr>
          <a:lstStyle/>
          <a:p>
            <a:r>
              <a:rPr lang="en-US" dirty="0"/>
              <a:t>Query</a:t>
            </a:r>
          </a:p>
        </p:txBody>
      </p:sp>
      <p:pic>
        <p:nvPicPr>
          <p:cNvPr id="14" name="Picture 13">
            <a:extLst>
              <a:ext uri="{FF2B5EF4-FFF2-40B4-BE49-F238E27FC236}">
                <a16:creationId xmlns:a16="http://schemas.microsoft.com/office/drawing/2014/main" id="{AE80662A-CB68-B11C-C16C-12D5B5402A6B}"/>
              </a:ext>
            </a:extLst>
          </p:cNvPr>
          <p:cNvPicPr>
            <a:picLocks noChangeAspect="1"/>
          </p:cNvPicPr>
          <p:nvPr/>
        </p:nvPicPr>
        <p:blipFill>
          <a:blip r:embed="rId2"/>
          <a:stretch>
            <a:fillRect/>
          </a:stretch>
        </p:blipFill>
        <p:spPr>
          <a:xfrm>
            <a:off x="7963919" y="1879601"/>
            <a:ext cx="1487883" cy="457200"/>
          </a:xfrm>
          <a:prstGeom prst="rect">
            <a:avLst/>
          </a:prstGeom>
        </p:spPr>
      </p:pic>
      <p:sp>
        <p:nvSpPr>
          <p:cNvPr id="15" name="TextBox 14">
            <a:extLst>
              <a:ext uri="{FF2B5EF4-FFF2-40B4-BE49-F238E27FC236}">
                <a16:creationId xmlns:a16="http://schemas.microsoft.com/office/drawing/2014/main" id="{F6F69AEE-BE08-5EF2-D3C8-3187327A3581}"/>
              </a:ext>
            </a:extLst>
          </p:cNvPr>
          <p:cNvSpPr txBox="1"/>
          <p:nvPr/>
        </p:nvSpPr>
        <p:spPr>
          <a:xfrm>
            <a:off x="1540933" y="4439734"/>
            <a:ext cx="2082800" cy="369332"/>
          </a:xfrm>
          <a:prstGeom prst="rect">
            <a:avLst/>
          </a:prstGeom>
          <a:noFill/>
        </p:spPr>
        <p:txBody>
          <a:bodyPr wrap="square" rtlCol="0">
            <a:spAutoFit/>
          </a:bodyPr>
          <a:lstStyle/>
          <a:p>
            <a:r>
              <a:rPr lang="en-US" dirty="0"/>
              <a:t>Create </a:t>
            </a:r>
          </a:p>
        </p:txBody>
      </p:sp>
      <p:sp>
        <p:nvSpPr>
          <p:cNvPr id="16" name="Rectangle: Diagonal Corners Rounded 15">
            <a:extLst>
              <a:ext uri="{FF2B5EF4-FFF2-40B4-BE49-F238E27FC236}">
                <a16:creationId xmlns:a16="http://schemas.microsoft.com/office/drawing/2014/main" id="{7F0FF65B-EBC4-DC26-A385-8FE217BC2C15}"/>
              </a:ext>
            </a:extLst>
          </p:cNvPr>
          <p:cNvSpPr/>
          <p:nvPr/>
        </p:nvSpPr>
        <p:spPr>
          <a:xfrm>
            <a:off x="6392331" y="4353467"/>
            <a:ext cx="1405467" cy="440266"/>
          </a:xfrm>
          <a:prstGeom prst="round2Diag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POST</a:t>
            </a:r>
          </a:p>
        </p:txBody>
      </p:sp>
      <p:sp>
        <p:nvSpPr>
          <p:cNvPr id="17" name="TextBox 16">
            <a:extLst>
              <a:ext uri="{FF2B5EF4-FFF2-40B4-BE49-F238E27FC236}">
                <a16:creationId xmlns:a16="http://schemas.microsoft.com/office/drawing/2014/main" id="{41150E78-39F2-701F-1EB5-EE15A08DA602}"/>
              </a:ext>
            </a:extLst>
          </p:cNvPr>
          <p:cNvSpPr txBox="1"/>
          <p:nvPr/>
        </p:nvSpPr>
        <p:spPr>
          <a:xfrm>
            <a:off x="1540933" y="5140065"/>
            <a:ext cx="1168400" cy="369332"/>
          </a:xfrm>
          <a:prstGeom prst="rect">
            <a:avLst/>
          </a:prstGeom>
          <a:noFill/>
        </p:spPr>
        <p:txBody>
          <a:bodyPr wrap="square" rtlCol="0">
            <a:spAutoFit/>
          </a:bodyPr>
          <a:lstStyle/>
          <a:p>
            <a:r>
              <a:rPr lang="en-US" dirty="0"/>
              <a:t>Read</a:t>
            </a:r>
          </a:p>
        </p:txBody>
      </p:sp>
      <p:sp>
        <p:nvSpPr>
          <p:cNvPr id="18" name="Flowchart: Alternate Process 17">
            <a:extLst>
              <a:ext uri="{FF2B5EF4-FFF2-40B4-BE49-F238E27FC236}">
                <a16:creationId xmlns:a16="http://schemas.microsoft.com/office/drawing/2014/main" id="{46B5FF4E-A3E2-F273-955F-FB76F4393CF1}"/>
              </a:ext>
            </a:extLst>
          </p:cNvPr>
          <p:cNvSpPr/>
          <p:nvPr/>
        </p:nvSpPr>
        <p:spPr>
          <a:xfrm>
            <a:off x="6392331" y="5083200"/>
            <a:ext cx="1405467" cy="369332"/>
          </a:xfrm>
          <a:prstGeom prst="flowChartAlternateProcess">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Get</a:t>
            </a:r>
          </a:p>
        </p:txBody>
      </p:sp>
      <p:sp>
        <p:nvSpPr>
          <p:cNvPr id="19" name="TextBox 18">
            <a:extLst>
              <a:ext uri="{FF2B5EF4-FFF2-40B4-BE49-F238E27FC236}">
                <a16:creationId xmlns:a16="http://schemas.microsoft.com/office/drawing/2014/main" id="{2AF794D7-8246-DFBF-EA0C-A718168D0AF9}"/>
              </a:ext>
            </a:extLst>
          </p:cNvPr>
          <p:cNvSpPr txBox="1"/>
          <p:nvPr/>
        </p:nvSpPr>
        <p:spPr>
          <a:xfrm>
            <a:off x="1540933" y="5701731"/>
            <a:ext cx="965200" cy="369332"/>
          </a:xfrm>
          <a:prstGeom prst="rect">
            <a:avLst/>
          </a:prstGeom>
          <a:noFill/>
        </p:spPr>
        <p:txBody>
          <a:bodyPr wrap="square" rtlCol="0">
            <a:spAutoFit/>
          </a:bodyPr>
          <a:lstStyle/>
          <a:p>
            <a:r>
              <a:rPr lang="en-US" dirty="0"/>
              <a:t>Update</a:t>
            </a:r>
          </a:p>
        </p:txBody>
      </p:sp>
      <p:sp>
        <p:nvSpPr>
          <p:cNvPr id="20" name="Rectangle 19">
            <a:extLst>
              <a:ext uri="{FF2B5EF4-FFF2-40B4-BE49-F238E27FC236}">
                <a16:creationId xmlns:a16="http://schemas.microsoft.com/office/drawing/2014/main" id="{0E2A3252-D20A-A119-8610-5135705EC754}"/>
              </a:ext>
            </a:extLst>
          </p:cNvPr>
          <p:cNvSpPr/>
          <p:nvPr/>
        </p:nvSpPr>
        <p:spPr>
          <a:xfrm>
            <a:off x="6426198" y="5701731"/>
            <a:ext cx="1537721" cy="369332"/>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PUT</a:t>
            </a:r>
          </a:p>
        </p:txBody>
      </p:sp>
      <p:sp>
        <p:nvSpPr>
          <p:cNvPr id="21" name="TextBox 20">
            <a:extLst>
              <a:ext uri="{FF2B5EF4-FFF2-40B4-BE49-F238E27FC236}">
                <a16:creationId xmlns:a16="http://schemas.microsoft.com/office/drawing/2014/main" id="{44A3CFB2-1563-954F-8B45-C5DC0AE549C4}"/>
              </a:ext>
            </a:extLst>
          </p:cNvPr>
          <p:cNvSpPr txBox="1"/>
          <p:nvPr/>
        </p:nvSpPr>
        <p:spPr>
          <a:xfrm>
            <a:off x="1524000" y="6263397"/>
            <a:ext cx="1049866" cy="369332"/>
          </a:xfrm>
          <a:prstGeom prst="rect">
            <a:avLst/>
          </a:prstGeom>
          <a:noFill/>
        </p:spPr>
        <p:txBody>
          <a:bodyPr wrap="square" rtlCol="0">
            <a:spAutoFit/>
          </a:bodyPr>
          <a:lstStyle/>
          <a:p>
            <a:r>
              <a:rPr lang="en-US" dirty="0"/>
              <a:t>Delete</a:t>
            </a:r>
          </a:p>
        </p:txBody>
      </p:sp>
      <p:sp>
        <p:nvSpPr>
          <p:cNvPr id="22" name="Flowchart: Alternate Process 21">
            <a:extLst>
              <a:ext uri="{FF2B5EF4-FFF2-40B4-BE49-F238E27FC236}">
                <a16:creationId xmlns:a16="http://schemas.microsoft.com/office/drawing/2014/main" id="{03704CD1-ABEC-D6F0-2882-A103F3864A21}"/>
              </a:ext>
            </a:extLst>
          </p:cNvPr>
          <p:cNvSpPr/>
          <p:nvPr/>
        </p:nvSpPr>
        <p:spPr>
          <a:xfrm>
            <a:off x="6426198" y="6320261"/>
            <a:ext cx="1537720" cy="312467"/>
          </a:xfrm>
          <a:prstGeom prst="flowChartAlternateProcess">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Delete</a:t>
            </a:r>
          </a:p>
        </p:txBody>
      </p:sp>
      <p:cxnSp>
        <p:nvCxnSpPr>
          <p:cNvPr id="24" name="Straight Arrow Connector 23">
            <a:extLst>
              <a:ext uri="{FF2B5EF4-FFF2-40B4-BE49-F238E27FC236}">
                <a16:creationId xmlns:a16="http://schemas.microsoft.com/office/drawing/2014/main" id="{4888B712-3A2D-3876-0DB0-2615397327F0}"/>
              </a:ext>
            </a:extLst>
          </p:cNvPr>
          <p:cNvCxnSpPr/>
          <p:nvPr/>
        </p:nvCxnSpPr>
        <p:spPr>
          <a:xfrm>
            <a:off x="2912533" y="4588933"/>
            <a:ext cx="3014134"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6" name="Straight Arrow Connector 25">
            <a:extLst>
              <a:ext uri="{FF2B5EF4-FFF2-40B4-BE49-F238E27FC236}">
                <a16:creationId xmlns:a16="http://schemas.microsoft.com/office/drawing/2014/main" id="{4448EA2B-78AE-AD5C-D282-901E65CCD4D2}"/>
              </a:ext>
            </a:extLst>
          </p:cNvPr>
          <p:cNvCxnSpPr>
            <a:stCxn id="17" idx="3"/>
          </p:cNvCxnSpPr>
          <p:nvPr/>
        </p:nvCxnSpPr>
        <p:spPr>
          <a:xfrm flipV="1">
            <a:off x="2709333" y="5317067"/>
            <a:ext cx="3217334" cy="766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8" name="Straight Arrow Connector 27">
            <a:extLst>
              <a:ext uri="{FF2B5EF4-FFF2-40B4-BE49-F238E27FC236}">
                <a16:creationId xmlns:a16="http://schemas.microsoft.com/office/drawing/2014/main" id="{BAF1C80A-B56A-2E8D-5A62-78FF7BB56D9C}"/>
              </a:ext>
            </a:extLst>
          </p:cNvPr>
          <p:cNvCxnSpPr/>
          <p:nvPr/>
        </p:nvCxnSpPr>
        <p:spPr>
          <a:xfrm>
            <a:off x="2709333" y="5825067"/>
            <a:ext cx="2980267"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0" name="Straight Arrow Connector 29">
            <a:extLst>
              <a:ext uri="{FF2B5EF4-FFF2-40B4-BE49-F238E27FC236}">
                <a16:creationId xmlns:a16="http://schemas.microsoft.com/office/drawing/2014/main" id="{E14E6BA8-FDB5-D662-FC59-3A48DD694F7E}"/>
              </a:ext>
            </a:extLst>
          </p:cNvPr>
          <p:cNvCxnSpPr/>
          <p:nvPr/>
        </p:nvCxnSpPr>
        <p:spPr>
          <a:xfrm>
            <a:off x="2912533" y="6502400"/>
            <a:ext cx="3014134"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73443202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20BB1C-E620-CBED-CE7D-1E917C2AC8BE}"/>
              </a:ext>
            </a:extLst>
          </p:cNvPr>
          <p:cNvSpPr>
            <a:spLocks noGrp="1"/>
          </p:cNvSpPr>
          <p:nvPr>
            <p:ph type="title"/>
          </p:nvPr>
        </p:nvSpPr>
        <p:spPr>
          <a:xfrm>
            <a:off x="677334" y="609600"/>
            <a:ext cx="8596668" cy="880533"/>
          </a:xfrm>
        </p:spPr>
        <p:txBody>
          <a:bodyPr/>
          <a:lstStyle/>
          <a:p>
            <a:r>
              <a:rPr lang="en-US" dirty="0"/>
              <a:t>Alembic &amp; SQLAlchemy</a:t>
            </a:r>
          </a:p>
        </p:txBody>
      </p:sp>
      <p:sp>
        <p:nvSpPr>
          <p:cNvPr id="3" name="TextBox 2">
            <a:extLst>
              <a:ext uri="{FF2B5EF4-FFF2-40B4-BE49-F238E27FC236}">
                <a16:creationId xmlns:a16="http://schemas.microsoft.com/office/drawing/2014/main" id="{7974AB8D-63B1-D152-8AB3-1D49B268C919}"/>
              </a:ext>
            </a:extLst>
          </p:cNvPr>
          <p:cNvSpPr txBox="1"/>
          <p:nvPr/>
        </p:nvSpPr>
        <p:spPr>
          <a:xfrm>
            <a:off x="1100667" y="1896533"/>
            <a:ext cx="9482666" cy="3970318"/>
          </a:xfrm>
          <a:prstGeom prst="rect">
            <a:avLst/>
          </a:prstGeom>
          <a:noFill/>
        </p:spPr>
        <p:txBody>
          <a:bodyPr wrap="square" rtlCol="0">
            <a:spAutoFit/>
          </a:bodyPr>
          <a:lstStyle/>
          <a:p>
            <a:pPr marL="285750" indent="-285750">
              <a:buFont typeface="Arial" panose="020B0604020202020204" pitchFamily="34" charset="0"/>
              <a:buChar char="•"/>
            </a:pPr>
            <a:r>
              <a:rPr lang="en-US" dirty="0"/>
              <a:t>Lightweight database migration tool for when using SQLAlchemy</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n-US" dirty="0"/>
              <a:t>Migration tools allow us to plan, transfer and upgrade resources within databases</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n-US" dirty="0"/>
              <a:t>Alembic allows to change a SQLAlchemy database table after it has been created. </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n-US" dirty="0"/>
              <a:t>Currently SQLAlchemy will only create new database tables. </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n-US" dirty="0"/>
              <a:t>Alembic provides the creation and invocation of change management scripts. </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n-US" dirty="0"/>
              <a:t>It allows to able to crate migration environments and be able to change the data</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n-US" dirty="0"/>
              <a:t>It works on tables which already have data. It allows to continually create additional content  which works within the application. </a:t>
            </a:r>
          </a:p>
        </p:txBody>
      </p:sp>
    </p:spTree>
    <p:extLst>
      <p:ext uri="{BB962C8B-B14F-4D97-AF65-F5344CB8AC3E}">
        <p14:creationId xmlns:p14="http://schemas.microsoft.com/office/powerpoint/2010/main" val="390027208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443AEF-4FCD-68E4-3643-5CD928B54731}"/>
              </a:ext>
            </a:extLst>
          </p:cNvPr>
          <p:cNvSpPr>
            <a:spLocks noGrp="1"/>
          </p:cNvSpPr>
          <p:nvPr>
            <p:ph type="title"/>
          </p:nvPr>
        </p:nvSpPr>
        <p:spPr/>
        <p:txBody>
          <a:bodyPr/>
          <a:lstStyle/>
          <a:p>
            <a:r>
              <a:rPr lang="en-US" dirty="0"/>
              <a:t>Running Your SQLModel</a:t>
            </a:r>
          </a:p>
        </p:txBody>
      </p:sp>
      <p:sp>
        <p:nvSpPr>
          <p:cNvPr id="4" name="Content Placeholder 3">
            <a:extLst>
              <a:ext uri="{FF2B5EF4-FFF2-40B4-BE49-F238E27FC236}">
                <a16:creationId xmlns:a16="http://schemas.microsoft.com/office/drawing/2014/main" id="{B7E41630-D5B8-56D4-C3CD-54C547BEB175}"/>
              </a:ext>
            </a:extLst>
          </p:cNvPr>
          <p:cNvSpPr>
            <a:spLocks noGrp="1"/>
          </p:cNvSpPr>
          <p:nvPr>
            <p:ph idx="1"/>
          </p:nvPr>
        </p:nvSpPr>
        <p:spPr/>
        <p:txBody>
          <a:bodyPr>
            <a:normAutofit fontScale="92500"/>
          </a:bodyPr>
          <a:lstStyle/>
          <a:p>
            <a:r>
              <a:rPr lang="en-US" b="1" dirty="0"/>
              <a:t>SQLModel</a:t>
            </a:r>
            <a:r>
              <a:rPr lang="en-US" dirty="0"/>
              <a:t> is built on top of </a:t>
            </a:r>
            <a:r>
              <a:rPr lang="en-US" dirty="0">
                <a:hlinkClick r:id="rId2"/>
              </a:rPr>
              <a:t>SQLAlchemy</a:t>
            </a:r>
            <a:r>
              <a:rPr lang="en-US" dirty="0"/>
              <a:t> and </a:t>
            </a:r>
            <a:r>
              <a:rPr lang="en-US" dirty="0" err="1"/>
              <a:t>Pydantic</a:t>
            </a:r>
            <a:r>
              <a:rPr lang="en-US" dirty="0"/>
              <a:t>. It was made by the same author of </a:t>
            </a:r>
            <a:r>
              <a:rPr lang="en-US" b="1" dirty="0" err="1"/>
              <a:t>FastAPI</a:t>
            </a:r>
            <a:r>
              <a:rPr lang="en-US" dirty="0"/>
              <a:t> to be the perfect match for </a:t>
            </a:r>
            <a:r>
              <a:rPr lang="en-US" dirty="0" err="1"/>
              <a:t>FastAPI</a:t>
            </a:r>
            <a:r>
              <a:rPr lang="en-US" dirty="0"/>
              <a:t> applications that need to use </a:t>
            </a:r>
            <a:r>
              <a:rPr lang="en-US" b="1" dirty="0"/>
              <a:t>SQL databases</a:t>
            </a:r>
            <a:r>
              <a:rPr lang="en-US" dirty="0"/>
              <a:t>.</a:t>
            </a:r>
          </a:p>
          <a:p>
            <a:endParaRPr lang="en-US" dirty="0"/>
          </a:p>
          <a:p>
            <a:r>
              <a:rPr lang="en-US" dirty="0"/>
              <a:t>As SQLModel is based on SQLAlchemy, you can easily use </a:t>
            </a:r>
            <a:r>
              <a:rPr lang="en-US" b="1" dirty="0"/>
              <a:t>any database supported</a:t>
            </a:r>
            <a:r>
              <a:rPr lang="en-US" dirty="0"/>
              <a:t> by SQLAlchemy (which makes them also supported by SQLModel), like:</a:t>
            </a:r>
          </a:p>
          <a:p>
            <a:r>
              <a:rPr lang="en-US" dirty="0"/>
              <a:t>PostgreSQL</a:t>
            </a:r>
          </a:p>
          <a:p>
            <a:r>
              <a:rPr lang="en-US" dirty="0"/>
              <a:t>MySQL</a:t>
            </a:r>
          </a:p>
          <a:p>
            <a:r>
              <a:rPr lang="en-US" dirty="0"/>
              <a:t>SQLite</a:t>
            </a:r>
          </a:p>
          <a:p>
            <a:r>
              <a:rPr lang="en-US" dirty="0"/>
              <a:t>Oracle</a:t>
            </a:r>
          </a:p>
          <a:p>
            <a:r>
              <a:rPr lang="en-US" dirty="0"/>
              <a:t>Microsoft SQL Server, etc.</a:t>
            </a:r>
          </a:p>
          <a:p>
            <a:endParaRPr lang="en-US" dirty="0"/>
          </a:p>
        </p:txBody>
      </p:sp>
    </p:spTree>
    <p:extLst>
      <p:ext uri="{BB962C8B-B14F-4D97-AF65-F5344CB8AC3E}">
        <p14:creationId xmlns:p14="http://schemas.microsoft.com/office/powerpoint/2010/main" val="279992745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42FD5A-A049-93DD-DCD8-CA38233C287F}"/>
              </a:ext>
            </a:extLst>
          </p:cNvPr>
          <p:cNvSpPr>
            <a:spLocks noGrp="1"/>
          </p:cNvSpPr>
          <p:nvPr>
            <p:ph type="title"/>
          </p:nvPr>
        </p:nvSpPr>
        <p:spPr/>
        <p:txBody>
          <a:bodyPr/>
          <a:lstStyle/>
          <a:p>
            <a:r>
              <a:rPr lang="en-US" dirty="0"/>
              <a:t>Install SQLModel</a:t>
            </a:r>
          </a:p>
        </p:txBody>
      </p:sp>
      <p:sp>
        <p:nvSpPr>
          <p:cNvPr id="3" name="Content Placeholder 2">
            <a:extLst>
              <a:ext uri="{FF2B5EF4-FFF2-40B4-BE49-F238E27FC236}">
                <a16:creationId xmlns:a16="http://schemas.microsoft.com/office/drawing/2014/main" id="{281DCE56-6D7B-76BF-1044-05FB7550A07D}"/>
              </a:ext>
            </a:extLst>
          </p:cNvPr>
          <p:cNvSpPr>
            <a:spLocks noGrp="1"/>
          </p:cNvSpPr>
          <p:nvPr>
            <p:ph idx="1"/>
          </p:nvPr>
        </p:nvSpPr>
        <p:spPr>
          <a:xfrm>
            <a:off x="677334" y="1672428"/>
            <a:ext cx="10634133" cy="1073678"/>
          </a:xfrm>
        </p:spPr>
        <p:txBody>
          <a:bodyPr/>
          <a:lstStyle/>
          <a:p>
            <a:r>
              <a:rPr lang="en-US" dirty="0"/>
              <a:t>First, make sure you create your </a:t>
            </a:r>
            <a:r>
              <a:rPr lang="en-US" dirty="0">
                <a:hlinkClick r:id="rId2"/>
              </a:rPr>
              <a:t>virtual environment</a:t>
            </a:r>
            <a:r>
              <a:rPr lang="en-US" dirty="0"/>
              <a:t>, activate it, and then install </a:t>
            </a:r>
            <a:r>
              <a:rPr lang="en-US" dirty="0" err="1"/>
              <a:t>sqlmodel:Path</a:t>
            </a:r>
            <a:r>
              <a:rPr lang="en-US" dirty="0"/>
              <a:t> Parameters are defined as a way to find information based on location </a:t>
            </a:r>
          </a:p>
          <a:p>
            <a:endParaRPr lang="en-US" dirty="0"/>
          </a:p>
        </p:txBody>
      </p:sp>
      <p:pic>
        <p:nvPicPr>
          <p:cNvPr id="5" name="Picture 4">
            <a:extLst>
              <a:ext uri="{FF2B5EF4-FFF2-40B4-BE49-F238E27FC236}">
                <a16:creationId xmlns:a16="http://schemas.microsoft.com/office/drawing/2014/main" id="{30B7A2FA-4CCA-827D-8E47-52C1EFBE28E7}"/>
              </a:ext>
            </a:extLst>
          </p:cNvPr>
          <p:cNvPicPr>
            <a:picLocks noChangeAspect="1"/>
          </p:cNvPicPr>
          <p:nvPr/>
        </p:nvPicPr>
        <p:blipFill>
          <a:blip r:embed="rId3"/>
          <a:stretch>
            <a:fillRect/>
          </a:stretch>
        </p:blipFill>
        <p:spPr>
          <a:xfrm>
            <a:off x="1185332" y="3589859"/>
            <a:ext cx="5788525" cy="1073678"/>
          </a:xfrm>
          <a:prstGeom prst="rect">
            <a:avLst/>
          </a:prstGeom>
        </p:spPr>
      </p:pic>
    </p:spTree>
    <p:extLst>
      <p:ext uri="{BB962C8B-B14F-4D97-AF65-F5344CB8AC3E}">
        <p14:creationId xmlns:p14="http://schemas.microsoft.com/office/powerpoint/2010/main" val="10963901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E96276-E290-DD5B-DD4F-F320AD74F37C}"/>
              </a:ext>
            </a:extLst>
          </p:cNvPr>
          <p:cNvSpPr>
            <a:spLocks noGrp="1"/>
          </p:cNvSpPr>
          <p:nvPr>
            <p:ph type="title"/>
          </p:nvPr>
        </p:nvSpPr>
        <p:spPr>
          <a:xfrm>
            <a:off x="676746" y="609600"/>
            <a:ext cx="3729076" cy="1320800"/>
          </a:xfrm>
        </p:spPr>
        <p:txBody>
          <a:bodyPr vert="horz" lIns="91440" tIns="45720" rIns="91440" bIns="45720" rtlCol="0" anchor="ctr">
            <a:normAutofit/>
          </a:bodyPr>
          <a:lstStyle/>
          <a:p>
            <a:r>
              <a:rPr lang="en-US" dirty="0"/>
              <a:t>Create SQL Table with SQLModel</a:t>
            </a:r>
          </a:p>
        </p:txBody>
      </p:sp>
      <p:sp>
        <p:nvSpPr>
          <p:cNvPr id="5" name="TextBox 4">
            <a:extLst>
              <a:ext uri="{FF2B5EF4-FFF2-40B4-BE49-F238E27FC236}">
                <a16:creationId xmlns:a16="http://schemas.microsoft.com/office/drawing/2014/main" id="{F7035F6C-BF97-707B-FDCE-4CBA1F1D8ADA}"/>
              </a:ext>
            </a:extLst>
          </p:cNvPr>
          <p:cNvSpPr txBox="1"/>
          <p:nvPr/>
        </p:nvSpPr>
        <p:spPr>
          <a:xfrm>
            <a:off x="685167" y="2160589"/>
            <a:ext cx="3720916" cy="3560733"/>
          </a:xfrm>
          <a:prstGeom prst="rect">
            <a:avLst/>
          </a:prstGeom>
        </p:spPr>
        <p:txBody>
          <a:bodyPr vert="horz" lIns="91440" tIns="45720" rIns="91440" bIns="45720" rtlCol="0">
            <a:normAutofit/>
          </a:bodyPr>
          <a:lstStyle/>
          <a:p>
            <a:pPr>
              <a:spcBef>
                <a:spcPts val="1000"/>
              </a:spcBef>
              <a:buClr>
                <a:schemeClr val="accent1"/>
              </a:buClr>
              <a:buSzPct val="80000"/>
              <a:buFont typeface="Wingdings 3" charset="2"/>
              <a:buChar char=""/>
            </a:pPr>
            <a:r>
              <a:rPr lang="en-US">
                <a:solidFill>
                  <a:schemeClr val="tx1">
                    <a:lumMod val="75000"/>
                    <a:lumOff val="25000"/>
                  </a:schemeClr>
                </a:solidFill>
              </a:rPr>
              <a:t>Imagine you have a SQL table called </a:t>
            </a:r>
            <a:r>
              <a:rPr lang="en-US" b="0" i="0">
                <a:solidFill>
                  <a:schemeClr val="tx1">
                    <a:lumMod val="75000"/>
                    <a:lumOff val="25000"/>
                  </a:schemeClr>
                </a:solidFill>
                <a:effectLst/>
              </a:rPr>
              <a:t>hero </a:t>
            </a:r>
            <a:r>
              <a:rPr lang="en-US">
                <a:solidFill>
                  <a:schemeClr val="tx1">
                    <a:lumMod val="75000"/>
                    <a:lumOff val="25000"/>
                  </a:schemeClr>
                </a:solidFill>
              </a:rPr>
              <a:t>with:</a:t>
            </a:r>
          </a:p>
          <a:p>
            <a:pPr>
              <a:spcBef>
                <a:spcPts val="1000"/>
              </a:spcBef>
              <a:buClr>
                <a:schemeClr val="accent1"/>
              </a:buClr>
              <a:buSzPct val="80000"/>
              <a:buFont typeface="Wingdings 3" charset="2"/>
              <a:buChar char=""/>
            </a:pPr>
            <a:r>
              <a:rPr lang="en-US" b="0" i="0">
                <a:solidFill>
                  <a:schemeClr val="tx1">
                    <a:lumMod val="75000"/>
                    <a:lumOff val="25000"/>
                  </a:schemeClr>
                </a:solidFill>
                <a:effectLst/>
              </a:rPr>
              <a:t>id</a:t>
            </a:r>
          </a:p>
          <a:p>
            <a:pPr>
              <a:spcBef>
                <a:spcPts val="1000"/>
              </a:spcBef>
              <a:buClr>
                <a:schemeClr val="accent1"/>
              </a:buClr>
              <a:buSzPct val="80000"/>
              <a:buFont typeface="Wingdings 3" charset="2"/>
              <a:buChar char=""/>
            </a:pPr>
            <a:r>
              <a:rPr lang="en-US" b="0" i="0">
                <a:solidFill>
                  <a:schemeClr val="tx1">
                    <a:lumMod val="75000"/>
                    <a:lumOff val="25000"/>
                  </a:schemeClr>
                </a:solidFill>
                <a:effectLst/>
              </a:rPr>
              <a:t>name</a:t>
            </a:r>
          </a:p>
          <a:p>
            <a:pPr>
              <a:spcBef>
                <a:spcPts val="1000"/>
              </a:spcBef>
              <a:buClr>
                <a:schemeClr val="accent1"/>
              </a:buClr>
              <a:buSzPct val="80000"/>
              <a:buFont typeface="Wingdings 3" charset="2"/>
              <a:buChar char=""/>
            </a:pPr>
            <a:r>
              <a:rPr lang="en-US" b="0" i="0">
                <a:solidFill>
                  <a:schemeClr val="tx1">
                    <a:lumMod val="75000"/>
                    <a:lumOff val="25000"/>
                  </a:schemeClr>
                </a:solidFill>
                <a:effectLst/>
              </a:rPr>
              <a:t>secret_name</a:t>
            </a:r>
          </a:p>
          <a:p>
            <a:pPr>
              <a:spcBef>
                <a:spcPts val="1000"/>
              </a:spcBef>
              <a:buClr>
                <a:schemeClr val="accent1"/>
              </a:buClr>
              <a:buSzPct val="80000"/>
              <a:buFont typeface="Wingdings 3" charset="2"/>
              <a:buChar char=""/>
            </a:pPr>
            <a:r>
              <a:rPr lang="en-US" b="0" i="0">
                <a:solidFill>
                  <a:schemeClr val="tx1">
                    <a:lumMod val="75000"/>
                    <a:lumOff val="25000"/>
                  </a:schemeClr>
                </a:solidFill>
                <a:effectLst/>
              </a:rPr>
              <a:t>age</a:t>
            </a:r>
          </a:p>
        </p:txBody>
      </p:sp>
      <p:pic>
        <p:nvPicPr>
          <p:cNvPr id="7" name="Picture 6">
            <a:extLst>
              <a:ext uri="{FF2B5EF4-FFF2-40B4-BE49-F238E27FC236}">
                <a16:creationId xmlns:a16="http://schemas.microsoft.com/office/drawing/2014/main" id="{47D30406-14FD-E818-6315-2F14F4D824B3}"/>
              </a:ext>
            </a:extLst>
          </p:cNvPr>
          <p:cNvPicPr>
            <a:picLocks noChangeAspect="1"/>
          </p:cNvPicPr>
          <p:nvPr/>
        </p:nvPicPr>
        <p:blipFill>
          <a:blip r:embed="rId2"/>
          <a:stretch>
            <a:fillRect/>
          </a:stretch>
        </p:blipFill>
        <p:spPr>
          <a:xfrm>
            <a:off x="4654035" y="2095088"/>
            <a:ext cx="4602747" cy="2163291"/>
          </a:xfrm>
          <a:prstGeom prst="rect">
            <a:avLst/>
          </a:prstGeom>
        </p:spPr>
      </p:pic>
    </p:spTree>
    <p:extLst>
      <p:ext uri="{BB962C8B-B14F-4D97-AF65-F5344CB8AC3E}">
        <p14:creationId xmlns:p14="http://schemas.microsoft.com/office/powerpoint/2010/main" val="38319870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BCA458-DF02-3405-7AAF-0841E217B900}"/>
              </a:ext>
            </a:extLst>
          </p:cNvPr>
          <p:cNvSpPr>
            <a:spLocks noGrp="1"/>
          </p:cNvSpPr>
          <p:nvPr>
            <p:ph type="title"/>
          </p:nvPr>
        </p:nvSpPr>
        <p:spPr/>
        <p:txBody>
          <a:bodyPr/>
          <a:lstStyle/>
          <a:p>
            <a:r>
              <a:rPr lang="en-US" dirty="0"/>
              <a:t>Create Model </a:t>
            </a:r>
          </a:p>
        </p:txBody>
      </p:sp>
      <p:sp>
        <p:nvSpPr>
          <p:cNvPr id="6" name="TextBox 5">
            <a:extLst>
              <a:ext uri="{FF2B5EF4-FFF2-40B4-BE49-F238E27FC236}">
                <a16:creationId xmlns:a16="http://schemas.microsoft.com/office/drawing/2014/main" id="{908C3648-71DE-B74A-6353-CC977085DE63}"/>
              </a:ext>
            </a:extLst>
          </p:cNvPr>
          <p:cNvSpPr txBox="1"/>
          <p:nvPr/>
        </p:nvSpPr>
        <p:spPr>
          <a:xfrm>
            <a:off x="677334" y="2093385"/>
            <a:ext cx="10058400" cy="3693319"/>
          </a:xfrm>
          <a:prstGeom prst="rect">
            <a:avLst/>
          </a:prstGeom>
          <a:noFill/>
        </p:spPr>
        <p:txBody>
          <a:bodyPr wrap="square" rtlCol="0">
            <a:spAutoFit/>
          </a:bodyPr>
          <a:lstStyle/>
          <a:p>
            <a:r>
              <a:rPr lang="en-US" dirty="0"/>
              <a:t>from typing import Annotated</a:t>
            </a:r>
          </a:p>
          <a:p>
            <a:endParaRPr lang="en-US" dirty="0"/>
          </a:p>
          <a:p>
            <a:r>
              <a:rPr lang="en-US" dirty="0"/>
              <a:t>from </a:t>
            </a:r>
            <a:r>
              <a:rPr lang="en-US" dirty="0" err="1"/>
              <a:t>fastapi</a:t>
            </a:r>
            <a:r>
              <a:rPr lang="en-US" dirty="0"/>
              <a:t> import Depends, </a:t>
            </a:r>
            <a:r>
              <a:rPr lang="en-US" dirty="0" err="1"/>
              <a:t>FastAPI</a:t>
            </a:r>
            <a:r>
              <a:rPr lang="en-US" dirty="0"/>
              <a:t>, </a:t>
            </a:r>
            <a:r>
              <a:rPr lang="en-US" dirty="0" err="1"/>
              <a:t>HTTPException</a:t>
            </a:r>
            <a:r>
              <a:rPr lang="en-US" dirty="0"/>
              <a:t>, Query</a:t>
            </a:r>
          </a:p>
          <a:p>
            <a:r>
              <a:rPr lang="en-US" dirty="0"/>
              <a:t>from </a:t>
            </a:r>
            <a:r>
              <a:rPr lang="en-US" dirty="0" err="1"/>
              <a:t>sqlmodel</a:t>
            </a:r>
            <a:r>
              <a:rPr lang="en-US" dirty="0"/>
              <a:t> import Field, Session, SQLModel, </a:t>
            </a:r>
            <a:r>
              <a:rPr lang="en-US" dirty="0" err="1"/>
              <a:t>create_engine</a:t>
            </a:r>
            <a:r>
              <a:rPr lang="en-US" dirty="0"/>
              <a:t>, select</a:t>
            </a:r>
          </a:p>
          <a:p>
            <a:endParaRPr lang="en-US" dirty="0"/>
          </a:p>
          <a:p>
            <a:endParaRPr lang="en-US" dirty="0"/>
          </a:p>
          <a:p>
            <a:r>
              <a:rPr lang="en-US" dirty="0"/>
              <a:t>class Hero(SQLModel, table=True):</a:t>
            </a:r>
          </a:p>
          <a:p>
            <a:r>
              <a:rPr lang="en-US" dirty="0"/>
              <a:t>    id: int | None = Field(default=None, </a:t>
            </a:r>
            <a:r>
              <a:rPr lang="en-US" dirty="0" err="1"/>
              <a:t>primary_key</a:t>
            </a:r>
            <a:r>
              <a:rPr lang="en-US" dirty="0"/>
              <a:t>=True)</a:t>
            </a:r>
          </a:p>
          <a:p>
            <a:r>
              <a:rPr lang="en-US" dirty="0"/>
              <a:t>    name: str = Field(index=True)</a:t>
            </a:r>
          </a:p>
          <a:p>
            <a:r>
              <a:rPr lang="en-US" dirty="0"/>
              <a:t>    age: int | None = Field(default=None, index=True)</a:t>
            </a:r>
          </a:p>
          <a:p>
            <a:r>
              <a:rPr lang="en-US" dirty="0"/>
              <a:t>    </a:t>
            </a:r>
            <a:r>
              <a:rPr lang="en-US" dirty="0" err="1"/>
              <a:t>secret_name</a:t>
            </a:r>
            <a:r>
              <a:rPr lang="en-US" dirty="0"/>
              <a:t>: str</a:t>
            </a:r>
          </a:p>
          <a:p>
            <a:endParaRPr lang="en-US" dirty="0"/>
          </a:p>
          <a:p>
            <a:endParaRPr lang="en-US" dirty="0"/>
          </a:p>
        </p:txBody>
      </p:sp>
    </p:spTree>
    <p:extLst>
      <p:ext uri="{BB962C8B-B14F-4D97-AF65-F5344CB8AC3E}">
        <p14:creationId xmlns:p14="http://schemas.microsoft.com/office/powerpoint/2010/main" val="82329022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50F2ED-953A-14C0-423C-3C03280F7DD3}"/>
              </a:ext>
            </a:extLst>
          </p:cNvPr>
          <p:cNvSpPr>
            <a:spLocks noGrp="1"/>
          </p:cNvSpPr>
          <p:nvPr>
            <p:ph type="title"/>
          </p:nvPr>
        </p:nvSpPr>
        <p:spPr/>
        <p:txBody>
          <a:bodyPr/>
          <a:lstStyle/>
          <a:p>
            <a:r>
              <a:rPr lang="en-US" dirty="0"/>
              <a:t>Session Dependency</a:t>
            </a:r>
          </a:p>
        </p:txBody>
      </p:sp>
      <p:sp>
        <p:nvSpPr>
          <p:cNvPr id="3" name="Content Placeholder 2">
            <a:extLst>
              <a:ext uri="{FF2B5EF4-FFF2-40B4-BE49-F238E27FC236}">
                <a16:creationId xmlns:a16="http://schemas.microsoft.com/office/drawing/2014/main" id="{5D278835-CEDC-6815-938E-9301F163099C}"/>
              </a:ext>
            </a:extLst>
          </p:cNvPr>
          <p:cNvSpPr>
            <a:spLocks noGrp="1"/>
          </p:cNvSpPr>
          <p:nvPr>
            <p:ph idx="1"/>
          </p:nvPr>
        </p:nvSpPr>
        <p:spPr/>
        <p:txBody>
          <a:bodyPr/>
          <a:lstStyle/>
          <a:p>
            <a:r>
              <a:rPr lang="en-US" dirty="0"/>
              <a:t> </a:t>
            </a:r>
            <a:r>
              <a:rPr lang="en-US" b="1" dirty="0"/>
              <a:t>Session</a:t>
            </a:r>
            <a:r>
              <a:rPr lang="en-US" dirty="0"/>
              <a:t> is what stores the </a:t>
            </a:r>
            <a:r>
              <a:rPr lang="en-US" b="1" dirty="0"/>
              <a:t>objects in memory</a:t>
            </a:r>
            <a:r>
              <a:rPr lang="en-US" dirty="0"/>
              <a:t> and keeps track of any changes needed in the data, then it </a:t>
            </a:r>
            <a:r>
              <a:rPr lang="en-US" b="1" dirty="0"/>
              <a:t>uses the engine</a:t>
            </a:r>
            <a:r>
              <a:rPr lang="en-US" dirty="0"/>
              <a:t> to communicate with the database.</a:t>
            </a:r>
          </a:p>
          <a:p>
            <a:r>
              <a:rPr lang="en-US" dirty="0"/>
              <a:t>We will create a </a:t>
            </a:r>
            <a:r>
              <a:rPr lang="en-US" dirty="0" err="1"/>
              <a:t>FastAPI</a:t>
            </a:r>
            <a:r>
              <a:rPr lang="en-US" dirty="0"/>
              <a:t> </a:t>
            </a:r>
            <a:r>
              <a:rPr lang="en-US" b="1" dirty="0"/>
              <a:t>dependency</a:t>
            </a:r>
            <a:r>
              <a:rPr lang="en-US" dirty="0"/>
              <a:t> with yield that will provide a new Session for each request. This is what ensures that we use a single session per request. </a:t>
            </a:r>
          </a:p>
          <a:p>
            <a:r>
              <a:rPr lang="en-US" dirty="0"/>
              <a:t>Then we create an Annotated dependency </a:t>
            </a:r>
            <a:r>
              <a:rPr lang="en-US" dirty="0" err="1"/>
              <a:t>SessionDep</a:t>
            </a:r>
            <a:r>
              <a:rPr lang="en-US" dirty="0"/>
              <a:t> to simplify the rest of the code that will use this dependency.</a:t>
            </a:r>
          </a:p>
          <a:p>
            <a:br>
              <a:rPr lang="en-US" dirty="0"/>
            </a:br>
            <a:endParaRPr lang="en-US" dirty="0"/>
          </a:p>
          <a:p>
            <a:endParaRPr lang="en-US" dirty="0"/>
          </a:p>
        </p:txBody>
      </p:sp>
    </p:spTree>
    <p:extLst>
      <p:ext uri="{BB962C8B-B14F-4D97-AF65-F5344CB8AC3E}">
        <p14:creationId xmlns:p14="http://schemas.microsoft.com/office/powerpoint/2010/main" val="142200850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F26B87-A80C-B183-14D4-22AF1DE12E91}"/>
              </a:ext>
            </a:extLst>
          </p:cNvPr>
          <p:cNvSpPr>
            <a:spLocks noGrp="1"/>
          </p:cNvSpPr>
          <p:nvPr>
            <p:ph type="title"/>
          </p:nvPr>
        </p:nvSpPr>
        <p:spPr/>
        <p:txBody>
          <a:bodyPr/>
          <a:lstStyle/>
          <a:p>
            <a:r>
              <a:rPr lang="en-US" dirty="0"/>
              <a:t>The SQLModel Advantage</a:t>
            </a:r>
          </a:p>
        </p:txBody>
      </p:sp>
      <p:sp>
        <p:nvSpPr>
          <p:cNvPr id="3" name="Content Placeholder 2">
            <a:extLst>
              <a:ext uri="{FF2B5EF4-FFF2-40B4-BE49-F238E27FC236}">
                <a16:creationId xmlns:a16="http://schemas.microsoft.com/office/drawing/2014/main" id="{54427171-E857-AC5E-E2ED-A4EC75C2E251}"/>
              </a:ext>
            </a:extLst>
          </p:cNvPr>
          <p:cNvSpPr>
            <a:spLocks noGrp="1"/>
          </p:cNvSpPr>
          <p:nvPr>
            <p:ph idx="1"/>
          </p:nvPr>
        </p:nvSpPr>
        <p:spPr/>
        <p:txBody>
          <a:bodyPr>
            <a:normAutofit/>
          </a:bodyPr>
          <a:lstStyle/>
          <a:p>
            <a:endParaRPr lang="en-US" dirty="0"/>
          </a:p>
          <a:p>
            <a:endParaRPr lang="en-US" dirty="0"/>
          </a:p>
          <a:p>
            <a:endParaRPr lang="en-US" dirty="0"/>
          </a:p>
        </p:txBody>
      </p:sp>
      <p:sp>
        <p:nvSpPr>
          <p:cNvPr id="8" name="TextBox 7">
            <a:extLst>
              <a:ext uri="{FF2B5EF4-FFF2-40B4-BE49-F238E27FC236}">
                <a16:creationId xmlns:a16="http://schemas.microsoft.com/office/drawing/2014/main" id="{7DEE9665-3B01-D603-4BAC-064838971E40}"/>
              </a:ext>
            </a:extLst>
          </p:cNvPr>
          <p:cNvSpPr txBox="1"/>
          <p:nvPr/>
        </p:nvSpPr>
        <p:spPr>
          <a:xfrm>
            <a:off x="931333" y="1811867"/>
            <a:ext cx="9702800" cy="2862322"/>
          </a:xfrm>
          <a:prstGeom prst="rect">
            <a:avLst/>
          </a:prstGeom>
          <a:noFill/>
        </p:spPr>
        <p:txBody>
          <a:bodyPr wrap="square" rtlCol="0">
            <a:spAutoFit/>
          </a:bodyPr>
          <a:lstStyle/>
          <a:p>
            <a:pPr marL="285750" indent="-285750">
              <a:buFont typeface="Arial" panose="020B0604020202020204" pitchFamily="34" charset="0"/>
              <a:buChar char="•"/>
            </a:pPr>
            <a:r>
              <a:rPr lang="en-US" dirty="0"/>
              <a:t>Since </a:t>
            </a:r>
            <a:r>
              <a:rPr lang="en-US" dirty="0" err="1"/>
              <a:t>FastAPI</a:t>
            </a:r>
            <a:r>
              <a:rPr lang="en-US" dirty="0"/>
              <a:t> is based on </a:t>
            </a:r>
            <a:r>
              <a:rPr lang="en-US" dirty="0" err="1"/>
              <a:t>Pydantic</a:t>
            </a:r>
            <a:r>
              <a:rPr lang="en-US" dirty="0"/>
              <a:t>, it will use the same model to use the automatic data validation and conversion from the JSON request to an object instance that has actual instance of HERO class. </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n-US" dirty="0"/>
              <a:t>SQLModel object is not only a </a:t>
            </a:r>
            <a:r>
              <a:rPr lang="en-US" dirty="0" err="1"/>
              <a:t>Pydantic</a:t>
            </a:r>
            <a:r>
              <a:rPr lang="en-US" dirty="0"/>
              <a:t> model instance but also SQLAlchemy model instance which we can use directly in a session to create new row in database. </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n-US" dirty="0"/>
              <a:t>We can use intuitive standard Python type </a:t>
            </a:r>
            <a:r>
              <a:rPr lang="en-US" dirty="0" err="1"/>
              <a:t>annonation</a:t>
            </a:r>
            <a:r>
              <a:rPr lang="en-US" dirty="0"/>
              <a:t> and we don’t have the duplicates code for the database models and the API data models. </a:t>
            </a:r>
          </a:p>
        </p:txBody>
      </p:sp>
    </p:spTree>
    <p:extLst>
      <p:ext uri="{BB962C8B-B14F-4D97-AF65-F5344CB8AC3E}">
        <p14:creationId xmlns:p14="http://schemas.microsoft.com/office/powerpoint/2010/main" val="311313022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CE0B84-FC26-CFB0-E94D-C269F5F1F8A9}"/>
              </a:ext>
            </a:extLst>
          </p:cNvPr>
          <p:cNvSpPr>
            <a:spLocks noGrp="1"/>
          </p:cNvSpPr>
          <p:nvPr>
            <p:ph type="title"/>
          </p:nvPr>
        </p:nvSpPr>
        <p:spPr/>
        <p:txBody>
          <a:bodyPr/>
          <a:lstStyle/>
          <a:p>
            <a:r>
              <a:rPr lang="en-US" dirty="0"/>
              <a:t>Query Parameters</a:t>
            </a:r>
          </a:p>
        </p:txBody>
      </p:sp>
      <p:sp>
        <p:nvSpPr>
          <p:cNvPr id="3" name="Content Placeholder 2">
            <a:extLst>
              <a:ext uri="{FF2B5EF4-FFF2-40B4-BE49-F238E27FC236}">
                <a16:creationId xmlns:a16="http://schemas.microsoft.com/office/drawing/2014/main" id="{11283709-DC96-E7D2-DD8B-2E6013451E57}"/>
              </a:ext>
            </a:extLst>
          </p:cNvPr>
          <p:cNvSpPr>
            <a:spLocks noGrp="1"/>
          </p:cNvSpPr>
          <p:nvPr>
            <p:ph idx="1"/>
          </p:nvPr>
        </p:nvSpPr>
        <p:spPr/>
        <p:txBody>
          <a:bodyPr/>
          <a:lstStyle/>
          <a:p>
            <a:r>
              <a:rPr lang="en-US" dirty="0"/>
              <a:t>Query Parameters are request parameters which have been attached after a ”?”</a:t>
            </a:r>
          </a:p>
          <a:p>
            <a:endParaRPr lang="en-US" dirty="0"/>
          </a:p>
          <a:p>
            <a:r>
              <a:rPr lang="en-US" dirty="0"/>
              <a:t>Query Parameters have name=value pairs</a:t>
            </a:r>
          </a:p>
          <a:p>
            <a:endParaRPr lang="en-US" dirty="0"/>
          </a:p>
          <a:p>
            <a:r>
              <a:rPr lang="en-US" dirty="0"/>
              <a:t>Example – 127.0.0.1/books/?category=math</a:t>
            </a:r>
          </a:p>
        </p:txBody>
      </p:sp>
    </p:spTree>
    <p:extLst>
      <p:ext uri="{BB962C8B-B14F-4D97-AF65-F5344CB8AC3E}">
        <p14:creationId xmlns:p14="http://schemas.microsoft.com/office/powerpoint/2010/main" val="175257798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4AD81F-A730-0210-68F9-AA2E62EBB672}"/>
              </a:ext>
            </a:extLst>
          </p:cNvPr>
          <p:cNvSpPr>
            <a:spLocks noGrp="1"/>
          </p:cNvSpPr>
          <p:nvPr>
            <p:ph type="title"/>
          </p:nvPr>
        </p:nvSpPr>
        <p:spPr/>
        <p:txBody>
          <a:bodyPr/>
          <a:lstStyle/>
          <a:p>
            <a:r>
              <a:rPr lang="en-US" dirty="0"/>
              <a:t>Create the table with SQLModel</a:t>
            </a:r>
          </a:p>
        </p:txBody>
      </p:sp>
      <p:sp>
        <p:nvSpPr>
          <p:cNvPr id="3" name="Content Placeholder 2">
            <a:extLst>
              <a:ext uri="{FF2B5EF4-FFF2-40B4-BE49-F238E27FC236}">
                <a16:creationId xmlns:a16="http://schemas.microsoft.com/office/drawing/2014/main" id="{945BD811-BF48-4C6B-3302-1C5316F4484A}"/>
              </a:ext>
            </a:extLst>
          </p:cNvPr>
          <p:cNvSpPr>
            <a:spLocks noGrp="1"/>
          </p:cNvSpPr>
          <p:nvPr>
            <p:ph idx="1"/>
          </p:nvPr>
        </p:nvSpPr>
        <p:spPr/>
        <p:txBody>
          <a:bodyPr>
            <a:normAutofit/>
          </a:bodyPr>
          <a:lstStyle/>
          <a:p>
            <a:r>
              <a:rPr lang="en-US" dirty="0"/>
              <a:t>Define a table with </a:t>
            </a:r>
            <a:r>
              <a:rPr lang="en-US" b="1" dirty="0"/>
              <a:t>SQLModel</a:t>
            </a:r>
            <a:endParaRPr lang="en-US" dirty="0"/>
          </a:p>
          <a:p>
            <a:r>
              <a:rPr lang="en-US" dirty="0"/>
              <a:t>Create the same SQLite database and table with </a:t>
            </a:r>
            <a:r>
              <a:rPr lang="en-US" b="1" dirty="0"/>
              <a:t>SQLModel</a:t>
            </a:r>
            <a:endParaRPr lang="en-US" dirty="0"/>
          </a:p>
          <a:p>
            <a:r>
              <a:rPr lang="en-US" dirty="0"/>
              <a:t>Use </a:t>
            </a:r>
            <a:r>
              <a:rPr lang="en-US" b="1" dirty="0"/>
              <a:t>DB Browser for SQLite</a:t>
            </a:r>
            <a:r>
              <a:rPr lang="en-US" dirty="0"/>
              <a:t> to confirm the operations</a:t>
            </a:r>
          </a:p>
          <a:p>
            <a:pPr marL="0" indent="0">
              <a:buNone/>
            </a:pPr>
            <a:endParaRPr lang="en-US" dirty="0"/>
          </a:p>
          <a:p>
            <a:pPr marL="0" indent="0">
              <a:buNone/>
            </a:pPr>
            <a:br>
              <a:rPr lang="en-US" dirty="0"/>
            </a:br>
            <a:endParaRPr lang="en-US" dirty="0"/>
          </a:p>
          <a:p>
            <a:endParaRPr lang="en-US" dirty="0"/>
          </a:p>
        </p:txBody>
      </p:sp>
      <p:pic>
        <p:nvPicPr>
          <p:cNvPr id="5" name="Picture 4">
            <a:extLst>
              <a:ext uri="{FF2B5EF4-FFF2-40B4-BE49-F238E27FC236}">
                <a16:creationId xmlns:a16="http://schemas.microsoft.com/office/drawing/2014/main" id="{344FE50E-E081-0DD1-0006-E24F645A28C1}"/>
              </a:ext>
            </a:extLst>
          </p:cNvPr>
          <p:cNvPicPr>
            <a:picLocks noChangeAspect="1"/>
          </p:cNvPicPr>
          <p:nvPr/>
        </p:nvPicPr>
        <p:blipFill>
          <a:blip r:embed="rId2"/>
          <a:stretch>
            <a:fillRect/>
          </a:stretch>
        </p:blipFill>
        <p:spPr>
          <a:xfrm>
            <a:off x="1526666" y="3928110"/>
            <a:ext cx="5972937" cy="1905762"/>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322461495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99E883-329F-97A2-162C-2CD23D7016E8}"/>
              </a:ext>
            </a:extLst>
          </p:cNvPr>
          <p:cNvSpPr>
            <a:spLocks noGrp="1"/>
          </p:cNvSpPr>
          <p:nvPr>
            <p:ph type="title"/>
          </p:nvPr>
        </p:nvSpPr>
        <p:spPr/>
        <p:txBody>
          <a:bodyPr/>
          <a:lstStyle/>
          <a:p>
            <a:r>
              <a:rPr lang="en-US" dirty="0"/>
              <a:t>SQL Alchemy Connection - Engine</a:t>
            </a:r>
          </a:p>
        </p:txBody>
      </p:sp>
      <p:sp>
        <p:nvSpPr>
          <p:cNvPr id="3" name="Content Placeholder 2">
            <a:extLst>
              <a:ext uri="{FF2B5EF4-FFF2-40B4-BE49-F238E27FC236}">
                <a16:creationId xmlns:a16="http://schemas.microsoft.com/office/drawing/2014/main" id="{12FD8B25-53D8-243E-438D-7D814BAC4AA7}"/>
              </a:ext>
            </a:extLst>
          </p:cNvPr>
          <p:cNvSpPr>
            <a:spLocks noGrp="1"/>
          </p:cNvSpPr>
          <p:nvPr>
            <p:ph idx="1"/>
          </p:nvPr>
        </p:nvSpPr>
        <p:spPr/>
        <p:txBody>
          <a:bodyPr/>
          <a:lstStyle/>
          <a:p>
            <a:r>
              <a:rPr lang="en-US" dirty="0"/>
              <a:t>The start of any </a:t>
            </a:r>
            <a:r>
              <a:rPr lang="en-US" b="1" dirty="0"/>
              <a:t>SQLAlchemy</a:t>
            </a:r>
            <a:r>
              <a:rPr lang="en-US" dirty="0"/>
              <a:t> application is an object called the </a:t>
            </a:r>
            <a:r>
              <a:rPr lang="en-US" dirty="0">
                <a:hlinkClick r:id="rId2" tooltip="sqlalchemy.future.Engine"/>
              </a:rPr>
              <a:t>Engine</a:t>
            </a:r>
            <a:r>
              <a:rPr lang="en-US" dirty="0"/>
              <a:t>. This object acts as a central source of connections to a particular database, providing both a factory as well as a holding space called a </a:t>
            </a:r>
            <a:r>
              <a:rPr lang="en-US" dirty="0">
                <a:hlinkClick r:id="rId3"/>
              </a:rPr>
              <a:t>connection pool</a:t>
            </a:r>
            <a:r>
              <a:rPr lang="en-US" dirty="0"/>
              <a:t> for these database connections. </a:t>
            </a:r>
          </a:p>
          <a:p>
            <a:endParaRPr lang="en-US" dirty="0"/>
          </a:p>
          <a:p>
            <a:endParaRPr lang="en-US" dirty="0"/>
          </a:p>
          <a:p>
            <a:r>
              <a:rPr lang="en-US" dirty="0"/>
              <a:t>The engine is typically a global object created just once for a particular database server and is configured using a URL string which will describe how it should connect to the database host or backend.</a:t>
            </a:r>
          </a:p>
        </p:txBody>
      </p:sp>
    </p:spTree>
    <p:extLst>
      <p:ext uri="{BB962C8B-B14F-4D97-AF65-F5344CB8AC3E}">
        <p14:creationId xmlns:p14="http://schemas.microsoft.com/office/powerpoint/2010/main" val="389815917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700704-4A3D-DFD5-B62B-AC7092AF4172}"/>
              </a:ext>
            </a:extLst>
          </p:cNvPr>
          <p:cNvSpPr>
            <a:spLocks noGrp="1"/>
          </p:cNvSpPr>
          <p:nvPr>
            <p:ph type="title"/>
          </p:nvPr>
        </p:nvSpPr>
        <p:spPr>
          <a:xfrm>
            <a:off x="676746" y="609600"/>
            <a:ext cx="3729076" cy="1320800"/>
          </a:xfrm>
        </p:spPr>
        <p:txBody>
          <a:bodyPr vert="horz" lIns="91440" tIns="45720" rIns="91440" bIns="45720" rtlCol="0" anchor="ctr">
            <a:normAutofit/>
          </a:bodyPr>
          <a:lstStyle/>
          <a:p>
            <a:pPr>
              <a:lnSpc>
                <a:spcPct val="90000"/>
              </a:lnSpc>
            </a:pPr>
            <a:r>
              <a:rPr lang="en-US" sz="2800"/>
              <a:t>Getting the Connection with SQLAlchemy</a:t>
            </a:r>
          </a:p>
        </p:txBody>
      </p:sp>
      <p:sp>
        <p:nvSpPr>
          <p:cNvPr id="9" name="TextBox 8">
            <a:extLst>
              <a:ext uri="{FF2B5EF4-FFF2-40B4-BE49-F238E27FC236}">
                <a16:creationId xmlns:a16="http://schemas.microsoft.com/office/drawing/2014/main" id="{42672702-DE89-984B-C456-EBF30DDDC302}"/>
              </a:ext>
            </a:extLst>
          </p:cNvPr>
          <p:cNvSpPr txBox="1"/>
          <p:nvPr/>
        </p:nvSpPr>
        <p:spPr>
          <a:xfrm>
            <a:off x="685167" y="2160589"/>
            <a:ext cx="3720916" cy="3560733"/>
          </a:xfrm>
          <a:prstGeom prst="rect">
            <a:avLst/>
          </a:prstGeom>
        </p:spPr>
        <p:txBody>
          <a:bodyPr vert="horz" lIns="91440" tIns="45720" rIns="91440" bIns="45720" rtlCol="0">
            <a:normAutofit/>
          </a:bodyPr>
          <a:lstStyle/>
          <a:p>
            <a:pPr marL="285750" indent="-285750">
              <a:lnSpc>
                <a:spcPct val="90000"/>
              </a:lnSpc>
              <a:spcBef>
                <a:spcPts val="1000"/>
              </a:spcBef>
              <a:buClr>
                <a:schemeClr val="accent1"/>
              </a:buClr>
              <a:buSzPct val="80000"/>
              <a:buFont typeface="Wingdings 3" charset="2"/>
              <a:buChar char=""/>
            </a:pPr>
            <a:r>
              <a:rPr lang="en-US" sz="1500" dirty="0">
                <a:solidFill>
                  <a:schemeClr val="tx1">
                    <a:lumMod val="75000"/>
                    <a:lumOff val="25000"/>
                  </a:schemeClr>
                </a:solidFill>
              </a:rPr>
              <a:t>The purpose of the </a:t>
            </a:r>
            <a:r>
              <a:rPr lang="en-US" sz="1500" dirty="0">
                <a:solidFill>
                  <a:schemeClr val="tx1">
                    <a:lumMod val="75000"/>
                    <a:lumOff val="25000"/>
                  </a:schemeClr>
                </a:solidFill>
                <a:hlinkClick r:id="rId2" tooltip="sqlalchemy.future.Engine">
                  <a:extLst>
                    <a:ext uri="{A12FA001-AC4F-418D-AE19-62706E023703}">
                      <ahyp:hlinkClr xmlns:ahyp="http://schemas.microsoft.com/office/drawing/2018/hyperlinkcolor" val="tx"/>
                    </a:ext>
                  </a:extLst>
                </a:hlinkClick>
              </a:rPr>
              <a:t>Engine</a:t>
            </a:r>
            <a:r>
              <a:rPr lang="en-US" sz="1500" dirty="0">
                <a:solidFill>
                  <a:schemeClr val="tx1">
                    <a:lumMod val="75000"/>
                    <a:lumOff val="25000"/>
                  </a:schemeClr>
                </a:solidFill>
              </a:rPr>
              <a:t> is to connect to the database by providing a </a:t>
            </a:r>
            <a:r>
              <a:rPr lang="en-US" sz="1500" dirty="0">
                <a:solidFill>
                  <a:schemeClr val="tx1">
                    <a:lumMod val="75000"/>
                    <a:lumOff val="25000"/>
                  </a:schemeClr>
                </a:solidFill>
                <a:hlinkClick r:id="rId3" tooltip="sqlalchemy.future.Connection">
                  <a:extLst>
                    <a:ext uri="{A12FA001-AC4F-418D-AE19-62706E023703}">
                      <ahyp:hlinkClr xmlns:ahyp="http://schemas.microsoft.com/office/drawing/2018/hyperlinkcolor" val="tx"/>
                    </a:ext>
                  </a:extLst>
                </a:hlinkClick>
              </a:rPr>
              <a:t>Connection</a:t>
            </a:r>
            <a:r>
              <a:rPr lang="en-US" sz="1500" dirty="0">
                <a:solidFill>
                  <a:schemeClr val="tx1">
                    <a:lumMod val="75000"/>
                    <a:lumOff val="25000"/>
                  </a:schemeClr>
                </a:solidFill>
              </a:rPr>
              <a:t> object. When working with the Core directly, the </a:t>
            </a:r>
            <a:r>
              <a:rPr lang="en-US" sz="1500" dirty="0">
                <a:solidFill>
                  <a:schemeClr val="tx1">
                    <a:lumMod val="75000"/>
                    <a:lumOff val="25000"/>
                  </a:schemeClr>
                </a:solidFill>
                <a:hlinkClick r:id="rId3" tooltip="sqlalchemy.future.Connection">
                  <a:extLst>
                    <a:ext uri="{A12FA001-AC4F-418D-AE19-62706E023703}">
                      <ahyp:hlinkClr xmlns:ahyp="http://schemas.microsoft.com/office/drawing/2018/hyperlinkcolor" val="tx"/>
                    </a:ext>
                  </a:extLst>
                </a:hlinkClick>
              </a:rPr>
              <a:t>Connection</a:t>
            </a:r>
            <a:r>
              <a:rPr lang="en-US" sz="1500" dirty="0">
                <a:solidFill>
                  <a:schemeClr val="tx1">
                    <a:lumMod val="75000"/>
                    <a:lumOff val="25000"/>
                  </a:schemeClr>
                </a:solidFill>
              </a:rPr>
              <a:t> object is how all interaction with the database is done. </a:t>
            </a:r>
          </a:p>
          <a:p>
            <a:pPr marL="285750" indent="-285750">
              <a:lnSpc>
                <a:spcPct val="90000"/>
              </a:lnSpc>
              <a:spcBef>
                <a:spcPts val="1000"/>
              </a:spcBef>
              <a:buClr>
                <a:schemeClr val="accent1"/>
              </a:buClr>
              <a:buSzPct val="80000"/>
              <a:buFont typeface="Wingdings 3" charset="2"/>
              <a:buChar char=""/>
            </a:pPr>
            <a:endParaRPr lang="en-US" sz="1500" dirty="0">
              <a:solidFill>
                <a:schemeClr val="tx1">
                  <a:lumMod val="75000"/>
                  <a:lumOff val="25000"/>
                </a:schemeClr>
              </a:solidFill>
            </a:endParaRPr>
          </a:p>
          <a:p>
            <a:pPr marL="285750" indent="-285750">
              <a:lnSpc>
                <a:spcPct val="90000"/>
              </a:lnSpc>
              <a:spcBef>
                <a:spcPts val="1000"/>
              </a:spcBef>
              <a:buClr>
                <a:schemeClr val="accent1"/>
              </a:buClr>
              <a:buSzPct val="80000"/>
              <a:buFont typeface="Wingdings 3" charset="2"/>
              <a:buChar char=""/>
            </a:pPr>
            <a:r>
              <a:rPr lang="en-US" sz="1500" dirty="0">
                <a:solidFill>
                  <a:schemeClr val="tx1">
                    <a:lumMod val="75000"/>
                    <a:lumOff val="25000"/>
                  </a:schemeClr>
                </a:solidFill>
              </a:rPr>
              <a:t>Because the </a:t>
            </a:r>
            <a:r>
              <a:rPr lang="en-US" sz="1500" dirty="0">
                <a:solidFill>
                  <a:schemeClr val="tx1">
                    <a:lumMod val="75000"/>
                    <a:lumOff val="25000"/>
                  </a:schemeClr>
                </a:solidFill>
                <a:hlinkClick r:id="rId3" tooltip="sqlalchemy.future.Connection">
                  <a:extLst>
                    <a:ext uri="{A12FA001-AC4F-418D-AE19-62706E023703}">
                      <ahyp:hlinkClr xmlns:ahyp="http://schemas.microsoft.com/office/drawing/2018/hyperlinkcolor" val="tx"/>
                    </a:ext>
                  </a:extLst>
                </a:hlinkClick>
              </a:rPr>
              <a:t>Connection</a:t>
            </a:r>
            <a:r>
              <a:rPr lang="en-US" sz="1500" dirty="0">
                <a:solidFill>
                  <a:schemeClr val="tx1">
                    <a:lumMod val="75000"/>
                    <a:lumOff val="25000"/>
                  </a:schemeClr>
                </a:solidFill>
              </a:rPr>
              <a:t> creates an open resource against the database, we want to limit our use of this object to a specific context. The best way to do that is with a Python context manager, also known as </a:t>
            </a:r>
            <a:r>
              <a:rPr lang="en-US" sz="1500" dirty="0">
                <a:solidFill>
                  <a:schemeClr val="tx1">
                    <a:lumMod val="75000"/>
                    <a:lumOff val="25000"/>
                  </a:schemeClr>
                </a:solidFill>
                <a:hlinkClick r:id="rId4">
                  <a:extLst>
                    <a:ext uri="{A12FA001-AC4F-418D-AE19-62706E023703}">
                      <ahyp:hlinkClr xmlns:ahyp="http://schemas.microsoft.com/office/drawing/2018/hyperlinkcolor" val="tx"/>
                    </a:ext>
                  </a:extLst>
                </a:hlinkClick>
              </a:rPr>
              <a:t>the with statement</a:t>
            </a:r>
            <a:r>
              <a:rPr lang="en-US" sz="1500" dirty="0">
                <a:solidFill>
                  <a:schemeClr val="tx1">
                    <a:lumMod val="75000"/>
                    <a:lumOff val="25000"/>
                  </a:schemeClr>
                </a:solidFill>
              </a:rPr>
              <a:t>. </a:t>
            </a:r>
          </a:p>
        </p:txBody>
      </p:sp>
      <p:pic>
        <p:nvPicPr>
          <p:cNvPr id="11" name="Picture 10">
            <a:extLst>
              <a:ext uri="{FF2B5EF4-FFF2-40B4-BE49-F238E27FC236}">
                <a16:creationId xmlns:a16="http://schemas.microsoft.com/office/drawing/2014/main" id="{5A1EE2AC-5DB2-5382-FD15-B9B9F2F9554B}"/>
              </a:ext>
            </a:extLst>
          </p:cNvPr>
          <p:cNvPicPr>
            <a:picLocks noChangeAspect="1"/>
          </p:cNvPicPr>
          <p:nvPr/>
        </p:nvPicPr>
        <p:blipFill>
          <a:blip r:embed="rId5"/>
          <a:stretch>
            <a:fillRect/>
          </a:stretch>
        </p:blipFill>
        <p:spPr>
          <a:xfrm>
            <a:off x="4654035" y="2000571"/>
            <a:ext cx="4602747" cy="2352326"/>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85119102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D55856-F008-8BD6-ACA1-BA380906F55C}"/>
              </a:ext>
            </a:extLst>
          </p:cNvPr>
          <p:cNvSpPr>
            <a:spLocks noGrp="1"/>
          </p:cNvSpPr>
          <p:nvPr>
            <p:ph type="title"/>
          </p:nvPr>
        </p:nvSpPr>
        <p:spPr>
          <a:xfrm>
            <a:off x="677334" y="609600"/>
            <a:ext cx="8596668" cy="816864"/>
          </a:xfrm>
        </p:spPr>
        <p:txBody>
          <a:bodyPr/>
          <a:lstStyle/>
          <a:p>
            <a:r>
              <a:rPr lang="en-US" dirty="0"/>
              <a:t>Working with SQL DB API </a:t>
            </a:r>
          </a:p>
        </p:txBody>
      </p:sp>
      <p:sp>
        <p:nvSpPr>
          <p:cNvPr id="3" name="Content Placeholder 2">
            <a:extLst>
              <a:ext uri="{FF2B5EF4-FFF2-40B4-BE49-F238E27FC236}">
                <a16:creationId xmlns:a16="http://schemas.microsoft.com/office/drawing/2014/main" id="{574E7521-30AD-9947-32DD-89E2B931A7A1}"/>
              </a:ext>
            </a:extLst>
          </p:cNvPr>
          <p:cNvSpPr>
            <a:spLocks noGrp="1"/>
          </p:cNvSpPr>
          <p:nvPr>
            <p:ph idx="1"/>
          </p:nvPr>
        </p:nvSpPr>
        <p:spPr>
          <a:xfrm>
            <a:off x="677334" y="2160589"/>
            <a:ext cx="9728538" cy="3880773"/>
          </a:xfrm>
        </p:spPr>
        <p:txBody>
          <a:bodyPr>
            <a:normAutofit/>
          </a:bodyPr>
          <a:lstStyle/>
          <a:p>
            <a:r>
              <a:rPr lang="en-US" dirty="0">
                <a:hlinkClick r:id="rId2">
                  <a:extLst>
                    <a:ext uri="{A12FA001-AC4F-418D-AE19-62706E023703}">
                      <ahyp:hlinkClr xmlns:ahyp="http://schemas.microsoft.com/office/drawing/2018/hyperlinkcolor" val="tx"/>
                    </a:ext>
                  </a:extLst>
                </a:hlinkClick>
              </a:rPr>
              <a:t>Inserting Rows with Core</a:t>
            </a:r>
            <a:r>
              <a:rPr lang="en-US" dirty="0"/>
              <a:t> - to get some data into the database.</a:t>
            </a:r>
          </a:p>
          <a:p>
            <a:r>
              <a:rPr lang="en-US" dirty="0"/>
              <a:t>INSERTs from an ORM perspective are described in the next section </a:t>
            </a:r>
            <a:r>
              <a:rPr lang="en-US" dirty="0">
                <a:hlinkClick r:id="rId3">
                  <a:extLst>
                    <a:ext uri="{A12FA001-AC4F-418D-AE19-62706E023703}">
                      <ahyp:hlinkClr xmlns:ahyp="http://schemas.microsoft.com/office/drawing/2018/hyperlinkcolor" val="tx"/>
                    </a:ext>
                  </a:extLst>
                </a:hlinkClick>
              </a:rPr>
              <a:t>Data Manipulation with the ORM</a:t>
            </a:r>
            <a:r>
              <a:rPr lang="en-US" dirty="0"/>
              <a:t>.</a:t>
            </a:r>
          </a:p>
          <a:p>
            <a:r>
              <a:rPr lang="en-US" dirty="0">
                <a:hlinkClick r:id="rId4">
                  <a:extLst>
                    <a:ext uri="{A12FA001-AC4F-418D-AE19-62706E023703}">
                      <ahyp:hlinkClr xmlns:ahyp="http://schemas.microsoft.com/office/drawing/2018/hyperlinkcolor" val="tx"/>
                    </a:ext>
                  </a:extLst>
                </a:hlinkClick>
              </a:rPr>
              <a:t>Selecting Rows with Core or ORM</a:t>
            </a:r>
            <a:r>
              <a:rPr lang="en-US" dirty="0"/>
              <a:t> - The </a:t>
            </a:r>
            <a:r>
              <a:rPr lang="en-US" dirty="0">
                <a:hlinkClick r:id="rId5" tooltip="sqlalchemy.sql.expression.update">
                  <a:extLst>
                    <a:ext uri="{A12FA001-AC4F-418D-AE19-62706E023703}">
                      <ahyp:hlinkClr xmlns:ahyp="http://schemas.microsoft.com/office/drawing/2018/hyperlinkcolor" val="tx"/>
                    </a:ext>
                  </a:extLst>
                </a:hlinkClick>
              </a:rPr>
              <a:t>update()</a:t>
            </a:r>
            <a:r>
              <a:rPr lang="en-US" dirty="0"/>
              <a:t> function generates a new instance of </a:t>
            </a:r>
            <a:r>
              <a:rPr lang="en-US" dirty="0">
                <a:hlinkClick r:id="rId6" tooltip="sqlalchemy.sql.expression.Update">
                  <a:extLst>
                    <a:ext uri="{A12FA001-AC4F-418D-AE19-62706E023703}">
                      <ahyp:hlinkClr xmlns:ahyp="http://schemas.microsoft.com/office/drawing/2018/hyperlinkcolor" val="tx"/>
                    </a:ext>
                  </a:extLst>
                </a:hlinkClick>
              </a:rPr>
              <a:t>Update</a:t>
            </a:r>
            <a:r>
              <a:rPr lang="en-US" dirty="0"/>
              <a:t> which represents an UPDATE statement in SQL, that will update existing data in a table.</a:t>
            </a:r>
          </a:p>
          <a:p>
            <a:r>
              <a:rPr lang="en-US" dirty="0"/>
              <a:t>Like the </a:t>
            </a:r>
            <a:r>
              <a:rPr lang="en-US" dirty="0">
                <a:hlinkClick r:id="rId7" tooltip="sqlalchemy.sql.expression.insert">
                  <a:extLst>
                    <a:ext uri="{A12FA001-AC4F-418D-AE19-62706E023703}">
                      <ahyp:hlinkClr xmlns:ahyp="http://schemas.microsoft.com/office/drawing/2018/hyperlinkcolor" val="tx"/>
                    </a:ext>
                  </a:extLst>
                </a:hlinkClick>
              </a:rPr>
              <a:t>insert()</a:t>
            </a:r>
            <a:r>
              <a:rPr lang="en-US" dirty="0"/>
              <a:t> construct, there is a “traditional” form of </a:t>
            </a:r>
            <a:r>
              <a:rPr lang="en-US" dirty="0">
                <a:hlinkClick r:id="rId5" tooltip="sqlalchemy.sql.expression.update">
                  <a:extLst>
                    <a:ext uri="{A12FA001-AC4F-418D-AE19-62706E023703}">
                      <ahyp:hlinkClr xmlns:ahyp="http://schemas.microsoft.com/office/drawing/2018/hyperlinkcolor" val="tx"/>
                    </a:ext>
                  </a:extLst>
                </a:hlinkClick>
              </a:rPr>
              <a:t>update()</a:t>
            </a:r>
            <a:r>
              <a:rPr lang="en-US" dirty="0"/>
              <a:t>, which emits UPDATE against a single table at a time and does not return any rows. However, some backends support an UPDATE statement that may modify multiple tables at once, and the UPDATE statement also supports RETURNING such that columns contained in matched rows may be returned in the result set.</a:t>
            </a:r>
          </a:p>
          <a:p>
            <a:endParaRPr lang="en-US" dirty="0"/>
          </a:p>
        </p:txBody>
      </p:sp>
    </p:spTree>
    <p:extLst>
      <p:ext uri="{BB962C8B-B14F-4D97-AF65-F5344CB8AC3E}">
        <p14:creationId xmlns:p14="http://schemas.microsoft.com/office/powerpoint/2010/main" val="66200267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94334F-D5D4-F738-C9A1-E1364774F44F}"/>
              </a:ext>
            </a:extLst>
          </p:cNvPr>
          <p:cNvSpPr>
            <a:spLocks noGrp="1"/>
          </p:cNvSpPr>
          <p:nvPr>
            <p:ph type="title"/>
          </p:nvPr>
        </p:nvSpPr>
        <p:spPr>
          <a:xfrm>
            <a:off x="677334" y="609600"/>
            <a:ext cx="8596668" cy="798576"/>
          </a:xfrm>
        </p:spPr>
        <p:txBody>
          <a:bodyPr/>
          <a:lstStyle/>
          <a:p>
            <a:r>
              <a:rPr lang="en-US" dirty="0"/>
              <a:t>CRUD Operations with SQL API</a:t>
            </a:r>
          </a:p>
        </p:txBody>
      </p:sp>
      <p:sp>
        <p:nvSpPr>
          <p:cNvPr id="11" name="TextBox 10">
            <a:extLst>
              <a:ext uri="{FF2B5EF4-FFF2-40B4-BE49-F238E27FC236}">
                <a16:creationId xmlns:a16="http://schemas.microsoft.com/office/drawing/2014/main" id="{91EEB1E7-FA6F-894D-05BA-2ED17170D4D0}"/>
              </a:ext>
            </a:extLst>
          </p:cNvPr>
          <p:cNvSpPr txBox="1"/>
          <p:nvPr/>
        </p:nvSpPr>
        <p:spPr>
          <a:xfrm>
            <a:off x="731520" y="2249424"/>
            <a:ext cx="9454896" cy="3693319"/>
          </a:xfrm>
          <a:prstGeom prst="rect">
            <a:avLst/>
          </a:prstGeom>
          <a:noFill/>
        </p:spPr>
        <p:txBody>
          <a:bodyPr wrap="square" rtlCol="0">
            <a:spAutoFit/>
          </a:bodyPr>
          <a:lstStyle/>
          <a:p>
            <a:pPr marL="285750" indent="-285750">
              <a:buFont typeface="Arial" panose="020B0604020202020204" pitchFamily="34" charset="0"/>
              <a:buChar char="•"/>
            </a:pPr>
            <a:r>
              <a:rPr lang="en-US" dirty="0"/>
              <a:t>If we just create the tables and the data as we have been doing, when we SELECT some data using WHERE, the database will have to </a:t>
            </a:r>
            <a:r>
              <a:rPr lang="en-US" b="1" dirty="0"/>
              <a:t>scan</a:t>
            </a:r>
            <a:r>
              <a:rPr lang="en-US" dirty="0"/>
              <a:t> through </a:t>
            </a:r>
            <a:r>
              <a:rPr lang="en-US" b="1" dirty="0"/>
              <a:t>each one of the records</a:t>
            </a:r>
            <a:r>
              <a:rPr lang="en-US" dirty="0"/>
              <a:t> to find the ones that </a:t>
            </a:r>
            <a:r>
              <a:rPr lang="en-US" b="1" dirty="0"/>
              <a:t>match</a:t>
            </a:r>
            <a:r>
              <a:rPr lang="en-US" dirty="0"/>
              <a:t>.</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n-US" dirty="0"/>
              <a:t>The </a:t>
            </a:r>
            <a:r>
              <a:rPr lang="en-US" b="1" dirty="0"/>
              <a:t>engine</a:t>
            </a:r>
            <a:r>
              <a:rPr lang="en-US" dirty="0"/>
              <a:t> is that single object that we share with all the code, and that is in charge of communicating with the database, handling the connections (when using a server database like PostgreSQL or MySQL), etc.</a:t>
            </a:r>
          </a:p>
          <a:p>
            <a:pPr marL="285750" indent="-285750">
              <a:buFont typeface="Arial" panose="020B0604020202020204" pitchFamily="34" charset="0"/>
              <a:buChar char="•"/>
            </a:pPr>
            <a:r>
              <a:rPr lang="en-US" dirty="0"/>
              <a:t>But when working with </a:t>
            </a:r>
            <a:r>
              <a:rPr lang="en-US" b="1" dirty="0"/>
              <a:t>SQLModel</a:t>
            </a:r>
            <a:r>
              <a:rPr lang="en-US" dirty="0"/>
              <a:t> you will mostly use another tool that sits on top, the </a:t>
            </a:r>
            <a:r>
              <a:rPr lang="en-US" b="1" dirty="0"/>
              <a:t>Session</a:t>
            </a:r>
            <a:r>
              <a:rPr lang="en-US" dirty="0"/>
              <a:t>.</a:t>
            </a:r>
          </a:p>
          <a:p>
            <a:pPr marL="285750" indent="-285750">
              <a:buFont typeface="Arial" panose="020B0604020202020204" pitchFamily="34" charset="0"/>
              <a:buChar char="•"/>
            </a:pPr>
            <a:r>
              <a:rPr lang="en-US" dirty="0"/>
              <a:t>In contrast to the </a:t>
            </a:r>
            <a:r>
              <a:rPr lang="en-US" b="1" dirty="0"/>
              <a:t>engine</a:t>
            </a:r>
            <a:r>
              <a:rPr lang="en-US" dirty="0"/>
              <a:t> that is one for the whole application, we create a new </a:t>
            </a:r>
            <a:r>
              <a:rPr lang="en-US" b="1" dirty="0"/>
              <a:t>session</a:t>
            </a:r>
            <a:r>
              <a:rPr lang="en-US" dirty="0"/>
              <a:t> for each group of operations with the database that belong together.</a:t>
            </a:r>
          </a:p>
          <a:p>
            <a:pPr marL="285750" indent="-285750">
              <a:buFont typeface="Arial" panose="020B0604020202020204" pitchFamily="34" charset="0"/>
              <a:buChar char="•"/>
            </a:pPr>
            <a:endParaRPr lang="en-US" dirty="0"/>
          </a:p>
        </p:txBody>
      </p:sp>
    </p:spTree>
    <p:extLst>
      <p:ext uri="{BB962C8B-B14F-4D97-AF65-F5344CB8AC3E}">
        <p14:creationId xmlns:p14="http://schemas.microsoft.com/office/powerpoint/2010/main" val="286816862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084466-2041-EDC4-9938-F26F6CBAE754}"/>
              </a:ext>
            </a:extLst>
          </p:cNvPr>
          <p:cNvSpPr>
            <a:spLocks noGrp="1"/>
          </p:cNvSpPr>
          <p:nvPr>
            <p:ph type="title"/>
          </p:nvPr>
        </p:nvSpPr>
        <p:spPr/>
        <p:txBody>
          <a:bodyPr/>
          <a:lstStyle/>
          <a:p>
            <a:r>
              <a:rPr lang="en-US" dirty="0"/>
              <a:t>Indexing – SQL Query Optimization</a:t>
            </a:r>
          </a:p>
        </p:txBody>
      </p:sp>
      <p:sp>
        <p:nvSpPr>
          <p:cNvPr id="3" name="Content Placeholder 2">
            <a:extLst>
              <a:ext uri="{FF2B5EF4-FFF2-40B4-BE49-F238E27FC236}">
                <a16:creationId xmlns:a16="http://schemas.microsoft.com/office/drawing/2014/main" id="{09BA23D2-9EE5-7F69-6570-7F799421AF29}"/>
              </a:ext>
            </a:extLst>
          </p:cNvPr>
          <p:cNvSpPr>
            <a:spLocks noGrp="1"/>
          </p:cNvSpPr>
          <p:nvPr>
            <p:ph idx="1"/>
          </p:nvPr>
        </p:nvSpPr>
        <p:spPr/>
        <p:txBody>
          <a:bodyPr/>
          <a:lstStyle/>
          <a:p>
            <a:r>
              <a:rPr lang="en-US" dirty="0"/>
              <a:t>If we just create the tables and the data as we have been doing, when we SELECT some data using WHERE, the database would have to </a:t>
            </a:r>
            <a:r>
              <a:rPr lang="en-US" b="1" dirty="0"/>
              <a:t>scan</a:t>
            </a:r>
            <a:r>
              <a:rPr lang="en-US" dirty="0"/>
              <a:t> through </a:t>
            </a:r>
            <a:r>
              <a:rPr lang="en-US" b="1" dirty="0"/>
              <a:t>each one of the records</a:t>
            </a:r>
            <a:r>
              <a:rPr lang="en-US" dirty="0"/>
              <a:t> to find the ones that </a:t>
            </a:r>
            <a:r>
              <a:rPr lang="en-US" b="1" dirty="0"/>
              <a:t>match</a:t>
            </a:r>
            <a:r>
              <a:rPr lang="en-US" dirty="0"/>
              <a:t>. This is not a problem with 3 heroes as in these examples.</a:t>
            </a:r>
          </a:p>
          <a:p>
            <a:r>
              <a:rPr lang="en-US" dirty="0"/>
              <a:t>But imagine that your database has </a:t>
            </a:r>
            <a:r>
              <a:rPr lang="en-US" b="1" dirty="0"/>
              <a:t>thousands</a:t>
            </a:r>
            <a:r>
              <a:rPr lang="en-US" dirty="0"/>
              <a:t> or </a:t>
            </a:r>
            <a:r>
              <a:rPr lang="en-US" b="1" dirty="0"/>
              <a:t>millions</a:t>
            </a:r>
            <a:r>
              <a:rPr lang="en-US" dirty="0"/>
              <a:t> of </a:t>
            </a:r>
            <a:r>
              <a:rPr lang="en-US" b="1" dirty="0"/>
              <a:t>records</a:t>
            </a:r>
            <a:r>
              <a:rPr lang="en-US" dirty="0"/>
              <a:t>, if every time you want to find the heroes with the name "</a:t>
            </a:r>
            <a:r>
              <a:rPr lang="en-US" dirty="0" err="1"/>
              <a:t>Deadpond</a:t>
            </a:r>
            <a:r>
              <a:rPr lang="en-US" dirty="0"/>
              <a:t>" it has to scan through </a:t>
            </a:r>
            <a:r>
              <a:rPr lang="en-US" b="1" dirty="0"/>
              <a:t>all</a:t>
            </a:r>
            <a:r>
              <a:rPr lang="en-US" dirty="0"/>
              <a:t> of the records to find all the possible matches, then that becomes problematic, as it would be too slow</a:t>
            </a:r>
          </a:p>
          <a:p>
            <a:r>
              <a:rPr lang="en-US"/>
              <a:t>Database indexes store some info, some keys, in a way that makes it </a:t>
            </a:r>
            <a:r>
              <a:rPr lang="en-US" b="1"/>
              <a:t>easy and fast to find</a:t>
            </a:r>
            <a:r>
              <a:rPr lang="en-US"/>
              <a:t> (for example sorted), and then for each key they </a:t>
            </a:r>
            <a:r>
              <a:rPr lang="en-US" b="1"/>
              <a:t>point to some data somewhere else</a:t>
            </a:r>
            <a:r>
              <a:rPr lang="en-US"/>
              <a:t> in the database.</a:t>
            </a:r>
            <a:endParaRPr lang="en-US" dirty="0"/>
          </a:p>
        </p:txBody>
      </p:sp>
    </p:spTree>
    <p:extLst>
      <p:ext uri="{BB962C8B-B14F-4D97-AF65-F5344CB8AC3E}">
        <p14:creationId xmlns:p14="http://schemas.microsoft.com/office/powerpoint/2010/main" val="1026236724"/>
      </p:ext>
    </p:extLst>
  </p:cSld>
  <p:clrMapOvr>
    <a:masterClrMapping/>
  </p:clrMapOvr>
</p:sld>
</file>

<file path=ppt/theme/theme1.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5FCBEF"/>
      </a:accent1>
      <a:accent2>
        <a:srgbClr val="2E83C3"/>
      </a:accent2>
      <a:accent3>
        <a:srgbClr val="42D0A2"/>
      </a:accent3>
      <a:accent4>
        <a:srgbClr val="2E946B"/>
      </a:accent4>
      <a:accent5>
        <a:srgbClr val="42B051"/>
      </a:accent5>
      <a:accent6>
        <a:srgbClr val="96D141"/>
      </a:accent6>
      <a:hlink>
        <a:srgbClr val="3FCDE7"/>
      </a:hlink>
      <a:folHlink>
        <a:srgbClr val="A9D3E1"/>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0B5AB586-D108-4FC1-8368-649FE654B894}"/>
    </a:ext>
  </a:extLst>
</a:theme>
</file>

<file path=docProps/app.xml><?xml version="1.0" encoding="utf-8"?>
<Properties xmlns="http://schemas.openxmlformats.org/officeDocument/2006/extended-properties" xmlns:vt="http://schemas.openxmlformats.org/officeDocument/2006/docPropsVTypes">
  <Template>Facet</Template>
  <TotalTime>598</TotalTime>
  <Words>1634</Words>
  <Application>Microsoft Office PowerPoint</Application>
  <PresentationFormat>Widescreen</PresentationFormat>
  <Paragraphs>168</Paragraphs>
  <Slides>24</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24</vt:i4>
      </vt:variant>
    </vt:vector>
  </HeadingPairs>
  <TitlesOfParts>
    <vt:vector size="28" baseType="lpstr">
      <vt:lpstr>Arial</vt:lpstr>
      <vt:lpstr>Trebuchet MS</vt:lpstr>
      <vt:lpstr>Wingdings 3</vt:lpstr>
      <vt:lpstr>Facet</vt:lpstr>
      <vt:lpstr>FASTAPI Development using Python on Cloud</vt:lpstr>
      <vt:lpstr>Overview of Pydantics</vt:lpstr>
      <vt:lpstr>Pydantic Benefits</vt:lpstr>
      <vt:lpstr>HTTP Status Codes</vt:lpstr>
      <vt:lpstr>Status Codes</vt:lpstr>
      <vt:lpstr>2xx Successful Status Codes:  </vt:lpstr>
      <vt:lpstr>4xx Client Errors Status Codes:  </vt:lpstr>
      <vt:lpstr>HTTP 5xx Server Error Status Codes</vt:lpstr>
      <vt:lpstr>Setting Up SQL database</vt:lpstr>
      <vt:lpstr>SQL Details</vt:lpstr>
      <vt:lpstr>Alembic &amp; SQLAlchemy</vt:lpstr>
      <vt:lpstr>Running Your SQLModel</vt:lpstr>
      <vt:lpstr>Install SQLModel</vt:lpstr>
      <vt:lpstr>Create SQL Table with SQLModel</vt:lpstr>
      <vt:lpstr>Create Model </vt:lpstr>
      <vt:lpstr>Session Dependency</vt:lpstr>
      <vt:lpstr>The SQLModel Advantage</vt:lpstr>
      <vt:lpstr>Query Parameters</vt:lpstr>
      <vt:lpstr>Create the table with SQLModel</vt:lpstr>
      <vt:lpstr>SQL Alchemy Connection - Engine</vt:lpstr>
      <vt:lpstr>Getting the Connection with SQLAlchemy</vt:lpstr>
      <vt:lpstr>Working with SQL DB API </vt:lpstr>
      <vt:lpstr>CRUD Operations with SQL API</vt:lpstr>
      <vt:lpstr>Indexing – SQL Query Optimization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Anindita Basak</dc:creator>
  <cp:lastModifiedBy>Anindita Basak</cp:lastModifiedBy>
  <cp:revision>45</cp:revision>
  <dcterms:created xsi:type="dcterms:W3CDTF">2026-02-07T01:49:08Z</dcterms:created>
  <dcterms:modified xsi:type="dcterms:W3CDTF">2026-02-08T17:49:53Z</dcterms:modified>
</cp:coreProperties>
</file>